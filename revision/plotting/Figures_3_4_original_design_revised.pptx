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1.xml" ContentType="application/vnd.openxmlformats-officedocument.presentationml.notesSlide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notesSlides/notesSlide2.xml" ContentType="application/vnd.openxmlformats-officedocument.presentationml.notesSlide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notesSlides/notesSlide3.xml" ContentType="application/vnd.openxmlformats-officedocument.presentationml.notesSlide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notesSlides/notesSlide4.xml" ContentType="application/vnd.openxmlformats-officedocument.presentationml.notesSlide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60" r:id="rId3"/>
    <p:sldId id="257" r:id="rId4"/>
    <p:sldId id="261" r:id="rId5"/>
    <p:sldId id="259" r:id="rId6"/>
  </p:sldIdLst>
  <p:sldSz cx="9144000" cy="6858000" type="screen4x3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2" userDrawn="1">
          <p15:clr>
            <a:srgbClr val="A4A3A4"/>
          </p15:clr>
        </p15:guide>
        <p15:guide id="2" pos="28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DDE0"/>
    <a:srgbClr val="E87822"/>
    <a:srgbClr val="E8E8E2"/>
    <a:srgbClr val="3A7B79"/>
    <a:srgbClr val="D0CFC9"/>
    <a:srgbClr val="E8EAE3"/>
    <a:srgbClr val="E9E8E3"/>
    <a:srgbClr val="E6E4D8"/>
    <a:srgbClr val="E8E7E2"/>
    <a:srgbClr val="E5E2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1000" y="76"/>
      </p:cViewPr>
      <p:guideLst>
        <p:guide orient="horz" pos="1932"/>
        <p:guide pos="280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99123" y="914491"/>
            <a:ext cx="7349561" cy="2570645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899123" y="3560740"/>
            <a:ext cx="7349561" cy="147254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9435" indent="0" algn="ctr">
              <a:buNone/>
              <a:defRPr sz="1600"/>
            </a:lvl5pPr>
            <a:lvl6pPr marL="2286635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10" y="608459"/>
            <a:ext cx="8227080" cy="70566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6310" y="1490543"/>
            <a:ext cx="8227080" cy="4759654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493135" y="3848768"/>
            <a:ext cx="5826727" cy="76687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5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493135" y="4615644"/>
            <a:ext cx="5826727" cy="867683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37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94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6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10" y="608459"/>
            <a:ext cx="8227080" cy="70566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456312" y="1501343"/>
            <a:ext cx="3882685" cy="4748854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808808" y="1501343"/>
            <a:ext cx="3882685" cy="4748854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10" y="608459"/>
            <a:ext cx="8227080" cy="70566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456312" y="1429341"/>
            <a:ext cx="4006887" cy="381637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56312" y="1854177"/>
            <a:ext cx="4006887" cy="439602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4676918" y="1421869"/>
            <a:ext cx="4006887" cy="38163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9435" indent="0">
              <a:buNone/>
              <a:defRPr sz="1600" b="1"/>
            </a:lvl5pPr>
            <a:lvl6pPr marL="2286635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76918" y="1854177"/>
            <a:ext cx="4006887" cy="439602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10" y="608459"/>
            <a:ext cx="8227080" cy="70566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456312" y="1555349"/>
            <a:ext cx="3924894" cy="460844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4762911" y="1555349"/>
            <a:ext cx="3920485" cy="460844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2026/5/28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7676271" y="914487"/>
            <a:ext cx="783017" cy="502968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5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85817" y="914487"/>
            <a:ext cx="6877051" cy="502968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2365" indent="-228600">
              <a:defRPr spc="300"/>
            </a:lvl3pPr>
            <a:lvl4pPr marL="1600835" indent="-228600">
              <a:defRPr spc="300"/>
            </a:lvl4pPr>
            <a:lvl5pPr marL="2058035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456316" y="774076"/>
            <a:ext cx="8229781" cy="548332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99127" y="2484249"/>
            <a:ext cx="7349561" cy="1018897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899127" y="3560740"/>
            <a:ext cx="7349561" cy="47164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456310" y="608459"/>
            <a:ext cx="8227080" cy="705667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456310" y="1490543"/>
            <a:ext cx="8227080" cy="4759654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459011" y="6315007"/>
            <a:ext cx="2025045" cy="31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3087067" y="6315007"/>
            <a:ext cx="2970066" cy="31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6658347" y="6315007"/>
            <a:ext cx="2025045" cy="31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9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3765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376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10360" algn="l"/>
          <a:tab pos="1610360" algn="l"/>
          <a:tab pos="1610360" algn="l"/>
          <a:tab pos="1610360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2365" indent="-228600" algn="l" defTabSz="91376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835" indent="-228600" algn="l" defTabSz="91376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3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8035" indent="-228600" algn="l" defTabSz="91376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3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76.xml"/><Relationship Id="rId18" Type="http://schemas.openxmlformats.org/officeDocument/2006/relationships/tags" Target="../tags/tag81.xml"/><Relationship Id="rId26" Type="http://schemas.openxmlformats.org/officeDocument/2006/relationships/tags" Target="../tags/tag89.xml"/><Relationship Id="rId39" Type="http://schemas.openxmlformats.org/officeDocument/2006/relationships/image" Target="../media/image2.png"/><Relationship Id="rId21" Type="http://schemas.openxmlformats.org/officeDocument/2006/relationships/tags" Target="../tags/tag84.xml"/><Relationship Id="rId34" Type="http://schemas.openxmlformats.org/officeDocument/2006/relationships/tags" Target="../tags/tag97.xml"/><Relationship Id="rId42" Type="http://schemas.openxmlformats.org/officeDocument/2006/relationships/image" Target="../media/image5.png"/><Relationship Id="rId47" Type="http://schemas.openxmlformats.org/officeDocument/2006/relationships/image" Target="../media/image10.svg"/><Relationship Id="rId50" Type="http://schemas.openxmlformats.org/officeDocument/2006/relationships/image" Target="../media/image13.emf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6" Type="http://schemas.openxmlformats.org/officeDocument/2006/relationships/tags" Target="../tags/tag79.xml"/><Relationship Id="rId29" Type="http://schemas.openxmlformats.org/officeDocument/2006/relationships/tags" Target="../tags/tag92.xml"/><Relationship Id="rId11" Type="http://schemas.openxmlformats.org/officeDocument/2006/relationships/tags" Target="../tags/tag74.xml"/><Relationship Id="rId24" Type="http://schemas.openxmlformats.org/officeDocument/2006/relationships/tags" Target="../tags/tag87.xml"/><Relationship Id="rId32" Type="http://schemas.openxmlformats.org/officeDocument/2006/relationships/tags" Target="../tags/tag95.xml"/><Relationship Id="rId37" Type="http://schemas.openxmlformats.org/officeDocument/2006/relationships/notesSlide" Target="../notesSlides/notesSlide1.xml"/><Relationship Id="rId40" Type="http://schemas.openxmlformats.org/officeDocument/2006/relationships/image" Target="../media/image3.svg"/><Relationship Id="rId45" Type="http://schemas.openxmlformats.org/officeDocument/2006/relationships/image" Target="../media/image8.svg"/><Relationship Id="rId53" Type="http://schemas.openxmlformats.org/officeDocument/2006/relationships/image" Target="../media/image16.svg"/><Relationship Id="rId5" Type="http://schemas.openxmlformats.org/officeDocument/2006/relationships/tags" Target="../tags/tag68.xml"/><Relationship Id="rId10" Type="http://schemas.openxmlformats.org/officeDocument/2006/relationships/tags" Target="../tags/tag73.xml"/><Relationship Id="rId19" Type="http://schemas.openxmlformats.org/officeDocument/2006/relationships/tags" Target="../tags/tag82.xml"/><Relationship Id="rId31" Type="http://schemas.openxmlformats.org/officeDocument/2006/relationships/tags" Target="../tags/tag94.xml"/><Relationship Id="rId44" Type="http://schemas.openxmlformats.org/officeDocument/2006/relationships/image" Target="../media/image7.svg"/><Relationship Id="rId52" Type="http://schemas.openxmlformats.org/officeDocument/2006/relationships/image" Target="../media/image15.svg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tags" Target="../tags/tag77.xml"/><Relationship Id="rId22" Type="http://schemas.openxmlformats.org/officeDocument/2006/relationships/tags" Target="../tags/tag85.xml"/><Relationship Id="rId27" Type="http://schemas.openxmlformats.org/officeDocument/2006/relationships/tags" Target="../tags/tag90.xml"/><Relationship Id="rId30" Type="http://schemas.openxmlformats.org/officeDocument/2006/relationships/tags" Target="../tags/tag93.xml"/><Relationship Id="rId35" Type="http://schemas.openxmlformats.org/officeDocument/2006/relationships/tags" Target="../tags/tag98.xml"/><Relationship Id="rId43" Type="http://schemas.openxmlformats.org/officeDocument/2006/relationships/image" Target="../media/image6.svg"/><Relationship Id="rId48" Type="http://schemas.openxmlformats.org/officeDocument/2006/relationships/image" Target="../media/image11.svg"/><Relationship Id="rId8" Type="http://schemas.openxmlformats.org/officeDocument/2006/relationships/tags" Target="../tags/tag71.xml"/><Relationship Id="rId51" Type="http://schemas.openxmlformats.org/officeDocument/2006/relationships/image" Target="../media/image14.emf"/><Relationship Id="rId3" Type="http://schemas.openxmlformats.org/officeDocument/2006/relationships/tags" Target="../tags/tag66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25" Type="http://schemas.openxmlformats.org/officeDocument/2006/relationships/tags" Target="../tags/tag88.xml"/><Relationship Id="rId33" Type="http://schemas.openxmlformats.org/officeDocument/2006/relationships/tags" Target="../tags/tag96.xml"/><Relationship Id="rId38" Type="http://schemas.openxmlformats.org/officeDocument/2006/relationships/image" Target="../media/image1.emf"/><Relationship Id="rId46" Type="http://schemas.openxmlformats.org/officeDocument/2006/relationships/image" Target="../media/image9.svg"/><Relationship Id="rId20" Type="http://schemas.openxmlformats.org/officeDocument/2006/relationships/tags" Target="../tags/tag83.xml"/><Relationship Id="rId41" Type="http://schemas.openxmlformats.org/officeDocument/2006/relationships/image" Target="../media/image4.svg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5" Type="http://schemas.openxmlformats.org/officeDocument/2006/relationships/tags" Target="../tags/tag78.xml"/><Relationship Id="rId23" Type="http://schemas.openxmlformats.org/officeDocument/2006/relationships/tags" Target="../tags/tag86.xml"/><Relationship Id="rId28" Type="http://schemas.openxmlformats.org/officeDocument/2006/relationships/tags" Target="../tags/tag91.xml"/><Relationship Id="rId36" Type="http://schemas.openxmlformats.org/officeDocument/2006/relationships/slideLayout" Target="../slideLayouts/slideLayout1.xml"/><Relationship Id="rId49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11.xml"/><Relationship Id="rId18" Type="http://schemas.openxmlformats.org/officeDocument/2006/relationships/tags" Target="../tags/tag116.xml"/><Relationship Id="rId26" Type="http://schemas.openxmlformats.org/officeDocument/2006/relationships/tags" Target="../tags/tag124.xml"/><Relationship Id="rId39" Type="http://schemas.openxmlformats.org/officeDocument/2006/relationships/image" Target="../media/image2.png"/><Relationship Id="rId21" Type="http://schemas.openxmlformats.org/officeDocument/2006/relationships/tags" Target="../tags/tag119.xml"/><Relationship Id="rId34" Type="http://schemas.openxmlformats.org/officeDocument/2006/relationships/tags" Target="../tags/tag132.xml"/><Relationship Id="rId42" Type="http://schemas.openxmlformats.org/officeDocument/2006/relationships/image" Target="../media/image5.png"/><Relationship Id="rId47" Type="http://schemas.openxmlformats.org/officeDocument/2006/relationships/image" Target="../media/image23.svg"/><Relationship Id="rId50" Type="http://schemas.openxmlformats.org/officeDocument/2006/relationships/image" Target="../media/image13.emf"/><Relationship Id="rId7" Type="http://schemas.openxmlformats.org/officeDocument/2006/relationships/tags" Target="../tags/tag105.xml"/><Relationship Id="rId2" Type="http://schemas.openxmlformats.org/officeDocument/2006/relationships/tags" Target="../tags/tag100.xml"/><Relationship Id="rId16" Type="http://schemas.openxmlformats.org/officeDocument/2006/relationships/tags" Target="../tags/tag114.xml"/><Relationship Id="rId29" Type="http://schemas.openxmlformats.org/officeDocument/2006/relationships/tags" Target="../tags/tag127.xml"/><Relationship Id="rId11" Type="http://schemas.openxmlformats.org/officeDocument/2006/relationships/tags" Target="../tags/tag109.xml"/><Relationship Id="rId24" Type="http://schemas.openxmlformats.org/officeDocument/2006/relationships/tags" Target="../tags/tag122.xml"/><Relationship Id="rId32" Type="http://schemas.openxmlformats.org/officeDocument/2006/relationships/tags" Target="../tags/tag130.xml"/><Relationship Id="rId37" Type="http://schemas.openxmlformats.org/officeDocument/2006/relationships/notesSlide" Target="../notesSlides/notesSlide2.xml"/><Relationship Id="rId40" Type="http://schemas.openxmlformats.org/officeDocument/2006/relationships/image" Target="../media/image17.svg"/><Relationship Id="rId45" Type="http://schemas.openxmlformats.org/officeDocument/2006/relationships/image" Target="../media/image21.svg"/><Relationship Id="rId53" Type="http://schemas.openxmlformats.org/officeDocument/2006/relationships/image" Target="../media/image27.svg"/><Relationship Id="rId5" Type="http://schemas.openxmlformats.org/officeDocument/2006/relationships/tags" Target="../tags/tag103.xml"/><Relationship Id="rId10" Type="http://schemas.openxmlformats.org/officeDocument/2006/relationships/tags" Target="../tags/tag108.xml"/><Relationship Id="rId19" Type="http://schemas.openxmlformats.org/officeDocument/2006/relationships/tags" Target="../tags/tag117.xml"/><Relationship Id="rId31" Type="http://schemas.openxmlformats.org/officeDocument/2006/relationships/tags" Target="../tags/tag129.xml"/><Relationship Id="rId44" Type="http://schemas.openxmlformats.org/officeDocument/2006/relationships/image" Target="../media/image20.svg"/><Relationship Id="rId52" Type="http://schemas.openxmlformats.org/officeDocument/2006/relationships/image" Target="../media/image26.svg"/><Relationship Id="rId4" Type="http://schemas.openxmlformats.org/officeDocument/2006/relationships/tags" Target="../tags/tag102.xml"/><Relationship Id="rId9" Type="http://schemas.openxmlformats.org/officeDocument/2006/relationships/tags" Target="../tags/tag107.xml"/><Relationship Id="rId14" Type="http://schemas.openxmlformats.org/officeDocument/2006/relationships/tags" Target="../tags/tag112.xml"/><Relationship Id="rId22" Type="http://schemas.openxmlformats.org/officeDocument/2006/relationships/tags" Target="../tags/tag120.xml"/><Relationship Id="rId27" Type="http://schemas.openxmlformats.org/officeDocument/2006/relationships/tags" Target="../tags/tag125.xml"/><Relationship Id="rId30" Type="http://schemas.openxmlformats.org/officeDocument/2006/relationships/tags" Target="../tags/tag128.xml"/><Relationship Id="rId35" Type="http://schemas.openxmlformats.org/officeDocument/2006/relationships/tags" Target="../tags/tag133.xml"/><Relationship Id="rId43" Type="http://schemas.openxmlformats.org/officeDocument/2006/relationships/image" Target="../media/image19.svg"/><Relationship Id="rId48" Type="http://schemas.openxmlformats.org/officeDocument/2006/relationships/image" Target="../media/image24.svg"/><Relationship Id="rId8" Type="http://schemas.openxmlformats.org/officeDocument/2006/relationships/tags" Target="../tags/tag106.xml"/><Relationship Id="rId51" Type="http://schemas.openxmlformats.org/officeDocument/2006/relationships/image" Target="../media/image14.emf"/><Relationship Id="rId3" Type="http://schemas.openxmlformats.org/officeDocument/2006/relationships/tags" Target="../tags/tag101.xml"/><Relationship Id="rId12" Type="http://schemas.openxmlformats.org/officeDocument/2006/relationships/tags" Target="../tags/tag110.xml"/><Relationship Id="rId17" Type="http://schemas.openxmlformats.org/officeDocument/2006/relationships/tags" Target="../tags/tag115.xml"/><Relationship Id="rId25" Type="http://schemas.openxmlformats.org/officeDocument/2006/relationships/tags" Target="../tags/tag123.xml"/><Relationship Id="rId33" Type="http://schemas.openxmlformats.org/officeDocument/2006/relationships/tags" Target="../tags/tag131.xml"/><Relationship Id="rId38" Type="http://schemas.openxmlformats.org/officeDocument/2006/relationships/image" Target="../media/image1.emf"/><Relationship Id="rId46" Type="http://schemas.openxmlformats.org/officeDocument/2006/relationships/image" Target="../media/image22.svg"/><Relationship Id="rId20" Type="http://schemas.openxmlformats.org/officeDocument/2006/relationships/tags" Target="../tags/tag118.xml"/><Relationship Id="rId41" Type="http://schemas.openxmlformats.org/officeDocument/2006/relationships/image" Target="../media/image18.svg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5" Type="http://schemas.openxmlformats.org/officeDocument/2006/relationships/tags" Target="../tags/tag113.xml"/><Relationship Id="rId23" Type="http://schemas.openxmlformats.org/officeDocument/2006/relationships/tags" Target="../tags/tag121.xml"/><Relationship Id="rId28" Type="http://schemas.openxmlformats.org/officeDocument/2006/relationships/tags" Target="../tags/tag126.xml"/><Relationship Id="rId36" Type="http://schemas.openxmlformats.org/officeDocument/2006/relationships/slideLayout" Target="../slideLayouts/slideLayout1.xml"/><Relationship Id="rId49" Type="http://schemas.openxmlformats.org/officeDocument/2006/relationships/image" Target="../media/image25.sv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146.xml"/><Relationship Id="rId18" Type="http://schemas.openxmlformats.org/officeDocument/2006/relationships/slideLayout" Target="../slideLayouts/slideLayout1.xml"/><Relationship Id="rId26" Type="http://schemas.openxmlformats.org/officeDocument/2006/relationships/image" Target="../media/image33.svg"/><Relationship Id="rId39" Type="http://schemas.openxmlformats.org/officeDocument/2006/relationships/image" Target="../media/image46.png"/><Relationship Id="rId21" Type="http://schemas.openxmlformats.org/officeDocument/2006/relationships/image" Target="../media/image29.png"/><Relationship Id="rId34" Type="http://schemas.openxmlformats.org/officeDocument/2006/relationships/image" Target="../media/image41.svg"/><Relationship Id="rId7" Type="http://schemas.openxmlformats.org/officeDocument/2006/relationships/tags" Target="../tags/tag140.xml"/><Relationship Id="rId12" Type="http://schemas.openxmlformats.org/officeDocument/2006/relationships/tags" Target="../tags/tag145.xml"/><Relationship Id="rId17" Type="http://schemas.openxmlformats.org/officeDocument/2006/relationships/tags" Target="../tags/tag150.xml"/><Relationship Id="rId25" Type="http://schemas.openxmlformats.org/officeDocument/2006/relationships/image" Target="../media/image32.svg"/><Relationship Id="rId33" Type="http://schemas.openxmlformats.org/officeDocument/2006/relationships/image" Target="../media/image40.svg"/><Relationship Id="rId38" Type="http://schemas.openxmlformats.org/officeDocument/2006/relationships/image" Target="../media/image45.png"/><Relationship Id="rId2" Type="http://schemas.openxmlformats.org/officeDocument/2006/relationships/tags" Target="../tags/tag135.xml"/><Relationship Id="rId16" Type="http://schemas.openxmlformats.org/officeDocument/2006/relationships/tags" Target="../tags/tag149.xml"/><Relationship Id="rId20" Type="http://schemas.openxmlformats.org/officeDocument/2006/relationships/image" Target="../media/image28.png"/><Relationship Id="rId29" Type="http://schemas.openxmlformats.org/officeDocument/2006/relationships/image" Target="../media/image36.svg"/><Relationship Id="rId1" Type="http://schemas.openxmlformats.org/officeDocument/2006/relationships/tags" Target="../tags/tag134.xml"/><Relationship Id="rId6" Type="http://schemas.openxmlformats.org/officeDocument/2006/relationships/tags" Target="../tags/tag139.xml"/><Relationship Id="rId11" Type="http://schemas.openxmlformats.org/officeDocument/2006/relationships/tags" Target="../tags/tag144.xml"/><Relationship Id="rId24" Type="http://schemas.openxmlformats.org/officeDocument/2006/relationships/image" Target="../media/image26.svg"/><Relationship Id="rId32" Type="http://schemas.openxmlformats.org/officeDocument/2006/relationships/image" Target="../media/image39.svg"/><Relationship Id="rId37" Type="http://schemas.openxmlformats.org/officeDocument/2006/relationships/image" Target="../media/image44.png"/><Relationship Id="rId5" Type="http://schemas.openxmlformats.org/officeDocument/2006/relationships/tags" Target="../tags/tag138.xml"/><Relationship Id="rId15" Type="http://schemas.openxmlformats.org/officeDocument/2006/relationships/tags" Target="../tags/tag148.xml"/><Relationship Id="rId23" Type="http://schemas.openxmlformats.org/officeDocument/2006/relationships/image" Target="../media/image31.svg"/><Relationship Id="rId28" Type="http://schemas.openxmlformats.org/officeDocument/2006/relationships/image" Target="../media/image35.svg"/><Relationship Id="rId36" Type="http://schemas.openxmlformats.org/officeDocument/2006/relationships/image" Target="../media/image43.png"/><Relationship Id="rId10" Type="http://schemas.openxmlformats.org/officeDocument/2006/relationships/tags" Target="../tags/tag143.xml"/><Relationship Id="rId19" Type="http://schemas.openxmlformats.org/officeDocument/2006/relationships/notesSlide" Target="../notesSlides/notesSlide3.xml"/><Relationship Id="rId31" Type="http://schemas.openxmlformats.org/officeDocument/2006/relationships/image" Target="../media/image38.svg"/><Relationship Id="rId4" Type="http://schemas.openxmlformats.org/officeDocument/2006/relationships/tags" Target="../tags/tag137.xml"/><Relationship Id="rId9" Type="http://schemas.openxmlformats.org/officeDocument/2006/relationships/tags" Target="../tags/tag142.xml"/><Relationship Id="rId14" Type="http://schemas.openxmlformats.org/officeDocument/2006/relationships/tags" Target="../tags/tag147.xml"/><Relationship Id="rId22" Type="http://schemas.openxmlformats.org/officeDocument/2006/relationships/image" Target="../media/image30.svg"/><Relationship Id="rId27" Type="http://schemas.openxmlformats.org/officeDocument/2006/relationships/image" Target="../media/image34.svg"/><Relationship Id="rId30" Type="http://schemas.openxmlformats.org/officeDocument/2006/relationships/image" Target="../media/image37.png"/><Relationship Id="rId35" Type="http://schemas.openxmlformats.org/officeDocument/2006/relationships/image" Target="../media/image42.png"/><Relationship Id="rId8" Type="http://schemas.openxmlformats.org/officeDocument/2006/relationships/tags" Target="../tags/tag141.xml"/><Relationship Id="rId3" Type="http://schemas.openxmlformats.org/officeDocument/2006/relationships/tags" Target="../tags/tag136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163.xml"/><Relationship Id="rId18" Type="http://schemas.openxmlformats.org/officeDocument/2006/relationships/slideLayout" Target="../slideLayouts/slideLayout1.xml"/><Relationship Id="rId26" Type="http://schemas.openxmlformats.org/officeDocument/2006/relationships/image" Target="../media/image51.svg"/><Relationship Id="rId39" Type="http://schemas.openxmlformats.org/officeDocument/2006/relationships/image" Target="../media/image46.png"/><Relationship Id="rId21" Type="http://schemas.openxmlformats.org/officeDocument/2006/relationships/image" Target="../media/image29.png"/><Relationship Id="rId34" Type="http://schemas.openxmlformats.org/officeDocument/2006/relationships/image" Target="../media/image58.svg"/><Relationship Id="rId7" Type="http://schemas.openxmlformats.org/officeDocument/2006/relationships/tags" Target="../tags/tag157.xml"/><Relationship Id="rId12" Type="http://schemas.openxmlformats.org/officeDocument/2006/relationships/tags" Target="../tags/tag162.xml"/><Relationship Id="rId17" Type="http://schemas.openxmlformats.org/officeDocument/2006/relationships/tags" Target="../tags/tag167.xml"/><Relationship Id="rId25" Type="http://schemas.openxmlformats.org/officeDocument/2006/relationships/image" Target="../media/image50.svg"/><Relationship Id="rId33" Type="http://schemas.openxmlformats.org/officeDocument/2006/relationships/image" Target="../media/image57.svg"/><Relationship Id="rId38" Type="http://schemas.openxmlformats.org/officeDocument/2006/relationships/image" Target="../media/image45.png"/><Relationship Id="rId2" Type="http://schemas.openxmlformats.org/officeDocument/2006/relationships/tags" Target="../tags/tag152.xml"/><Relationship Id="rId16" Type="http://schemas.openxmlformats.org/officeDocument/2006/relationships/tags" Target="../tags/tag166.xml"/><Relationship Id="rId20" Type="http://schemas.openxmlformats.org/officeDocument/2006/relationships/image" Target="../media/image28.png"/><Relationship Id="rId29" Type="http://schemas.openxmlformats.org/officeDocument/2006/relationships/image" Target="../media/image54.svg"/><Relationship Id="rId1" Type="http://schemas.openxmlformats.org/officeDocument/2006/relationships/tags" Target="../tags/tag151.xml"/><Relationship Id="rId6" Type="http://schemas.openxmlformats.org/officeDocument/2006/relationships/tags" Target="../tags/tag156.xml"/><Relationship Id="rId11" Type="http://schemas.openxmlformats.org/officeDocument/2006/relationships/tags" Target="../tags/tag161.xml"/><Relationship Id="rId24" Type="http://schemas.openxmlformats.org/officeDocument/2006/relationships/image" Target="../media/image49.svg"/><Relationship Id="rId32" Type="http://schemas.openxmlformats.org/officeDocument/2006/relationships/image" Target="../media/image56.svg"/><Relationship Id="rId37" Type="http://schemas.openxmlformats.org/officeDocument/2006/relationships/image" Target="../media/image44.png"/><Relationship Id="rId5" Type="http://schemas.openxmlformats.org/officeDocument/2006/relationships/tags" Target="../tags/tag155.xml"/><Relationship Id="rId15" Type="http://schemas.openxmlformats.org/officeDocument/2006/relationships/tags" Target="../tags/tag165.xml"/><Relationship Id="rId23" Type="http://schemas.openxmlformats.org/officeDocument/2006/relationships/image" Target="../media/image48.svg"/><Relationship Id="rId28" Type="http://schemas.openxmlformats.org/officeDocument/2006/relationships/image" Target="../media/image53.svg"/><Relationship Id="rId36" Type="http://schemas.openxmlformats.org/officeDocument/2006/relationships/image" Target="../media/image43.png"/><Relationship Id="rId10" Type="http://schemas.openxmlformats.org/officeDocument/2006/relationships/tags" Target="../tags/tag160.xml"/><Relationship Id="rId19" Type="http://schemas.openxmlformats.org/officeDocument/2006/relationships/notesSlide" Target="../notesSlides/notesSlide4.xml"/><Relationship Id="rId31" Type="http://schemas.openxmlformats.org/officeDocument/2006/relationships/image" Target="../media/image55.svg"/><Relationship Id="rId4" Type="http://schemas.openxmlformats.org/officeDocument/2006/relationships/tags" Target="../tags/tag154.xml"/><Relationship Id="rId9" Type="http://schemas.openxmlformats.org/officeDocument/2006/relationships/tags" Target="../tags/tag159.xml"/><Relationship Id="rId14" Type="http://schemas.openxmlformats.org/officeDocument/2006/relationships/tags" Target="../tags/tag164.xml"/><Relationship Id="rId22" Type="http://schemas.openxmlformats.org/officeDocument/2006/relationships/image" Target="../media/image47.svg"/><Relationship Id="rId27" Type="http://schemas.openxmlformats.org/officeDocument/2006/relationships/image" Target="../media/image52.svg"/><Relationship Id="rId30" Type="http://schemas.openxmlformats.org/officeDocument/2006/relationships/image" Target="../media/image37.png"/><Relationship Id="rId35" Type="http://schemas.openxmlformats.org/officeDocument/2006/relationships/image" Target="../media/image42.png"/><Relationship Id="rId8" Type="http://schemas.openxmlformats.org/officeDocument/2006/relationships/tags" Target="../tags/tag158.xml"/><Relationship Id="rId3" Type="http://schemas.openxmlformats.org/officeDocument/2006/relationships/tags" Target="../tags/tag15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13" Type="http://schemas.openxmlformats.org/officeDocument/2006/relationships/image" Target="../media/image63.svg"/><Relationship Id="rId18" Type="http://schemas.openxmlformats.org/officeDocument/2006/relationships/image" Target="../media/image67.svg"/><Relationship Id="rId3" Type="http://schemas.openxmlformats.org/officeDocument/2006/relationships/tags" Target="../tags/tag170.xml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62.png"/><Relationship Id="rId17" Type="http://schemas.openxmlformats.org/officeDocument/2006/relationships/image" Target="../media/image45.png"/><Relationship Id="rId2" Type="http://schemas.openxmlformats.org/officeDocument/2006/relationships/tags" Target="../tags/tag169.xml"/><Relationship Id="rId16" Type="http://schemas.openxmlformats.org/officeDocument/2006/relationships/image" Target="../media/image66.png"/><Relationship Id="rId20" Type="http://schemas.openxmlformats.org/officeDocument/2006/relationships/image" Target="../media/image69.svg"/><Relationship Id="rId1" Type="http://schemas.openxmlformats.org/officeDocument/2006/relationships/tags" Target="../tags/tag168.xml"/><Relationship Id="rId6" Type="http://schemas.openxmlformats.org/officeDocument/2006/relationships/tags" Target="../tags/tag173.xml"/><Relationship Id="rId11" Type="http://schemas.openxmlformats.org/officeDocument/2006/relationships/image" Target="../media/image61.png"/><Relationship Id="rId5" Type="http://schemas.openxmlformats.org/officeDocument/2006/relationships/tags" Target="../tags/tag172.xml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19" Type="http://schemas.openxmlformats.org/officeDocument/2006/relationships/image" Target="../media/image68.svg"/><Relationship Id="rId4" Type="http://schemas.openxmlformats.org/officeDocument/2006/relationships/tags" Target="../tags/tag171.xml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组合 241"/>
          <p:cNvGrpSpPr/>
          <p:nvPr/>
        </p:nvGrpSpPr>
        <p:grpSpPr>
          <a:xfrm>
            <a:off x="1822057" y="0"/>
            <a:ext cx="4145915" cy="5410200"/>
            <a:chOff x="195" y="22"/>
            <a:chExt cx="6529" cy="8520"/>
          </a:xfrm>
        </p:grpSpPr>
        <p:sp>
          <p:nvSpPr>
            <p:cNvPr id="118" name="矩形 117"/>
            <p:cNvSpPr/>
            <p:nvPr/>
          </p:nvSpPr>
          <p:spPr>
            <a:xfrm>
              <a:off x="195" y="3330"/>
              <a:ext cx="6088" cy="5212"/>
            </a:xfrm>
            <a:prstGeom prst="rect">
              <a:avLst/>
            </a:prstGeom>
            <a:solidFill>
              <a:srgbClr val="E6EFF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500" b="1">
                  <a:solidFill>
                    <a:schemeClr val="bg1">
                      <a:lumMod val="50000"/>
                    </a:schemeClr>
                  </a:solidFill>
                  <a:sym typeface="+mn-ea"/>
                </a:rPr>
                <a:t>→</a:t>
              </a:r>
              <a:endParaRPr lang="zh-CN" altLang="en-US"/>
            </a:p>
          </p:txBody>
        </p:sp>
        <p:sp>
          <p:nvSpPr>
            <p:cNvPr id="164" name="矩形 163"/>
            <p:cNvSpPr/>
            <p:nvPr/>
          </p:nvSpPr>
          <p:spPr>
            <a:xfrm>
              <a:off x="198" y="241"/>
              <a:ext cx="6085" cy="2869"/>
            </a:xfrm>
            <a:prstGeom prst="rect">
              <a:avLst/>
            </a:prstGeom>
            <a:solidFill>
              <a:srgbClr val="EAF6E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63" name="组合 162"/>
            <p:cNvGrpSpPr/>
            <p:nvPr/>
          </p:nvGrpSpPr>
          <p:grpSpPr>
            <a:xfrm>
              <a:off x="268" y="242"/>
              <a:ext cx="6457" cy="2817"/>
              <a:chOff x="345" y="0"/>
              <a:chExt cx="6457" cy="2817"/>
            </a:xfrm>
          </p:grpSpPr>
          <p:grpSp>
            <p:nvGrpSpPr>
              <p:cNvPr id="28" name="组合 27"/>
              <p:cNvGrpSpPr/>
              <p:nvPr/>
            </p:nvGrpSpPr>
            <p:grpSpPr>
              <a:xfrm>
                <a:off x="345" y="810"/>
                <a:ext cx="1410" cy="1060"/>
                <a:chOff x="345" y="527"/>
                <a:chExt cx="1410" cy="1060"/>
              </a:xfrm>
            </p:grpSpPr>
            <p:sp>
              <p:nvSpPr>
                <p:cNvPr id="26" name="圆角矩形 25"/>
                <p:cNvSpPr/>
                <p:nvPr/>
              </p:nvSpPr>
              <p:spPr>
                <a:xfrm>
                  <a:off x="345" y="527"/>
                  <a:ext cx="1410" cy="1061"/>
                </a:xfrm>
                <a:prstGeom prst="roundRect">
                  <a:avLst>
                    <a:gd name="adj" fmla="val 11498"/>
                  </a:avLst>
                </a:prstGeom>
                <a:solidFill>
                  <a:srgbClr val="CDE4D0"/>
                </a:solidFill>
                <a:ln>
                  <a:solidFill>
                    <a:srgbClr val="4A6C53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" name="矩形 2"/>
                <p:cNvSpPr/>
                <p:nvPr/>
              </p:nvSpPr>
              <p:spPr>
                <a:xfrm>
                  <a:off x="418" y="613"/>
                  <a:ext cx="253" cy="197"/>
                </a:xfrm>
                <a:prstGeom prst="rect">
                  <a:avLst/>
                </a:prstGeom>
                <a:solidFill>
                  <a:srgbClr val="94C19B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418" y="810"/>
                  <a:ext cx="253" cy="197"/>
                </a:xfrm>
                <a:prstGeom prst="rect">
                  <a:avLst/>
                </a:prstGeom>
                <a:solidFill>
                  <a:srgbClr val="BDD39B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" name="矩形 5"/>
                <p:cNvSpPr/>
                <p:nvPr/>
              </p:nvSpPr>
              <p:spPr>
                <a:xfrm>
                  <a:off x="418" y="1007"/>
                  <a:ext cx="253" cy="197"/>
                </a:xfrm>
                <a:prstGeom prst="rect">
                  <a:avLst/>
                </a:prstGeom>
                <a:solidFill>
                  <a:srgbClr val="9FC18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" name="矩形 6"/>
                <p:cNvSpPr/>
                <p:nvPr/>
              </p:nvSpPr>
              <p:spPr>
                <a:xfrm>
                  <a:off x="418" y="1204"/>
                  <a:ext cx="253" cy="197"/>
                </a:xfrm>
                <a:prstGeom prst="rect">
                  <a:avLst/>
                </a:prstGeom>
                <a:solidFill>
                  <a:srgbClr val="BCCFA4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" name="矩形 7"/>
                <p:cNvSpPr/>
                <p:nvPr/>
              </p:nvSpPr>
              <p:spPr>
                <a:xfrm>
                  <a:off x="671" y="613"/>
                  <a:ext cx="253" cy="197"/>
                </a:xfrm>
                <a:prstGeom prst="rect">
                  <a:avLst/>
                </a:prstGeom>
                <a:solidFill>
                  <a:srgbClr val="B594A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671" y="810"/>
                  <a:ext cx="253" cy="197"/>
                </a:xfrm>
                <a:prstGeom prst="rect">
                  <a:avLst/>
                </a:prstGeom>
                <a:solidFill>
                  <a:srgbClr val="E0997F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" name="矩形 9"/>
                <p:cNvSpPr/>
                <p:nvPr/>
              </p:nvSpPr>
              <p:spPr>
                <a:xfrm>
                  <a:off x="671" y="1007"/>
                  <a:ext cx="253" cy="197"/>
                </a:xfrm>
                <a:prstGeom prst="rect">
                  <a:avLst/>
                </a:prstGeom>
                <a:solidFill>
                  <a:srgbClr val="D8A09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71" y="1204"/>
                  <a:ext cx="253" cy="197"/>
                </a:xfrm>
                <a:prstGeom prst="rect">
                  <a:avLst/>
                </a:prstGeom>
                <a:solidFill>
                  <a:srgbClr val="CE8B9C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924" y="613"/>
                  <a:ext cx="253" cy="197"/>
                </a:xfrm>
                <a:prstGeom prst="rect">
                  <a:avLst/>
                </a:prstGeom>
                <a:solidFill>
                  <a:srgbClr val="78B2B5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" name="矩形 12"/>
                <p:cNvSpPr/>
                <p:nvPr/>
              </p:nvSpPr>
              <p:spPr>
                <a:xfrm>
                  <a:off x="924" y="810"/>
                  <a:ext cx="253" cy="197"/>
                </a:xfrm>
                <a:prstGeom prst="rect">
                  <a:avLst/>
                </a:prstGeom>
                <a:solidFill>
                  <a:srgbClr val="B0A0B3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" name="矩形 13"/>
                <p:cNvSpPr/>
                <p:nvPr/>
              </p:nvSpPr>
              <p:spPr>
                <a:xfrm>
                  <a:off x="924" y="1007"/>
                  <a:ext cx="253" cy="197"/>
                </a:xfrm>
                <a:prstGeom prst="rect">
                  <a:avLst/>
                </a:prstGeom>
                <a:solidFill>
                  <a:srgbClr val="A79EB4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>
                  <a:off x="924" y="1204"/>
                  <a:ext cx="253" cy="197"/>
                </a:xfrm>
                <a:prstGeom prst="rect">
                  <a:avLst/>
                </a:prstGeom>
                <a:solidFill>
                  <a:srgbClr val="73AFB3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" name="矩形 15"/>
                <p:cNvSpPr/>
                <p:nvPr/>
              </p:nvSpPr>
              <p:spPr>
                <a:xfrm>
                  <a:off x="1177" y="613"/>
                  <a:ext cx="253" cy="197"/>
                </a:xfrm>
                <a:prstGeom prst="rect">
                  <a:avLst/>
                </a:prstGeom>
                <a:solidFill>
                  <a:srgbClr val="8EBF96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矩形 16"/>
                <p:cNvSpPr/>
                <p:nvPr/>
              </p:nvSpPr>
              <p:spPr>
                <a:xfrm>
                  <a:off x="1177" y="810"/>
                  <a:ext cx="253" cy="197"/>
                </a:xfrm>
                <a:prstGeom prst="rect">
                  <a:avLst/>
                </a:prstGeom>
                <a:solidFill>
                  <a:srgbClr val="F0D6A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" name="矩形 17"/>
                <p:cNvSpPr/>
                <p:nvPr/>
              </p:nvSpPr>
              <p:spPr>
                <a:xfrm>
                  <a:off x="1177" y="1007"/>
                  <a:ext cx="253" cy="197"/>
                </a:xfrm>
                <a:prstGeom prst="rect">
                  <a:avLst/>
                </a:prstGeom>
                <a:solidFill>
                  <a:srgbClr val="EAE5AE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矩形 18"/>
                <p:cNvSpPr/>
                <p:nvPr/>
              </p:nvSpPr>
              <p:spPr>
                <a:xfrm>
                  <a:off x="1177" y="1204"/>
                  <a:ext cx="253" cy="197"/>
                </a:xfrm>
                <a:prstGeom prst="rect">
                  <a:avLst/>
                </a:prstGeom>
                <a:solidFill>
                  <a:srgbClr val="EED295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1430" y="613"/>
                  <a:ext cx="253" cy="197"/>
                </a:xfrm>
                <a:prstGeom prst="rect">
                  <a:avLst/>
                </a:prstGeom>
                <a:solidFill>
                  <a:srgbClr val="2B633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矩形 20"/>
                <p:cNvSpPr/>
                <p:nvPr/>
              </p:nvSpPr>
              <p:spPr>
                <a:xfrm>
                  <a:off x="1430" y="810"/>
                  <a:ext cx="253" cy="197"/>
                </a:xfrm>
                <a:prstGeom prst="rect">
                  <a:avLst/>
                </a:prstGeom>
                <a:solidFill>
                  <a:srgbClr val="87B892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1430" y="1007"/>
                  <a:ext cx="253" cy="197"/>
                </a:xfrm>
                <a:prstGeom prst="rect">
                  <a:avLst/>
                </a:prstGeom>
                <a:solidFill>
                  <a:srgbClr val="8BBA9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1430" y="1204"/>
                  <a:ext cx="253" cy="197"/>
                </a:xfrm>
                <a:prstGeom prst="rect">
                  <a:avLst/>
                </a:prstGeom>
                <a:solidFill>
                  <a:srgbClr val="2A6039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文本框 23"/>
                <p:cNvSpPr txBox="1"/>
                <p:nvPr/>
              </p:nvSpPr>
              <p:spPr>
                <a:xfrm>
                  <a:off x="1410" y="527"/>
                  <a:ext cx="209" cy="1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800" i="1">
                      <a:solidFill>
                        <a:schemeClr val="bg1"/>
                      </a:solidFill>
                    </a:rPr>
                    <a:t>y</a:t>
                  </a:r>
                </a:p>
              </p:txBody>
            </p:sp>
            <p:sp>
              <p:nvSpPr>
                <p:cNvPr id="25" name="文本框 24"/>
                <p:cNvSpPr txBox="1"/>
                <p:nvPr/>
              </p:nvSpPr>
              <p:spPr>
                <a:xfrm>
                  <a:off x="615" y="1372"/>
                  <a:ext cx="910" cy="1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500"/>
                    <a:t>Task 1(SCM)</a:t>
                  </a:r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>
                <a:off x="1855" y="810"/>
                <a:ext cx="1410" cy="1060"/>
                <a:chOff x="345" y="527"/>
                <a:chExt cx="1410" cy="1060"/>
              </a:xfrm>
            </p:grpSpPr>
            <p:sp>
              <p:nvSpPr>
                <p:cNvPr id="30" name="圆角矩形 29"/>
                <p:cNvSpPr/>
                <p:nvPr/>
              </p:nvSpPr>
              <p:spPr>
                <a:xfrm>
                  <a:off x="345" y="527"/>
                  <a:ext cx="1410" cy="1061"/>
                </a:xfrm>
                <a:prstGeom prst="roundRect">
                  <a:avLst>
                    <a:gd name="adj" fmla="val 11498"/>
                  </a:avLst>
                </a:prstGeom>
                <a:solidFill>
                  <a:srgbClr val="CDE4D0"/>
                </a:solidFill>
                <a:ln>
                  <a:solidFill>
                    <a:srgbClr val="4A6C53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>
                  <a:off x="418" y="613"/>
                  <a:ext cx="253" cy="197"/>
                </a:xfrm>
                <a:prstGeom prst="rect">
                  <a:avLst/>
                </a:prstGeom>
                <a:solidFill>
                  <a:srgbClr val="94C19B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>
                  <a:off x="418" y="810"/>
                  <a:ext cx="253" cy="197"/>
                </a:xfrm>
                <a:prstGeom prst="rect">
                  <a:avLst/>
                </a:prstGeom>
                <a:solidFill>
                  <a:srgbClr val="BDD39B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>
                  <a:off x="418" y="1007"/>
                  <a:ext cx="253" cy="197"/>
                </a:xfrm>
                <a:prstGeom prst="rect">
                  <a:avLst/>
                </a:prstGeom>
                <a:solidFill>
                  <a:srgbClr val="9FC18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" name="矩形 33"/>
                <p:cNvSpPr/>
                <p:nvPr/>
              </p:nvSpPr>
              <p:spPr>
                <a:xfrm>
                  <a:off x="418" y="1204"/>
                  <a:ext cx="253" cy="197"/>
                </a:xfrm>
                <a:prstGeom prst="rect">
                  <a:avLst/>
                </a:prstGeom>
                <a:solidFill>
                  <a:srgbClr val="BCCFA4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5" name="矩形 34"/>
                <p:cNvSpPr/>
                <p:nvPr/>
              </p:nvSpPr>
              <p:spPr>
                <a:xfrm>
                  <a:off x="671" y="613"/>
                  <a:ext cx="253" cy="197"/>
                </a:xfrm>
                <a:prstGeom prst="rect">
                  <a:avLst/>
                </a:prstGeom>
                <a:solidFill>
                  <a:srgbClr val="B594A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6" name="矩形 35"/>
                <p:cNvSpPr/>
                <p:nvPr/>
              </p:nvSpPr>
              <p:spPr>
                <a:xfrm>
                  <a:off x="671" y="810"/>
                  <a:ext cx="253" cy="197"/>
                </a:xfrm>
                <a:prstGeom prst="rect">
                  <a:avLst/>
                </a:prstGeom>
                <a:solidFill>
                  <a:srgbClr val="E0997F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" name="矩形 36"/>
                <p:cNvSpPr/>
                <p:nvPr/>
              </p:nvSpPr>
              <p:spPr>
                <a:xfrm>
                  <a:off x="671" y="1007"/>
                  <a:ext cx="253" cy="197"/>
                </a:xfrm>
                <a:prstGeom prst="rect">
                  <a:avLst/>
                </a:prstGeom>
                <a:solidFill>
                  <a:srgbClr val="D8A09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矩形 37"/>
                <p:cNvSpPr/>
                <p:nvPr/>
              </p:nvSpPr>
              <p:spPr>
                <a:xfrm>
                  <a:off x="671" y="1204"/>
                  <a:ext cx="253" cy="197"/>
                </a:xfrm>
                <a:prstGeom prst="rect">
                  <a:avLst/>
                </a:prstGeom>
                <a:solidFill>
                  <a:srgbClr val="CE8B9C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矩形 38"/>
                <p:cNvSpPr/>
                <p:nvPr/>
              </p:nvSpPr>
              <p:spPr>
                <a:xfrm>
                  <a:off x="924" y="613"/>
                  <a:ext cx="253" cy="197"/>
                </a:xfrm>
                <a:prstGeom prst="rect">
                  <a:avLst/>
                </a:prstGeom>
                <a:solidFill>
                  <a:srgbClr val="78B2B5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" name="矩形 39"/>
                <p:cNvSpPr/>
                <p:nvPr/>
              </p:nvSpPr>
              <p:spPr>
                <a:xfrm>
                  <a:off x="924" y="810"/>
                  <a:ext cx="253" cy="197"/>
                </a:xfrm>
                <a:prstGeom prst="rect">
                  <a:avLst/>
                </a:prstGeom>
                <a:solidFill>
                  <a:srgbClr val="B0A0B3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矩形 40"/>
                <p:cNvSpPr/>
                <p:nvPr/>
              </p:nvSpPr>
              <p:spPr>
                <a:xfrm>
                  <a:off x="924" y="1007"/>
                  <a:ext cx="253" cy="197"/>
                </a:xfrm>
                <a:prstGeom prst="rect">
                  <a:avLst/>
                </a:prstGeom>
                <a:solidFill>
                  <a:srgbClr val="A79EB4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2" name="矩形 41"/>
                <p:cNvSpPr/>
                <p:nvPr/>
              </p:nvSpPr>
              <p:spPr>
                <a:xfrm>
                  <a:off x="924" y="1204"/>
                  <a:ext cx="253" cy="197"/>
                </a:xfrm>
                <a:prstGeom prst="rect">
                  <a:avLst/>
                </a:prstGeom>
                <a:solidFill>
                  <a:srgbClr val="73AFB3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" name="矩形 42"/>
                <p:cNvSpPr/>
                <p:nvPr/>
              </p:nvSpPr>
              <p:spPr>
                <a:xfrm>
                  <a:off x="1177" y="613"/>
                  <a:ext cx="253" cy="197"/>
                </a:xfrm>
                <a:prstGeom prst="rect">
                  <a:avLst/>
                </a:prstGeom>
                <a:solidFill>
                  <a:srgbClr val="8EBF96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" name="矩形 43"/>
                <p:cNvSpPr/>
                <p:nvPr/>
              </p:nvSpPr>
              <p:spPr>
                <a:xfrm>
                  <a:off x="1177" y="810"/>
                  <a:ext cx="253" cy="197"/>
                </a:xfrm>
                <a:prstGeom prst="rect">
                  <a:avLst/>
                </a:prstGeom>
                <a:solidFill>
                  <a:srgbClr val="F0D6A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5" name="矩形 44"/>
                <p:cNvSpPr/>
                <p:nvPr/>
              </p:nvSpPr>
              <p:spPr>
                <a:xfrm>
                  <a:off x="1177" y="1007"/>
                  <a:ext cx="253" cy="197"/>
                </a:xfrm>
                <a:prstGeom prst="rect">
                  <a:avLst/>
                </a:prstGeom>
                <a:solidFill>
                  <a:srgbClr val="EAE5AE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6" name="矩形 45"/>
                <p:cNvSpPr/>
                <p:nvPr/>
              </p:nvSpPr>
              <p:spPr>
                <a:xfrm>
                  <a:off x="1177" y="1204"/>
                  <a:ext cx="253" cy="197"/>
                </a:xfrm>
                <a:prstGeom prst="rect">
                  <a:avLst/>
                </a:prstGeom>
                <a:solidFill>
                  <a:srgbClr val="EED295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7" name="矩形 46"/>
                <p:cNvSpPr/>
                <p:nvPr/>
              </p:nvSpPr>
              <p:spPr>
                <a:xfrm>
                  <a:off x="1430" y="613"/>
                  <a:ext cx="253" cy="197"/>
                </a:xfrm>
                <a:prstGeom prst="rect">
                  <a:avLst/>
                </a:prstGeom>
                <a:solidFill>
                  <a:srgbClr val="2B633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8" name="矩形 47"/>
                <p:cNvSpPr/>
                <p:nvPr/>
              </p:nvSpPr>
              <p:spPr>
                <a:xfrm>
                  <a:off x="1430" y="810"/>
                  <a:ext cx="253" cy="197"/>
                </a:xfrm>
                <a:prstGeom prst="rect">
                  <a:avLst/>
                </a:prstGeom>
                <a:solidFill>
                  <a:srgbClr val="87B892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" name="矩形 48"/>
                <p:cNvSpPr/>
                <p:nvPr/>
              </p:nvSpPr>
              <p:spPr>
                <a:xfrm>
                  <a:off x="1430" y="1007"/>
                  <a:ext cx="253" cy="197"/>
                </a:xfrm>
                <a:prstGeom prst="rect">
                  <a:avLst/>
                </a:prstGeom>
                <a:solidFill>
                  <a:srgbClr val="8BBA9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" name="矩形 49"/>
                <p:cNvSpPr/>
                <p:nvPr/>
              </p:nvSpPr>
              <p:spPr>
                <a:xfrm>
                  <a:off x="1430" y="1204"/>
                  <a:ext cx="253" cy="197"/>
                </a:xfrm>
                <a:prstGeom prst="rect">
                  <a:avLst/>
                </a:prstGeom>
                <a:solidFill>
                  <a:srgbClr val="2A6039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文本框 50"/>
                <p:cNvSpPr txBox="1"/>
                <p:nvPr/>
              </p:nvSpPr>
              <p:spPr>
                <a:xfrm>
                  <a:off x="1410" y="527"/>
                  <a:ext cx="209" cy="1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800" i="1">
                      <a:solidFill>
                        <a:schemeClr val="bg1"/>
                      </a:solidFill>
                    </a:rPr>
                    <a:t>y</a:t>
                  </a:r>
                </a:p>
              </p:txBody>
            </p:sp>
            <p:sp>
              <p:nvSpPr>
                <p:cNvPr id="52" name="文本框 51"/>
                <p:cNvSpPr txBox="1"/>
                <p:nvPr/>
              </p:nvSpPr>
              <p:spPr>
                <a:xfrm>
                  <a:off x="615" y="1372"/>
                  <a:ext cx="910" cy="1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500"/>
                    <a:t>Task 2(BNN)</a:t>
                  </a:r>
                </a:p>
              </p:txBody>
            </p:sp>
          </p:grpSp>
          <p:grpSp>
            <p:nvGrpSpPr>
              <p:cNvPr id="53" name="组合 52"/>
              <p:cNvGrpSpPr/>
              <p:nvPr/>
            </p:nvGrpSpPr>
            <p:grpSpPr>
              <a:xfrm>
                <a:off x="3353" y="810"/>
                <a:ext cx="1410" cy="1061"/>
                <a:chOff x="345" y="527"/>
                <a:chExt cx="1410" cy="1061"/>
              </a:xfrm>
            </p:grpSpPr>
            <p:sp>
              <p:nvSpPr>
                <p:cNvPr id="54" name="圆角矩形 53"/>
                <p:cNvSpPr/>
                <p:nvPr/>
              </p:nvSpPr>
              <p:spPr>
                <a:xfrm>
                  <a:off x="345" y="527"/>
                  <a:ext cx="1410" cy="1061"/>
                </a:xfrm>
                <a:prstGeom prst="roundRect">
                  <a:avLst>
                    <a:gd name="adj" fmla="val 11498"/>
                  </a:avLst>
                </a:prstGeom>
                <a:solidFill>
                  <a:srgbClr val="CDE4D0"/>
                </a:solidFill>
                <a:ln>
                  <a:solidFill>
                    <a:srgbClr val="4A6C53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" name="矩形 54"/>
                <p:cNvSpPr/>
                <p:nvPr/>
              </p:nvSpPr>
              <p:spPr>
                <a:xfrm>
                  <a:off x="418" y="613"/>
                  <a:ext cx="253" cy="197"/>
                </a:xfrm>
                <a:prstGeom prst="rect">
                  <a:avLst/>
                </a:prstGeom>
                <a:solidFill>
                  <a:srgbClr val="94C19B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6" name="矩形 55"/>
                <p:cNvSpPr/>
                <p:nvPr/>
              </p:nvSpPr>
              <p:spPr>
                <a:xfrm>
                  <a:off x="418" y="810"/>
                  <a:ext cx="253" cy="197"/>
                </a:xfrm>
                <a:prstGeom prst="rect">
                  <a:avLst/>
                </a:prstGeom>
                <a:solidFill>
                  <a:srgbClr val="BDD39B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" name="矩形 56"/>
                <p:cNvSpPr/>
                <p:nvPr/>
              </p:nvSpPr>
              <p:spPr>
                <a:xfrm>
                  <a:off x="418" y="1007"/>
                  <a:ext cx="253" cy="197"/>
                </a:xfrm>
                <a:prstGeom prst="rect">
                  <a:avLst/>
                </a:prstGeom>
                <a:solidFill>
                  <a:srgbClr val="9FC18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" name="矩形 57"/>
                <p:cNvSpPr/>
                <p:nvPr/>
              </p:nvSpPr>
              <p:spPr>
                <a:xfrm>
                  <a:off x="418" y="1204"/>
                  <a:ext cx="253" cy="197"/>
                </a:xfrm>
                <a:prstGeom prst="rect">
                  <a:avLst/>
                </a:prstGeom>
                <a:solidFill>
                  <a:srgbClr val="BCCFA4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9" name="矩形 58"/>
                <p:cNvSpPr/>
                <p:nvPr/>
              </p:nvSpPr>
              <p:spPr>
                <a:xfrm>
                  <a:off x="671" y="613"/>
                  <a:ext cx="253" cy="197"/>
                </a:xfrm>
                <a:prstGeom prst="rect">
                  <a:avLst/>
                </a:prstGeom>
                <a:solidFill>
                  <a:srgbClr val="B594A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0" name="矩形 59"/>
                <p:cNvSpPr/>
                <p:nvPr/>
              </p:nvSpPr>
              <p:spPr>
                <a:xfrm>
                  <a:off x="671" y="810"/>
                  <a:ext cx="253" cy="197"/>
                </a:xfrm>
                <a:prstGeom prst="rect">
                  <a:avLst/>
                </a:prstGeom>
                <a:solidFill>
                  <a:srgbClr val="E0997F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1" name="矩形 60"/>
                <p:cNvSpPr/>
                <p:nvPr/>
              </p:nvSpPr>
              <p:spPr>
                <a:xfrm>
                  <a:off x="671" y="1007"/>
                  <a:ext cx="253" cy="197"/>
                </a:xfrm>
                <a:prstGeom prst="rect">
                  <a:avLst/>
                </a:prstGeom>
                <a:solidFill>
                  <a:srgbClr val="D8A09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2" name="矩形 61"/>
                <p:cNvSpPr/>
                <p:nvPr/>
              </p:nvSpPr>
              <p:spPr>
                <a:xfrm>
                  <a:off x="671" y="1204"/>
                  <a:ext cx="253" cy="197"/>
                </a:xfrm>
                <a:prstGeom prst="rect">
                  <a:avLst/>
                </a:prstGeom>
                <a:solidFill>
                  <a:srgbClr val="CE8B9C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" name="矩形 62"/>
                <p:cNvSpPr/>
                <p:nvPr/>
              </p:nvSpPr>
              <p:spPr>
                <a:xfrm>
                  <a:off x="924" y="613"/>
                  <a:ext cx="253" cy="197"/>
                </a:xfrm>
                <a:prstGeom prst="rect">
                  <a:avLst/>
                </a:prstGeom>
                <a:solidFill>
                  <a:srgbClr val="78B2B5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4" name="矩形 63"/>
                <p:cNvSpPr/>
                <p:nvPr/>
              </p:nvSpPr>
              <p:spPr>
                <a:xfrm>
                  <a:off x="924" y="810"/>
                  <a:ext cx="253" cy="197"/>
                </a:xfrm>
                <a:prstGeom prst="rect">
                  <a:avLst/>
                </a:prstGeom>
                <a:solidFill>
                  <a:srgbClr val="B0A0B3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5" name="矩形 64"/>
                <p:cNvSpPr/>
                <p:nvPr/>
              </p:nvSpPr>
              <p:spPr>
                <a:xfrm>
                  <a:off x="924" y="1007"/>
                  <a:ext cx="253" cy="197"/>
                </a:xfrm>
                <a:prstGeom prst="rect">
                  <a:avLst/>
                </a:prstGeom>
                <a:solidFill>
                  <a:srgbClr val="A79EB4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6" name="矩形 65"/>
                <p:cNvSpPr/>
                <p:nvPr/>
              </p:nvSpPr>
              <p:spPr>
                <a:xfrm>
                  <a:off x="924" y="1204"/>
                  <a:ext cx="253" cy="197"/>
                </a:xfrm>
                <a:prstGeom prst="rect">
                  <a:avLst/>
                </a:prstGeom>
                <a:solidFill>
                  <a:srgbClr val="73AFB3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" name="矩形 66"/>
                <p:cNvSpPr/>
                <p:nvPr/>
              </p:nvSpPr>
              <p:spPr>
                <a:xfrm>
                  <a:off x="1177" y="613"/>
                  <a:ext cx="253" cy="197"/>
                </a:xfrm>
                <a:prstGeom prst="rect">
                  <a:avLst/>
                </a:prstGeom>
                <a:solidFill>
                  <a:srgbClr val="8EBF96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" name="矩形 67"/>
                <p:cNvSpPr/>
                <p:nvPr/>
              </p:nvSpPr>
              <p:spPr>
                <a:xfrm>
                  <a:off x="1177" y="810"/>
                  <a:ext cx="253" cy="197"/>
                </a:xfrm>
                <a:prstGeom prst="rect">
                  <a:avLst/>
                </a:prstGeom>
                <a:solidFill>
                  <a:srgbClr val="F0D6A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9" name="矩形 68"/>
                <p:cNvSpPr/>
                <p:nvPr/>
              </p:nvSpPr>
              <p:spPr>
                <a:xfrm>
                  <a:off x="1177" y="1007"/>
                  <a:ext cx="253" cy="197"/>
                </a:xfrm>
                <a:prstGeom prst="rect">
                  <a:avLst/>
                </a:prstGeom>
                <a:solidFill>
                  <a:srgbClr val="EAE5AE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0" name="矩形 69"/>
                <p:cNvSpPr/>
                <p:nvPr/>
              </p:nvSpPr>
              <p:spPr>
                <a:xfrm>
                  <a:off x="1177" y="1204"/>
                  <a:ext cx="253" cy="197"/>
                </a:xfrm>
                <a:prstGeom prst="rect">
                  <a:avLst/>
                </a:prstGeom>
                <a:solidFill>
                  <a:srgbClr val="EED295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矩形 70"/>
                <p:cNvSpPr/>
                <p:nvPr/>
              </p:nvSpPr>
              <p:spPr>
                <a:xfrm>
                  <a:off x="1430" y="613"/>
                  <a:ext cx="253" cy="197"/>
                </a:xfrm>
                <a:prstGeom prst="rect">
                  <a:avLst/>
                </a:prstGeom>
                <a:solidFill>
                  <a:srgbClr val="2B633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2" name="矩形 71"/>
                <p:cNvSpPr/>
                <p:nvPr/>
              </p:nvSpPr>
              <p:spPr>
                <a:xfrm>
                  <a:off x="1430" y="810"/>
                  <a:ext cx="253" cy="197"/>
                </a:xfrm>
                <a:prstGeom prst="rect">
                  <a:avLst/>
                </a:prstGeom>
                <a:solidFill>
                  <a:srgbClr val="87B892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72"/>
                <p:cNvSpPr/>
                <p:nvPr/>
              </p:nvSpPr>
              <p:spPr>
                <a:xfrm>
                  <a:off x="1430" y="1007"/>
                  <a:ext cx="253" cy="197"/>
                </a:xfrm>
                <a:prstGeom prst="rect">
                  <a:avLst/>
                </a:prstGeom>
                <a:solidFill>
                  <a:srgbClr val="8BBA9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矩形 73"/>
                <p:cNvSpPr/>
                <p:nvPr/>
              </p:nvSpPr>
              <p:spPr>
                <a:xfrm>
                  <a:off x="1430" y="1204"/>
                  <a:ext cx="253" cy="197"/>
                </a:xfrm>
                <a:prstGeom prst="rect">
                  <a:avLst/>
                </a:prstGeom>
                <a:solidFill>
                  <a:srgbClr val="2A6039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" name="文本框 74"/>
                <p:cNvSpPr txBox="1"/>
                <p:nvPr/>
              </p:nvSpPr>
              <p:spPr>
                <a:xfrm>
                  <a:off x="1410" y="527"/>
                  <a:ext cx="209" cy="1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800" i="1">
                      <a:solidFill>
                        <a:schemeClr val="bg1"/>
                      </a:solidFill>
                    </a:rPr>
                    <a:t>y</a:t>
                  </a:r>
                </a:p>
              </p:txBody>
            </p:sp>
            <p:sp>
              <p:nvSpPr>
                <p:cNvPr id="76" name="文本框 75"/>
                <p:cNvSpPr txBox="1"/>
                <p:nvPr/>
              </p:nvSpPr>
              <p:spPr>
                <a:xfrm>
                  <a:off x="773" y="1135"/>
                  <a:ext cx="910" cy="1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1600"/>
                    <a:t>…</a:t>
                  </a:r>
                </a:p>
              </p:txBody>
            </p:sp>
          </p:grpSp>
          <p:grpSp>
            <p:nvGrpSpPr>
              <p:cNvPr id="77" name="组合 76"/>
              <p:cNvGrpSpPr/>
              <p:nvPr/>
            </p:nvGrpSpPr>
            <p:grpSpPr>
              <a:xfrm>
                <a:off x="4845" y="810"/>
                <a:ext cx="1410" cy="1060"/>
                <a:chOff x="345" y="527"/>
                <a:chExt cx="1410" cy="1060"/>
              </a:xfrm>
            </p:grpSpPr>
            <p:sp>
              <p:nvSpPr>
                <p:cNvPr id="78" name="圆角矩形 77"/>
                <p:cNvSpPr/>
                <p:nvPr/>
              </p:nvSpPr>
              <p:spPr>
                <a:xfrm>
                  <a:off x="345" y="527"/>
                  <a:ext cx="1410" cy="1061"/>
                </a:xfrm>
                <a:prstGeom prst="roundRect">
                  <a:avLst>
                    <a:gd name="adj" fmla="val 11498"/>
                  </a:avLst>
                </a:prstGeom>
                <a:solidFill>
                  <a:srgbClr val="CDE4D0"/>
                </a:solidFill>
                <a:ln>
                  <a:solidFill>
                    <a:srgbClr val="4A6C53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9" name="矩形 78"/>
                <p:cNvSpPr/>
                <p:nvPr/>
              </p:nvSpPr>
              <p:spPr>
                <a:xfrm>
                  <a:off x="418" y="613"/>
                  <a:ext cx="253" cy="197"/>
                </a:xfrm>
                <a:prstGeom prst="rect">
                  <a:avLst/>
                </a:prstGeom>
                <a:solidFill>
                  <a:srgbClr val="94C19B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" name="矩形 79"/>
                <p:cNvSpPr/>
                <p:nvPr/>
              </p:nvSpPr>
              <p:spPr>
                <a:xfrm>
                  <a:off x="418" y="810"/>
                  <a:ext cx="253" cy="197"/>
                </a:xfrm>
                <a:prstGeom prst="rect">
                  <a:avLst/>
                </a:prstGeom>
                <a:solidFill>
                  <a:srgbClr val="BDD39B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1" name="矩形 80"/>
                <p:cNvSpPr/>
                <p:nvPr/>
              </p:nvSpPr>
              <p:spPr>
                <a:xfrm>
                  <a:off x="418" y="1007"/>
                  <a:ext cx="253" cy="197"/>
                </a:xfrm>
                <a:prstGeom prst="rect">
                  <a:avLst/>
                </a:prstGeom>
                <a:solidFill>
                  <a:srgbClr val="9FC18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矩形 81"/>
                <p:cNvSpPr/>
                <p:nvPr/>
              </p:nvSpPr>
              <p:spPr>
                <a:xfrm>
                  <a:off x="418" y="1204"/>
                  <a:ext cx="253" cy="197"/>
                </a:xfrm>
                <a:prstGeom prst="rect">
                  <a:avLst/>
                </a:prstGeom>
                <a:solidFill>
                  <a:srgbClr val="BCCFA4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3" name="矩形 82"/>
                <p:cNvSpPr/>
                <p:nvPr/>
              </p:nvSpPr>
              <p:spPr>
                <a:xfrm>
                  <a:off x="671" y="613"/>
                  <a:ext cx="253" cy="197"/>
                </a:xfrm>
                <a:prstGeom prst="rect">
                  <a:avLst/>
                </a:prstGeom>
                <a:solidFill>
                  <a:srgbClr val="B594A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4" name="矩形 83"/>
                <p:cNvSpPr/>
                <p:nvPr/>
              </p:nvSpPr>
              <p:spPr>
                <a:xfrm>
                  <a:off x="671" y="810"/>
                  <a:ext cx="253" cy="197"/>
                </a:xfrm>
                <a:prstGeom prst="rect">
                  <a:avLst/>
                </a:prstGeom>
                <a:solidFill>
                  <a:srgbClr val="E0997F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5" name="矩形 84"/>
                <p:cNvSpPr/>
                <p:nvPr/>
              </p:nvSpPr>
              <p:spPr>
                <a:xfrm>
                  <a:off x="671" y="1007"/>
                  <a:ext cx="253" cy="197"/>
                </a:xfrm>
                <a:prstGeom prst="rect">
                  <a:avLst/>
                </a:prstGeom>
                <a:solidFill>
                  <a:srgbClr val="D8A09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6" name="矩形 85"/>
                <p:cNvSpPr/>
                <p:nvPr/>
              </p:nvSpPr>
              <p:spPr>
                <a:xfrm>
                  <a:off x="671" y="1204"/>
                  <a:ext cx="253" cy="197"/>
                </a:xfrm>
                <a:prstGeom prst="rect">
                  <a:avLst/>
                </a:prstGeom>
                <a:solidFill>
                  <a:srgbClr val="CE8B9C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7" name="矩形 86"/>
                <p:cNvSpPr/>
                <p:nvPr/>
              </p:nvSpPr>
              <p:spPr>
                <a:xfrm>
                  <a:off x="924" y="613"/>
                  <a:ext cx="253" cy="197"/>
                </a:xfrm>
                <a:prstGeom prst="rect">
                  <a:avLst/>
                </a:prstGeom>
                <a:solidFill>
                  <a:srgbClr val="78B2B5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8" name="矩形 87"/>
                <p:cNvSpPr/>
                <p:nvPr/>
              </p:nvSpPr>
              <p:spPr>
                <a:xfrm>
                  <a:off x="924" y="810"/>
                  <a:ext cx="253" cy="197"/>
                </a:xfrm>
                <a:prstGeom prst="rect">
                  <a:avLst/>
                </a:prstGeom>
                <a:solidFill>
                  <a:srgbClr val="B0A0B3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9" name="矩形 88"/>
                <p:cNvSpPr/>
                <p:nvPr/>
              </p:nvSpPr>
              <p:spPr>
                <a:xfrm>
                  <a:off x="924" y="1007"/>
                  <a:ext cx="253" cy="197"/>
                </a:xfrm>
                <a:prstGeom prst="rect">
                  <a:avLst/>
                </a:prstGeom>
                <a:solidFill>
                  <a:srgbClr val="A79EB4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0" name="矩形 89"/>
                <p:cNvSpPr/>
                <p:nvPr/>
              </p:nvSpPr>
              <p:spPr>
                <a:xfrm>
                  <a:off x="924" y="1204"/>
                  <a:ext cx="253" cy="197"/>
                </a:xfrm>
                <a:prstGeom prst="rect">
                  <a:avLst/>
                </a:prstGeom>
                <a:solidFill>
                  <a:srgbClr val="73AFB3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1" name="矩形 90"/>
                <p:cNvSpPr/>
                <p:nvPr/>
              </p:nvSpPr>
              <p:spPr>
                <a:xfrm>
                  <a:off x="1177" y="613"/>
                  <a:ext cx="253" cy="197"/>
                </a:xfrm>
                <a:prstGeom prst="rect">
                  <a:avLst/>
                </a:prstGeom>
                <a:solidFill>
                  <a:srgbClr val="8EBF96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2" name="矩形 91"/>
                <p:cNvSpPr/>
                <p:nvPr/>
              </p:nvSpPr>
              <p:spPr>
                <a:xfrm>
                  <a:off x="1177" y="810"/>
                  <a:ext cx="253" cy="197"/>
                </a:xfrm>
                <a:prstGeom prst="rect">
                  <a:avLst/>
                </a:prstGeom>
                <a:solidFill>
                  <a:srgbClr val="F0D6A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3" name="矩形 92"/>
                <p:cNvSpPr/>
                <p:nvPr/>
              </p:nvSpPr>
              <p:spPr>
                <a:xfrm>
                  <a:off x="1177" y="1007"/>
                  <a:ext cx="253" cy="197"/>
                </a:xfrm>
                <a:prstGeom prst="rect">
                  <a:avLst/>
                </a:prstGeom>
                <a:solidFill>
                  <a:srgbClr val="EAE5AE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4" name="矩形 93"/>
                <p:cNvSpPr/>
                <p:nvPr/>
              </p:nvSpPr>
              <p:spPr>
                <a:xfrm>
                  <a:off x="1177" y="1204"/>
                  <a:ext cx="253" cy="197"/>
                </a:xfrm>
                <a:prstGeom prst="rect">
                  <a:avLst/>
                </a:prstGeom>
                <a:solidFill>
                  <a:srgbClr val="EED295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5" name="矩形 94"/>
                <p:cNvSpPr/>
                <p:nvPr/>
              </p:nvSpPr>
              <p:spPr>
                <a:xfrm>
                  <a:off x="1430" y="613"/>
                  <a:ext cx="253" cy="197"/>
                </a:xfrm>
                <a:prstGeom prst="rect">
                  <a:avLst/>
                </a:prstGeom>
                <a:solidFill>
                  <a:srgbClr val="2B633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6" name="矩形 95"/>
                <p:cNvSpPr/>
                <p:nvPr/>
              </p:nvSpPr>
              <p:spPr>
                <a:xfrm>
                  <a:off x="1430" y="810"/>
                  <a:ext cx="253" cy="197"/>
                </a:xfrm>
                <a:prstGeom prst="rect">
                  <a:avLst/>
                </a:prstGeom>
                <a:solidFill>
                  <a:srgbClr val="87B892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7" name="矩形 96"/>
                <p:cNvSpPr/>
                <p:nvPr/>
              </p:nvSpPr>
              <p:spPr>
                <a:xfrm>
                  <a:off x="1430" y="1007"/>
                  <a:ext cx="253" cy="197"/>
                </a:xfrm>
                <a:prstGeom prst="rect">
                  <a:avLst/>
                </a:prstGeom>
                <a:solidFill>
                  <a:srgbClr val="8BBA9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1430" y="1204"/>
                  <a:ext cx="253" cy="197"/>
                </a:xfrm>
                <a:prstGeom prst="rect">
                  <a:avLst/>
                </a:prstGeom>
                <a:solidFill>
                  <a:srgbClr val="2A6039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9" name="文本框 98"/>
                <p:cNvSpPr txBox="1"/>
                <p:nvPr/>
              </p:nvSpPr>
              <p:spPr>
                <a:xfrm>
                  <a:off x="1410" y="527"/>
                  <a:ext cx="209" cy="1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800" i="1">
                      <a:solidFill>
                        <a:schemeClr val="bg1"/>
                      </a:solidFill>
                    </a:rPr>
                    <a:t>y</a:t>
                  </a:r>
                </a:p>
              </p:txBody>
            </p:sp>
            <p:sp>
              <p:nvSpPr>
                <p:cNvPr id="100" name="文本框 99"/>
                <p:cNvSpPr txBox="1"/>
                <p:nvPr/>
              </p:nvSpPr>
              <p:spPr>
                <a:xfrm>
                  <a:off x="615" y="1372"/>
                  <a:ext cx="910" cy="1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500"/>
                    <a:t>Task </a:t>
                  </a:r>
                  <a:r>
                    <a:rPr lang="en-US" altLang="zh-CN" sz="500" i="1"/>
                    <a:t>m </a:t>
                  </a:r>
                  <a:r>
                    <a:rPr lang="en-US" altLang="zh-CN" sz="500"/>
                    <a:t>(SCM)</a:t>
                  </a:r>
                </a:p>
              </p:txBody>
            </p:sp>
          </p:grpSp>
          <p:grpSp>
            <p:nvGrpSpPr>
              <p:cNvPr id="107" name="组合 106"/>
              <p:cNvGrpSpPr/>
              <p:nvPr/>
            </p:nvGrpSpPr>
            <p:grpSpPr>
              <a:xfrm>
                <a:off x="1726" y="2159"/>
                <a:ext cx="3359" cy="320"/>
                <a:chOff x="1755" y="2134"/>
                <a:chExt cx="3359" cy="320"/>
              </a:xfrm>
            </p:grpSpPr>
            <p:sp>
              <p:nvSpPr>
                <p:cNvPr id="101" name="圆角矩形 100"/>
                <p:cNvSpPr/>
                <p:nvPr/>
              </p:nvSpPr>
              <p:spPr>
                <a:xfrm>
                  <a:off x="1755" y="2134"/>
                  <a:ext cx="3326" cy="320"/>
                </a:xfrm>
                <a:prstGeom prst="roundRect">
                  <a:avLst/>
                </a:prstGeom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106" name="图片 105"/>
                <p:cNvPicPr>
                  <a:picLocks noChangeAspect="1"/>
                </p:cNvPicPr>
                <p:nvPr/>
              </p:nvPicPr>
              <p:blipFill>
                <a:blip r:embed="rId38"/>
                <a:srcRect l="24265" t="20244" r="23341" b="21220"/>
                <a:stretch>
                  <a:fillRect/>
                </a:stretch>
              </p:blipFill>
              <p:spPr>
                <a:xfrm>
                  <a:off x="1784" y="2172"/>
                  <a:ext cx="3331" cy="282"/>
                </a:xfrm>
                <a:prstGeom prst="rect">
                  <a:avLst/>
                </a:prstGeom>
              </p:spPr>
            </p:pic>
          </p:grpSp>
          <p:sp>
            <p:nvSpPr>
              <p:cNvPr id="120" name="文本框 119"/>
              <p:cNvSpPr txBox="1"/>
              <p:nvPr/>
            </p:nvSpPr>
            <p:spPr>
              <a:xfrm>
                <a:off x="3302" y="2479"/>
                <a:ext cx="3500" cy="1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700" b="1"/>
                  <a:t>Pre-trained weights </a:t>
                </a:r>
                <a:r>
                  <a:rPr lang="en-US" altLang="zh-CN" sz="700" b="1" i="1"/>
                  <a:t>θ</a:t>
                </a:r>
                <a:r>
                  <a:rPr lang="en-US" altLang="zh-CN" sz="700" b="1"/>
                  <a:t>* </a:t>
                </a:r>
              </a:p>
            </p:txBody>
          </p:sp>
          <p:sp>
            <p:nvSpPr>
              <p:cNvPr id="123" name="下箭头 122"/>
              <p:cNvSpPr/>
              <p:nvPr>
                <p:custDataLst>
                  <p:tags r:id="rId35"/>
                </p:custDataLst>
              </p:nvPr>
            </p:nvSpPr>
            <p:spPr>
              <a:xfrm flipH="1">
                <a:off x="3193" y="2479"/>
                <a:ext cx="233" cy="339"/>
              </a:xfrm>
              <a:prstGeom prst="downArrow">
                <a:avLst/>
              </a:prstGeom>
              <a:solidFill>
                <a:srgbClr val="3B533E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pic>
            <p:nvPicPr>
              <p:cNvPr id="151" name="图片 150"/>
              <p:cNvPicPr>
                <a:picLocks noChangeAspect="1"/>
              </p:cNvPicPr>
              <p:nvPr/>
            </p:nvPicPr>
            <p:blipFill>
              <a:blip r:embed="rId39">
                <a:clrChange>
                  <a:clrFrom>
                    <a:srgbClr val="E4EDE8">
                      <a:alpha val="100000"/>
                    </a:srgbClr>
                  </a:clrFrom>
                  <a:clrTo>
                    <a:srgbClr val="E4EDE8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2687" y="0"/>
                <a:ext cx="1300" cy="743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cxnSp>
            <p:nvCxnSpPr>
              <p:cNvPr id="154" name="肘形连接符 153"/>
              <p:cNvCxnSpPr/>
              <p:nvPr/>
            </p:nvCxnSpPr>
            <p:spPr>
              <a:xfrm rot="10800000" flipV="1">
                <a:off x="1050" y="372"/>
                <a:ext cx="1692" cy="438"/>
              </a:xfrm>
              <a:prstGeom prst="bentConnector2">
                <a:avLst/>
              </a:prstGeom>
              <a:ln w="9525">
                <a:solidFill>
                  <a:srgbClr val="3B533E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5" name="肘形连接符 154"/>
              <p:cNvCxnSpPr/>
              <p:nvPr/>
            </p:nvCxnSpPr>
            <p:spPr>
              <a:xfrm rot="10800000" flipH="1" flipV="1">
                <a:off x="3868" y="372"/>
                <a:ext cx="1692" cy="438"/>
              </a:xfrm>
              <a:prstGeom prst="bentConnector2">
                <a:avLst/>
              </a:prstGeom>
              <a:ln w="9525">
                <a:solidFill>
                  <a:srgbClr val="3B533E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7" name="肘形连接符 156"/>
              <p:cNvCxnSpPr>
                <a:endCxn id="101" idx="1"/>
              </p:cNvCxnSpPr>
              <p:nvPr/>
            </p:nvCxnSpPr>
            <p:spPr>
              <a:xfrm>
                <a:off x="1074" y="1875"/>
                <a:ext cx="652" cy="444"/>
              </a:xfrm>
              <a:prstGeom prst="bentConnector3">
                <a:avLst>
                  <a:gd name="adj1" fmla="val -920"/>
                </a:avLst>
              </a:prstGeom>
              <a:ln w="9525">
                <a:solidFill>
                  <a:srgbClr val="3B533E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8" name="肘形连接符 157"/>
              <p:cNvCxnSpPr/>
              <p:nvPr/>
            </p:nvCxnSpPr>
            <p:spPr>
              <a:xfrm rot="10800000" flipV="1">
                <a:off x="5044" y="1873"/>
                <a:ext cx="519" cy="446"/>
              </a:xfrm>
              <a:prstGeom prst="bentConnector3">
                <a:avLst>
                  <a:gd name="adj1" fmla="val -770"/>
                </a:avLst>
              </a:prstGeom>
              <a:ln w="9525">
                <a:solidFill>
                  <a:srgbClr val="3B533E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9" name="直接箭头连接符 158"/>
              <p:cNvCxnSpPr>
                <a:stCxn id="54" idx="2"/>
              </p:cNvCxnSpPr>
              <p:nvPr/>
            </p:nvCxnSpPr>
            <p:spPr>
              <a:xfrm>
                <a:off x="4058" y="1871"/>
                <a:ext cx="0" cy="274"/>
              </a:xfrm>
              <a:prstGeom prst="straightConnector1">
                <a:avLst/>
              </a:prstGeom>
              <a:ln w="9525">
                <a:solidFill>
                  <a:srgbClr val="3B533E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0" name="直接箭头连接符 159"/>
              <p:cNvCxnSpPr/>
              <p:nvPr/>
            </p:nvCxnSpPr>
            <p:spPr>
              <a:xfrm>
                <a:off x="2560" y="1873"/>
                <a:ext cx="0" cy="274"/>
              </a:xfrm>
              <a:prstGeom prst="straightConnector1">
                <a:avLst/>
              </a:prstGeom>
              <a:ln w="9525">
                <a:solidFill>
                  <a:srgbClr val="3B533E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1" name="直接箭头连接符 160"/>
              <p:cNvCxnSpPr/>
              <p:nvPr/>
            </p:nvCxnSpPr>
            <p:spPr>
              <a:xfrm flipH="1">
                <a:off x="4180" y="376"/>
                <a:ext cx="5" cy="434"/>
              </a:xfrm>
              <a:prstGeom prst="straightConnector1">
                <a:avLst/>
              </a:prstGeom>
              <a:ln w="9525">
                <a:solidFill>
                  <a:srgbClr val="3B533E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2" name="直接箭头连接符 161"/>
              <p:cNvCxnSpPr/>
              <p:nvPr/>
            </p:nvCxnSpPr>
            <p:spPr>
              <a:xfrm flipH="1">
                <a:off x="2434" y="376"/>
                <a:ext cx="5" cy="434"/>
              </a:xfrm>
              <a:prstGeom prst="straightConnector1">
                <a:avLst/>
              </a:prstGeom>
              <a:ln w="9525">
                <a:solidFill>
                  <a:srgbClr val="3B533E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166" name="矩形 165"/>
            <p:cNvSpPr/>
            <p:nvPr/>
          </p:nvSpPr>
          <p:spPr>
            <a:xfrm>
              <a:off x="196" y="22"/>
              <a:ext cx="6066" cy="220"/>
            </a:xfrm>
            <a:prstGeom prst="rect">
              <a:avLst/>
            </a:prstGeom>
            <a:solidFill>
              <a:srgbClr val="2E663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900" dirty="0"/>
                <a:t>(a) Pre-training: meta-learning on synthetic task prior π</a:t>
              </a:r>
            </a:p>
          </p:txBody>
        </p:sp>
        <p:grpSp>
          <p:nvGrpSpPr>
            <p:cNvPr id="119" name="组合 118"/>
            <p:cNvGrpSpPr/>
            <p:nvPr/>
          </p:nvGrpSpPr>
          <p:grpSpPr>
            <a:xfrm>
              <a:off x="255" y="3388"/>
              <a:ext cx="6028" cy="5091"/>
              <a:chOff x="267" y="3394"/>
              <a:chExt cx="6028" cy="5090"/>
            </a:xfrm>
          </p:grpSpPr>
          <p:sp>
            <p:nvSpPr>
              <p:cNvPr id="395" name="圆角矩形 394"/>
              <p:cNvSpPr/>
              <p:nvPr/>
            </p:nvSpPr>
            <p:spPr>
              <a:xfrm>
                <a:off x="267" y="5761"/>
                <a:ext cx="6015" cy="198"/>
              </a:xfrm>
              <a:prstGeom prst="roundRect">
                <a:avLst>
                  <a:gd name="adj" fmla="val 50000"/>
                </a:avLst>
              </a:prstGeom>
              <a:solidFill>
                <a:srgbClr val="C5CBD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" name="圆角矩形 190"/>
              <p:cNvSpPr/>
              <p:nvPr/>
            </p:nvSpPr>
            <p:spPr>
              <a:xfrm>
                <a:off x="268" y="3591"/>
                <a:ext cx="6014" cy="597"/>
              </a:xfrm>
              <a:prstGeom prst="roundRect">
                <a:avLst>
                  <a:gd name="adj" fmla="val 10887"/>
                </a:avLst>
              </a:prstGeom>
              <a:solidFill>
                <a:srgbClr val="C4DD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" name="圆角矩形 207"/>
              <p:cNvSpPr/>
              <p:nvPr/>
            </p:nvSpPr>
            <p:spPr>
              <a:xfrm>
                <a:off x="4840" y="3728"/>
                <a:ext cx="1410" cy="340"/>
              </a:xfrm>
              <a:prstGeom prst="roundRect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ACC6D4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" name="圆角矩形 192"/>
              <p:cNvSpPr/>
              <p:nvPr/>
            </p:nvSpPr>
            <p:spPr>
              <a:xfrm>
                <a:off x="268" y="4491"/>
                <a:ext cx="6015" cy="396"/>
              </a:xfrm>
              <a:prstGeom prst="roundRect">
                <a:avLst/>
              </a:prstGeom>
              <a:solidFill>
                <a:srgbClr val="F8E0BD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" name="圆角矩形 191"/>
              <p:cNvSpPr/>
              <p:nvPr/>
            </p:nvSpPr>
            <p:spPr>
              <a:xfrm>
                <a:off x="268" y="4238"/>
                <a:ext cx="6015" cy="197"/>
              </a:xfrm>
              <a:prstGeom prst="roundRect">
                <a:avLst/>
              </a:prstGeom>
              <a:solidFill>
                <a:srgbClr val="E7D5E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矩形 127"/>
              <p:cNvSpPr/>
              <p:nvPr/>
            </p:nvSpPr>
            <p:spPr>
              <a:xfrm>
                <a:off x="2207" y="3394"/>
                <a:ext cx="425" cy="197"/>
              </a:xfrm>
              <a:prstGeom prst="rect">
                <a:avLst/>
              </a:prstGeom>
              <a:solidFill>
                <a:srgbClr val="474C4F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矩形 128"/>
              <p:cNvSpPr/>
              <p:nvPr/>
            </p:nvSpPr>
            <p:spPr>
              <a:xfrm>
                <a:off x="2632" y="3394"/>
                <a:ext cx="425" cy="197"/>
              </a:xfrm>
              <a:prstGeom prst="rect">
                <a:avLst/>
              </a:prstGeom>
              <a:solidFill>
                <a:srgbClr val="474C4F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矩形 129"/>
              <p:cNvSpPr/>
              <p:nvPr/>
            </p:nvSpPr>
            <p:spPr>
              <a:xfrm>
                <a:off x="3057" y="3394"/>
                <a:ext cx="425" cy="197"/>
              </a:xfrm>
              <a:prstGeom prst="rect">
                <a:avLst/>
              </a:prstGeom>
              <a:solidFill>
                <a:srgbClr val="474C4F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" name="矩形 130"/>
              <p:cNvSpPr/>
              <p:nvPr/>
            </p:nvSpPr>
            <p:spPr>
              <a:xfrm>
                <a:off x="3482" y="3394"/>
                <a:ext cx="425" cy="197"/>
              </a:xfrm>
              <a:prstGeom prst="rect">
                <a:avLst/>
              </a:prstGeom>
              <a:solidFill>
                <a:srgbClr val="474C4F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矩形 131"/>
              <p:cNvSpPr/>
              <p:nvPr/>
            </p:nvSpPr>
            <p:spPr>
              <a:xfrm>
                <a:off x="3907" y="3394"/>
                <a:ext cx="425" cy="197"/>
              </a:xfrm>
              <a:prstGeom prst="rect">
                <a:avLst/>
              </a:prstGeom>
              <a:solidFill>
                <a:srgbClr val="474C4F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矩形 132"/>
              <p:cNvSpPr/>
              <p:nvPr/>
            </p:nvSpPr>
            <p:spPr>
              <a:xfrm>
                <a:off x="2207" y="3591"/>
                <a:ext cx="425" cy="197"/>
              </a:xfrm>
              <a:prstGeom prst="rect">
                <a:avLst/>
              </a:prstGeom>
              <a:solidFill>
                <a:srgbClr val="ACC6D4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矩形 133"/>
              <p:cNvSpPr/>
              <p:nvPr/>
            </p:nvSpPr>
            <p:spPr>
              <a:xfrm>
                <a:off x="2632" y="3591"/>
                <a:ext cx="425" cy="197"/>
              </a:xfrm>
              <a:prstGeom prst="rect">
                <a:avLst/>
              </a:prstGeom>
              <a:solidFill>
                <a:srgbClr val="D9EBF4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矩形 134"/>
              <p:cNvSpPr/>
              <p:nvPr/>
            </p:nvSpPr>
            <p:spPr>
              <a:xfrm>
                <a:off x="3057" y="3591"/>
                <a:ext cx="425" cy="197"/>
              </a:xfrm>
              <a:prstGeom prst="rect">
                <a:avLst/>
              </a:prstGeom>
              <a:solidFill>
                <a:srgbClr val="ACC6D4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" name="矩形 135"/>
              <p:cNvSpPr/>
              <p:nvPr/>
            </p:nvSpPr>
            <p:spPr>
              <a:xfrm>
                <a:off x="3482" y="3591"/>
                <a:ext cx="425" cy="197"/>
              </a:xfrm>
              <a:prstGeom prst="rect">
                <a:avLst/>
              </a:prstGeom>
              <a:solidFill>
                <a:srgbClr val="D9EBF4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" name="矩形 136"/>
              <p:cNvSpPr/>
              <p:nvPr/>
            </p:nvSpPr>
            <p:spPr>
              <a:xfrm>
                <a:off x="3907" y="3591"/>
                <a:ext cx="425" cy="197"/>
              </a:xfrm>
              <a:prstGeom prst="rect">
                <a:avLst/>
              </a:prstGeom>
              <a:solidFill>
                <a:srgbClr val="89B7CF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矩形 137"/>
              <p:cNvSpPr/>
              <p:nvPr/>
            </p:nvSpPr>
            <p:spPr>
              <a:xfrm>
                <a:off x="2207" y="3791"/>
                <a:ext cx="425" cy="197"/>
              </a:xfrm>
              <a:prstGeom prst="rect">
                <a:avLst/>
              </a:prstGeom>
              <a:solidFill>
                <a:srgbClr val="D9EBF4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9" name="矩形 138"/>
              <p:cNvSpPr/>
              <p:nvPr/>
            </p:nvSpPr>
            <p:spPr>
              <a:xfrm>
                <a:off x="2632" y="3791"/>
                <a:ext cx="425" cy="197"/>
              </a:xfrm>
              <a:prstGeom prst="rect">
                <a:avLst/>
              </a:prstGeom>
              <a:solidFill>
                <a:srgbClr val="ACC6D4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" name="矩形 139"/>
              <p:cNvSpPr/>
              <p:nvPr/>
            </p:nvSpPr>
            <p:spPr>
              <a:xfrm>
                <a:off x="3057" y="3791"/>
                <a:ext cx="425" cy="197"/>
              </a:xfrm>
              <a:prstGeom prst="rect">
                <a:avLst/>
              </a:prstGeom>
              <a:solidFill>
                <a:srgbClr val="ACC6D4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矩形 140"/>
              <p:cNvSpPr/>
              <p:nvPr/>
            </p:nvSpPr>
            <p:spPr>
              <a:xfrm>
                <a:off x="3482" y="3791"/>
                <a:ext cx="425" cy="197"/>
              </a:xfrm>
              <a:prstGeom prst="rect">
                <a:avLst/>
              </a:prstGeom>
              <a:solidFill>
                <a:srgbClr val="D9EBF4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" name="矩形 141"/>
              <p:cNvSpPr/>
              <p:nvPr/>
            </p:nvSpPr>
            <p:spPr>
              <a:xfrm>
                <a:off x="3907" y="4491"/>
                <a:ext cx="425" cy="396"/>
              </a:xfrm>
              <a:prstGeom prst="rect">
                <a:avLst/>
              </a:prstGeom>
              <a:solidFill>
                <a:srgbClr val="FEE6C6"/>
              </a:solidFill>
              <a:ln w="9525">
                <a:solidFill>
                  <a:srgbClr val="AA794F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" name="矩形 142"/>
              <p:cNvSpPr/>
              <p:nvPr/>
            </p:nvSpPr>
            <p:spPr>
              <a:xfrm>
                <a:off x="2207" y="4491"/>
                <a:ext cx="425" cy="197"/>
              </a:xfrm>
              <a:prstGeom prst="rect">
                <a:avLst/>
              </a:prstGeom>
              <a:solidFill>
                <a:srgbClr val="F1BD8C"/>
              </a:solidFill>
              <a:ln w="9525">
                <a:solidFill>
                  <a:srgbClr val="AA794F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矩形 143"/>
              <p:cNvSpPr/>
              <p:nvPr/>
            </p:nvSpPr>
            <p:spPr>
              <a:xfrm>
                <a:off x="2632" y="4491"/>
                <a:ext cx="425" cy="197"/>
              </a:xfrm>
              <a:prstGeom prst="rect">
                <a:avLst/>
              </a:prstGeom>
              <a:solidFill>
                <a:srgbClr val="FEE6C6"/>
              </a:solidFill>
              <a:ln w="9525">
                <a:solidFill>
                  <a:srgbClr val="AA794F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" name="矩形 144"/>
              <p:cNvSpPr/>
              <p:nvPr/>
            </p:nvSpPr>
            <p:spPr>
              <a:xfrm>
                <a:off x="3057" y="4491"/>
                <a:ext cx="425" cy="197"/>
              </a:xfrm>
              <a:prstGeom prst="rect">
                <a:avLst/>
              </a:prstGeom>
              <a:solidFill>
                <a:srgbClr val="F1BD8C"/>
              </a:solidFill>
              <a:ln w="9525">
                <a:solidFill>
                  <a:srgbClr val="AA794F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矩形 145"/>
              <p:cNvSpPr/>
              <p:nvPr/>
            </p:nvSpPr>
            <p:spPr>
              <a:xfrm>
                <a:off x="3482" y="4491"/>
                <a:ext cx="425" cy="197"/>
              </a:xfrm>
              <a:prstGeom prst="rect">
                <a:avLst/>
              </a:prstGeom>
              <a:solidFill>
                <a:srgbClr val="FEE6C6"/>
              </a:solidFill>
              <a:ln w="9525">
                <a:solidFill>
                  <a:srgbClr val="AA794F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" name="矩形 146"/>
              <p:cNvSpPr/>
              <p:nvPr/>
            </p:nvSpPr>
            <p:spPr>
              <a:xfrm>
                <a:off x="2207" y="4691"/>
                <a:ext cx="425" cy="197"/>
              </a:xfrm>
              <a:prstGeom prst="rect">
                <a:avLst/>
              </a:prstGeom>
              <a:solidFill>
                <a:srgbClr val="FEE6C6"/>
              </a:solidFill>
              <a:ln w="9525">
                <a:solidFill>
                  <a:srgbClr val="AA794F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矩形 147"/>
              <p:cNvSpPr/>
              <p:nvPr/>
            </p:nvSpPr>
            <p:spPr>
              <a:xfrm>
                <a:off x="2632" y="4691"/>
                <a:ext cx="425" cy="197"/>
              </a:xfrm>
              <a:prstGeom prst="rect">
                <a:avLst/>
              </a:prstGeom>
              <a:solidFill>
                <a:srgbClr val="F1BD8C"/>
              </a:solidFill>
              <a:ln w="9525">
                <a:solidFill>
                  <a:srgbClr val="AA794F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" name="矩形 148"/>
              <p:cNvSpPr/>
              <p:nvPr/>
            </p:nvSpPr>
            <p:spPr>
              <a:xfrm>
                <a:off x="3057" y="4691"/>
                <a:ext cx="425" cy="197"/>
              </a:xfrm>
              <a:prstGeom prst="rect">
                <a:avLst/>
              </a:prstGeom>
              <a:solidFill>
                <a:srgbClr val="FEE6C6"/>
              </a:solidFill>
              <a:ln w="9525">
                <a:solidFill>
                  <a:srgbClr val="AA794F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" name="矩形 149"/>
              <p:cNvSpPr/>
              <p:nvPr/>
            </p:nvSpPr>
            <p:spPr>
              <a:xfrm>
                <a:off x="3482" y="4691"/>
                <a:ext cx="425" cy="197"/>
              </a:xfrm>
              <a:prstGeom prst="rect">
                <a:avLst/>
              </a:prstGeom>
              <a:solidFill>
                <a:srgbClr val="FEE6C6"/>
              </a:solidFill>
              <a:ln w="9525">
                <a:solidFill>
                  <a:srgbClr val="AA794F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矩形 167"/>
              <p:cNvSpPr/>
              <p:nvPr/>
            </p:nvSpPr>
            <p:spPr>
              <a:xfrm>
                <a:off x="2207" y="3991"/>
                <a:ext cx="425" cy="197"/>
              </a:xfrm>
              <a:prstGeom prst="rect">
                <a:avLst/>
              </a:prstGeom>
              <a:solidFill>
                <a:srgbClr val="D9EBF4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" name="矩形 168"/>
              <p:cNvSpPr/>
              <p:nvPr/>
            </p:nvSpPr>
            <p:spPr>
              <a:xfrm>
                <a:off x="2632" y="3991"/>
                <a:ext cx="425" cy="197"/>
              </a:xfrm>
              <a:prstGeom prst="rect">
                <a:avLst/>
              </a:prstGeom>
              <a:solidFill>
                <a:srgbClr val="D9EBF4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" name="矩形 169"/>
              <p:cNvSpPr/>
              <p:nvPr/>
            </p:nvSpPr>
            <p:spPr>
              <a:xfrm>
                <a:off x="3057" y="3991"/>
                <a:ext cx="425" cy="197"/>
              </a:xfrm>
              <a:prstGeom prst="rect">
                <a:avLst/>
              </a:prstGeom>
              <a:solidFill>
                <a:srgbClr val="ACC6D4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" name="矩形 170"/>
              <p:cNvSpPr/>
              <p:nvPr/>
            </p:nvSpPr>
            <p:spPr>
              <a:xfrm>
                <a:off x="3482" y="3991"/>
                <a:ext cx="425" cy="197"/>
              </a:xfrm>
              <a:prstGeom prst="rect">
                <a:avLst/>
              </a:prstGeom>
              <a:solidFill>
                <a:srgbClr val="D9EBF4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" name="矩形 171"/>
              <p:cNvSpPr/>
              <p:nvPr/>
            </p:nvSpPr>
            <p:spPr>
              <a:xfrm>
                <a:off x="3907" y="3788"/>
                <a:ext cx="425" cy="200"/>
              </a:xfrm>
              <a:prstGeom prst="rect">
                <a:avLst/>
              </a:prstGeom>
              <a:solidFill>
                <a:srgbClr val="89B7CF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" name="矩形 172"/>
              <p:cNvSpPr/>
              <p:nvPr/>
            </p:nvSpPr>
            <p:spPr>
              <a:xfrm>
                <a:off x="3907" y="3991"/>
                <a:ext cx="425" cy="197"/>
              </a:xfrm>
              <a:prstGeom prst="rect">
                <a:avLst/>
              </a:prstGeom>
              <a:solidFill>
                <a:srgbClr val="89B7CF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文本框 173"/>
              <p:cNvSpPr txBox="1"/>
              <p:nvPr/>
            </p:nvSpPr>
            <p:spPr>
              <a:xfrm rot="16200000">
                <a:off x="3145" y="3750"/>
                <a:ext cx="910" cy="1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700"/>
                  <a:t>…</a:t>
                </a:r>
              </a:p>
            </p:txBody>
          </p:sp>
          <p:sp>
            <p:nvSpPr>
              <p:cNvPr id="175" name="文本框 174"/>
              <p:cNvSpPr txBox="1"/>
              <p:nvPr/>
            </p:nvSpPr>
            <p:spPr>
              <a:xfrm rot="16200000">
                <a:off x="2295" y="3750"/>
                <a:ext cx="910" cy="1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700"/>
                  <a:t>…</a:t>
                </a:r>
              </a:p>
            </p:txBody>
          </p:sp>
          <p:sp>
            <p:nvSpPr>
              <p:cNvPr id="176" name="文本框 175"/>
              <p:cNvSpPr txBox="1"/>
              <p:nvPr/>
            </p:nvSpPr>
            <p:spPr>
              <a:xfrm rot="16200000">
                <a:off x="1894" y="3750"/>
                <a:ext cx="910" cy="1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700"/>
                  <a:t>…</a:t>
                </a:r>
              </a:p>
            </p:txBody>
          </p:sp>
          <p:sp>
            <p:nvSpPr>
              <p:cNvPr id="188" name="矩形 187"/>
              <p:cNvSpPr/>
              <p:nvPr/>
            </p:nvSpPr>
            <p:spPr>
              <a:xfrm>
                <a:off x="2205" y="4238"/>
                <a:ext cx="2127" cy="197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ACC6D4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" name="文本框 178"/>
              <p:cNvSpPr txBox="1"/>
              <p:nvPr/>
            </p:nvSpPr>
            <p:spPr>
              <a:xfrm rot="16200000">
                <a:off x="3145" y="4459"/>
                <a:ext cx="910" cy="1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700"/>
                  <a:t>…</a:t>
                </a:r>
              </a:p>
            </p:txBody>
          </p:sp>
          <p:sp>
            <p:nvSpPr>
              <p:cNvPr id="194" name="文本框 193"/>
              <p:cNvSpPr txBox="1"/>
              <p:nvPr/>
            </p:nvSpPr>
            <p:spPr>
              <a:xfrm>
                <a:off x="696" y="4203"/>
                <a:ext cx="1363" cy="1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600"/>
                  <a:t>64 thinking rows</a:t>
                </a:r>
              </a:p>
            </p:txBody>
          </p:sp>
          <p:sp>
            <p:nvSpPr>
              <p:cNvPr id="196" name="文本框 195"/>
              <p:cNvSpPr txBox="1"/>
              <p:nvPr/>
            </p:nvSpPr>
            <p:spPr>
              <a:xfrm>
                <a:off x="714" y="3541"/>
                <a:ext cx="1328" cy="51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600"/>
                  <a:t>	</a:t>
                </a:r>
              </a:p>
            </p:txBody>
          </p:sp>
          <p:sp>
            <p:nvSpPr>
              <p:cNvPr id="197" name="文本框 196"/>
              <p:cNvSpPr txBox="1"/>
              <p:nvPr/>
            </p:nvSpPr>
            <p:spPr>
              <a:xfrm>
                <a:off x="2909" y="4203"/>
                <a:ext cx="818" cy="1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500" b="1" i="1"/>
                  <a:t>t</a:t>
                </a:r>
                <a:r>
                  <a:rPr lang="en-US" altLang="zh-CN" sz="500" b="1" baseline="-25000"/>
                  <a:t>1</a:t>
                </a:r>
                <a:r>
                  <a:rPr lang="en-US" altLang="zh-CN" sz="500" b="1"/>
                  <a:t>, </a:t>
                </a:r>
                <a:r>
                  <a:rPr lang="en-US" altLang="zh-CN" sz="500" b="1" i="1"/>
                  <a:t>t</a:t>
                </a:r>
                <a:r>
                  <a:rPr lang="en-US" altLang="zh-CN" sz="500" b="1" baseline="-25000"/>
                  <a:t>2</a:t>
                </a:r>
                <a:r>
                  <a:rPr lang="en-US" altLang="zh-CN" sz="500" b="1"/>
                  <a:t>, …, </a:t>
                </a:r>
                <a:r>
                  <a:rPr lang="en-US" altLang="zh-CN" sz="500" b="1" i="1"/>
                  <a:t>t</a:t>
                </a:r>
                <a:r>
                  <a:rPr lang="en-US" altLang="zh-CN" sz="500" b="1" baseline="-25000"/>
                  <a:t>64</a:t>
                </a:r>
              </a:p>
            </p:txBody>
          </p:sp>
          <p:sp>
            <p:nvSpPr>
              <p:cNvPr id="203" name="下箭头 202"/>
              <p:cNvSpPr/>
              <p:nvPr>
                <p:custDataLst>
                  <p:tags r:id="rId4"/>
                </p:custDataLst>
              </p:nvPr>
            </p:nvSpPr>
            <p:spPr>
              <a:xfrm rot="16200000" flipH="1">
                <a:off x="1888" y="4173"/>
                <a:ext cx="181" cy="345"/>
              </a:xfrm>
              <a:prstGeom prst="downArrow">
                <a:avLst/>
              </a:prstGeom>
              <a:solidFill>
                <a:srgbClr val="C81D3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pic>
            <p:nvPicPr>
              <p:cNvPr id="205" name="图形 28" descr="箭头: 向右旋转 纯色填充"/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0"/>
                  </a:ext>
                </a:extLst>
              </a:blip>
              <a:stretch>
                <a:fillRect/>
              </a:stretch>
            </p:blipFill>
            <p:spPr>
              <a:xfrm rot="20576195">
                <a:off x="1779" y="3675"/>
                <a:ext cx="380" cy="38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06" name="图形 28" descr="箭头: 向右旋转 纯色填充"/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1"/>
                  </a:ext>
                </a:extLst>
              </a:blip>
              <a:stretch>
                <a:fillRect/>
              </a:stretch>
            </p:blipFill>
            <p:spPr>
              <a:xfrm rot="12423804" flipH="1">
                <a:off x="1788" y="4555"/>
                <a:ext cx="371" cy="371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209" name="圆角矩形 208"/>
              <p:cNvSpPr/>
              <p:nvPr/>
            </p:nvSpPr>
            <p:spPr>
              <a:xfrm>
                <a:off x="4840" y="4222"/>
                <a:ext cx="1410" cy="230"/>
              </a:xfrm>
              <a:prstGeom prst="roundRect">
                <a:avLst/>
              </a:prstGeom>
              <a:noFill/>
              <a:ln w="9525">
                <a:solidFill>
                  <a:schemeClr val="accent6">
                    <a:lumMod val="75000"/>
                  </a:schemeClr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ACC6D4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" name="圆角矩形 209"/>
              <p:cNvSpPr/>
              <p:nvPr/>
            </p:nvSpPr>
            <p:spPr>
              <a:xfrm>
                <a:off x="4840" y="4543"/>
                <a:ext cx="1410" cy="293"/>
              </a:xfrm>
              <a:prstGeom prst="roundRect">
                <a:avLst/>
              </a:prstGeom>
              <a:noFill/>
              <a:ln w="9525">
                <a:solidFill>
                  <a:schemeClr val="accent3">
                    <a:lumMod val="75000"/>
                  </a:schemeClr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ACC6D4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1" name="圆角矩形 210"/>
              <p:cNvSpPr/>
              <p:nvPr/>
            </p:nvSpPr>
            <p:spPr>
              <a:xfrm>
                <a:off x="268" y="5204"/>
                <a:ext cx="2580" cy="498"/>
              </a:xfrm>
              <a:prstGeom prst="roundRect">
                <a:avLst/>
              </a:prstGeom>
              <a:solidFill>
                <a:srgbClr val="E5E6E9"/>
              </a:solidFill>
              <a:ln>
                <a:solidFill>
                  <a:srgbClr val="ACADAE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3" name="圆角矩形 212"/>
              <p:cNvSpPr/>
              <p:nvPr/>
            </p:nvSpPr>
            <p:spPr>
              <a:xfrm>
                <a:off x="4119" y="5204"/>
                <a:ext cx="1624" cy="497"/>
              </a:xfrm>
              <a:prstGeom prst="roundRect">
                <a:avLst/>
              </a:prstGeom>
              <a:solidFill>
                <a:srgbClr val="E5E6E9"/>
              </a:solidFill>
              <a:ln>
                <a:solidFill>
                  <a:srgbClr val="ACADAE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14" name="肘形连接符 213"/>
              <p:cNvCxnSpPr>
                <a:stCxn id="149" idx="2"/>
                <a:endCxn id="211" idx="0"/>
              </p:cNvCxnSpPr>
              <p:nvPr/>
            </p:nvCxnSpPr>
            <p:spPr>
              <a:xfrm rot="5400000">
                <a:off x="2256" y="4190"/>
                <a:ext cx="316" cy="1712"/>
              </a:xfrm>
              <a:prstGeom prst="bentConnector3">
                <a:avLst>
                  <a:gd name="adj1" fmla="val 50000"/>
                </a:avLst>
              </a:prstGeom>
              <a:ln w="9525">
                <a:solidFill>
                  <a:srgbClr val="535354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5" name="肘形连接符 214"/>
              <p:cNvCxnSpPr/>
              <p:nvPr/>
            </p:nvCxnSpPr>
            <p:spPr>
              <a:xfrm rot="16200000" flipH="1">
                <a:off x="3916" y="4243"/>
                <a:ext cx="316" cy="1607"/>
              </a:xfrm>
              <a:prstGeom prst="bentConnector3">
                <a:avLst>
                  <a:gd name="adj1" fmla="val 49842"/>
                </a:avLst>
              </a:prstGeom>
              <a:ln w="9525">
                <a:solidFill>
                  <a:srgbClr val="535354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216" name="图片 215"/>
              <p:cNvPicPr>
                <a:picLocks noChangeAspect="1"/>
              </p:cNvPicPr>
              <p:nvPr/>
            </p:nvPicPr>
            <p:blipFill>
              <a:blip r:embed="rId42">
                <a:clrChange>
                  <a:clrFrom>
                    <a:srgbClr val="F0F0F0">
                      <a:alpha val="100000"/>
                    </a:srgbClr>
                  </a:clrFrom>
                  <a:clrTo>
                    <a:srgbClr val="F0F0F0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3081" y="5281"/>
                <a:ext cx="314" cy="302"/>
              </a:xfrm>
              <a:prstGeom prst="rect">
                <a:avLst/>
              </a:prstGeom>
            </p:spPr>
          </p:pic>
          <p:grpSp>
            <p:nvGrpSpPr>
              <p:cNvPr id="219" name="组合 218"/>
              <p:cNvGrpSpPr/>
              <p:nvPr/>
            </p:nvGrpSpPr>
            <p:grpSpPr>
              <a:xfrm>
                <a:off x="4343" y="3719"/>
                <a:ext cx="497" cy="302"/>
                <a:chOff x="2220" y="7185"/>
                <a:chExt cx="497" cy="302"/>
              </a:xfrm>
            </p:grpSpPr>
            <p:pic>
              <p:nvPicPr>
                <p:cNvPr id="217" name="图片 216" descr="加号-镂空"/>
                <p:cNvPicPr>
                  <a:picLocks noChangeAspect="1"/>
                </p:cNvPicPr>
                <p:nvPr>
                  <p:custDataLst>
                    <p:tags r:id="rId34"/>
                  </p:custDataLst>
                </p:nvPr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220" y="7264"/>
                  <a:ext cx="183" cy="183"/>
                </a:xfrm>
                <a:prstGeom prst="rect">
                  <a:avLst/>
                </a:prstGeom>
              </p:spPr>
            </p:pic>
            <p:pic>
              <p:nvPicPr>
                <p:cNvPr id="218" name="图片 217"/>
                <p:cNvPicPr>
                  <a:picLocks noChangeAspect="1"/>
                </p:cNvPicPr>
                <p:nvPr/>
              </p:nvPicPr>
              <p:blipFill>
                <a:blip r:embed="rId42">
                  <a:clrChange>
                    <a:clrFrom>
                      <a:srgbClr val="F0F0F0">
                        <a:alpha val="100000"/>
                      </a:srgbClr>
                    </a:clrFrom>
                    <a:clrTo>
                      <a:srgbClr val="F0F0F0">
                        <a:alpha val="100000"/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2403" y="7185"/>
                  <a:ext cx="314" cy="302"/>
                </a:xfrm>
                <a:prstGeom prst="rect">
                  <a:avLst/>
                </a:prstGeom>
              </p:spPr>
            </p:pic>
          </p:grpSp>
          <p:grpSp>
            <p:nvGrpSpPr>
              <p:cNvPr id="220" name="组合 219"/>
              <p:cNvGrpSpPr/>
              <p:nvPr/>
            </p:nvGrpSpPr>
            <p:grpSpPr>
              <a:xfrm>
                <a:off x="4343" y="4534"/>
                <a:ext cx="497" cy="302"/>
                <a:chOff x="2220" y="7185"/>
                <a:chExt cx="497" cy="302"/>
              </a:xfrm>
            </p:grpSpPr>
            <p:pic>
              <p:nvPicPr>
                <p:cNvPr id="221" name="图片 220" descr="加号-镂空"/>
                <p:cNvPicPr>
                  <a:picLocks noChangeAspect="1"/>
                </p:cNvPicPr>
                <p:nvPr>
                  <p:custDataLst>
                    <p:tags r:id="rId33"/>
                  </p:custDataLst>
                </p:nvPr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220" y="7264"/>
                  <a:ext cx="183" cy="183"/>
                </a:xfrm>
                <a:prstGeom prst="rect">
                  <a:avLst/>
                </a:prstGeom>
              </p:spPr>
            </p:pic>
            <p:pic>
              <p:nvPicPr>
                <p:cNvPr id="222" name="图片 221"/>
                <p:cNvPicPr>
                  <a:picLocks noChangeAspect="1"/>
                </p:cNvPicPr>
                <p:nvPr/>
              </p:nvPicPr>
              <p:blipFill>
                <a:blip r:embed="rId42">
                  <a:clrChange>
                    <a:clrFrom>
                      <a:srgbClr val="F0F0F0">
                        <a:alpha val="100000"/>
                      </a:srgbClr>
                    </a:clrFrom>
                    <a:clrTo>
                      <a:srgbClr val="F0F0F0">
                        <a:alpha val="100000"/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2403" y="7185"/>
                  <a:ext cx="314" cy="302"/>
                </a:xfrm>
                <a:prstGeom prst="rect">
                  <a:avLst/>
                </a:prstGeom>
              </p:spPr>
            </p:pic>
          </p:grpSp>
          <p:sp>
            <p:nvSpPr>
              <p:cNvPr id="223" name="文本框 222"/>
              <p:cNvSpPr txBox="1"/>
              <p:nvPr/>
            </p:nvSpPr>
            <p:spPr>
              <a:xfrm>
                <a:off x="314" y="5164"/>
                <a:ext cx="2739" cy="53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altLang="zh-CN" sz="600" b="1"/>
                  <a:t>Feature Encoder</a:t>
                </a:r>
              </a:p>
              <a:p>
                <a:r>
                  <a:rPr lang="en-US" altLang="zh-CN" sz="600"/>
                  <a:t>Normalize </a:t>
                </a:r>
                <a:r>
                  <a:rPr lang="en-US" altLang="en-US" sz="600"/>
                  <a:t>→</a:t>
                </a:r>
                <a:r>
                  <a:rPr lang="en-US" altLang="zh-CN" sz="600"/>
                  <a:t> 2-layer MLP </a:t>
                </a:r>
                <a:r>
                  <a:rPr lang="en-US" altLang="en-US" sz="600"/>
                  <a:t>→</a:t>
                </a:r>
                <a:r>
                  <a:rPr lang="en-US" altLang="zh-CN" sz="600"/>
                  <a:t> </a:t>
                </a:r>
                <a:r>
                  <a:rPr lang="en-US" altLang="en-US" sz="600"/>
                  <a:t>ℝ</a:t>
                </a:r>
                <a:r>
                  <a:rPr lang="en-US" altLang="en-US" sz="600" i="1"/>
                  <a:t>ᵏ</a:t>
                </a:r>
                <a:endParaRPr lang="en-US" altLang="en-US" sz="600"/>
              </a:p>
              <a:p>
                <a:r>
                  <a:rPr lang="en-US" altLang="zh-CN" sz="600"/>
                  <a:t>Feature-group embedding, group size = 3</a:t>
                </a:r>
              </a:p>
            </p:txBody>
          </p:sp>
          <p:sp>
            <p:nvSpPr>
              <p:cNvPr id="224" name="文本框 223"/>
              <p:cNvSpPr txBox="1"/>
              <p:nvPr/>
            </p:nvSpPr>
            <p:spPr>
              <a:xfrm>
                <a:off x="3648" y="5164"/>
                <a:ext cx="2543" cy="53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altLang="zh-CN" sz="600" b="1"/>
                  <a:t>Target Encoder</a:t>
                </a:r>
              </a:p>
              <a:p>
                <a:pPr algn="ctr"/>
                <a:r>
                  <a:rPr lang="en-US" altLang="zh-CN" sz="600"/>
                  <a:t>Pad </a:t>
                </a:r>
                <a:r>
                  <a:rPr lang="en-US" altLang="zh-CN" sz="600" i="1"/>
                  <a:t>y</a:t>
                </a:r>
                <a:r>
                  <a:rPr lang="en-US" altLang="zh-CN" sz="600"/>
                  <a:t>* with </a:t>
                </a:r>
                <a:r>
                  <a:rPr lang="en-US" altLang="en-US" sz="600" i="1"/>
                  <a:t>ȳ</a:t>
                </a:r>
                <a:r>
                  <a:rPr lang="en-US" altLang="zh-CN" sz="600" baseline="-25000"/>
                  <a:t>train</a:t>
                </a:r>
                <a:r>
                  <a:rPr lang="en-US" altLang="zh-CN" sz="600"/>
                  <a:t> </a:t>
                </a:r>
                <a:r>
                  <a:rPr lang="en-US" altLang="en-US" sz="600"/>
                  <a:t>→</a:t>
                </a:r>
                <a:r>
                  <a:rPr lang="en-US" altLang="zh-CN" sz="600"/>
                  <a:t> Embed</a:t>
                </a:r>
              </a:p>
              <a:p>
                <a:pPr algn="ctr"/>
                <a:r>
                  <a:rPr lang="en-US" altLang="zh-CN" sz="600"/>
                  <a:t>Target embedding</a:t>
                </a:r>
              </a:p>
            </p:txBody>
          </p:sp>
          <p:cxnSp>
            <p:nvCxnSpPr>
              <p:cNvPr id="225" name="直接箭头连接符 224"/>
              <p:cNvCxnSpPr/>
              <p:nvPr/>
            </p:nvCxnSpPr>
            <p:spPr>
              <a:xfrm rot="16200000">
                <a:off x="2985" y="5316"/>
                <a:ext cx="0" cy="274"/>
              </a:xfrm>
              <a:prstGeom prst="straightConnector1">
                <a:avLst/>
              </a:prstGeom>
              <a:ln w="9525">
                <a:solidFill>
                  <a:srgbClr val="494949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226" name="图片 225"/>
              <p:cNvPicPr>
                <a:picLocks noChangeAspect="1"/>
              </p:cNvPicPr>
              <p:nvPr/>
            </p:nvPicPr>
            <p:blipFill>
              <a:blip r:embed="rId42">
                <a:clrChange>
                  <a:clrFrom>
                    <a:srgbClr val="F0F0F0">
                      <a:alpha val="100000"/>
                    </a:srgbClr>
                  </a:clrFrom>
                  <a:clrTo>
                    <a:srgbClr val="F0F0F0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5981" y="5281"/>
                <a:ext cx="314" cy="302"/>
              </a:xfrm>
              <a:prstGeom prst="rect">
                <a:avLst/>
              </a:prstGeom>
            </p:spPr>
          </p:pic>
          <p:cxnSp>
            <p:nvCxnSpPr>
              <p:cNvPr id="227" name="直接箭头连接符 226"/>
              <p:cNvCxnSpPr/>
              <p:nvPr/>
            </p:nvCxnSpPr>
            <p:spPr>
              <a:xfrm rot="16200000">
                <a:off x="5885" y="5316"/>
                <a:ext cx="0" cy="274"/>
              </a:xfrm>
              <a:prstGeom prst="straightConnector1">
                <a:avLst/>
              </a:prstGeom>
              <a:ln w="9525">
                <a:solidFill>
                  <a:srgbClr val="494949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28" name="直接箭头连接符 227"/>
              <p:cNvCxnSpPr>
                <a:endCxn id="222" idx="2"/>
              </p:cNvCxnSpPr>
              <p:nvPr/>
            </p:nvCxnSpPr>
            <p:spPr>
              <a:xfrm flipV="1">
                <a:off x="4373" y="4836"/>
                <a:ext cx="310" cy="206"/>
              </a:xfrm>
              <a:prstGeom prst="straightConnector1">
                <a:avLst/>
              </a:prstGeom>
              <a:ln w="9525">
                <a:solidFill>
                  <a:srgbClr val="494949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92" name="文本框 391"/>
              <p:cNvSpPr txBox="1"/>
              <p:nvPr/>
            </p:nvSpPr>
            <p:spPr>
              <a:xfrm>
                <a:off x="775" y="5724"/>
                <a:ext cx="5036" cy="12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700" b="1"/>
                  <a:t>Transformer Encoder Stack: 18 layers</a:t>
                </a:r>
                <a:r>
                  <a:rPr lang="en-US" altLang="en-US" sz="700" b="1"/>
                  <a:t/>
                </a:r>
                <a:r>
                  <a:rPr lang="en-US" altLang="zh-CN" sz="700" b="1"/>
                  <a:t/>
                </a:r>
              </a:p>
            </p:txBody>
          </p:sp>
          <p:sp>
            <p:nvSpPr>
              <p:cNvPr id="394" name="圆角矩形 393"/>
              <p:cNvSpPr/>
              <p:nvPr/>
            </p:nvSpPr>
            <p:spPr>
              <a:xfrm>
                <a:off x="268" y="5761"/>
                <a:ext cx="6014" cy="1782"/>
              </a:xfrm>
              <a:prstGeom prst="roundRect">
                <a:avLst>
                  <a:gd name="adj" fmla="val 6397"/>
                </a:avLst>
              </a:prstGeom>
              <a:noFill/>
              <a:ln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C4DDF2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 w="9525">
                    <a:solidFill>
                      <a:sysClr val="windowText" lastClr="000000"/>
                    </a:solidFill>
                  </a:ln>
                </a:endParaRPr>
              </a:p>
            </p:txBody>
          </p:sp>
          <p:sp>
            <p:nvSpPr>
              <p:cNvPr id="397" name="文本框 396"/>
              <p:cNvSpPr txBox="1"/>
              <p:nvPr/>
            </p:nvSpPr>
            <p:spPr>
              <a:xfrm rot="10800000">
                <a:off x="3275" y="5615"/>
                <a:ext cx="142" cy="1597"/>
              </a:xfrm>
              <a:prstGeom prst="rect">
                <a:avLst/>
              </a:prstGeom>
              <a:noFill/>
            </p:spPr>
            <p:txBody>
              <a:bodyPr vert="eaVert" wrap="square" rtlCol="0">
                <a:noAutofit/>
              </a:bodyPr>
              <a:lstStyle/>
              <a:p>
                <a:r>
                  <a:rPr lang="en-US" altLang="zh-CN" sz="1200"/>
                  <a:t>Alternate</a:t>
                </a:r>
              </a:p>
            </p:txBody>
          </p:sp>
          <p:grpSp>
            <p:nvGrpSpPr>
              <p:cNvPr id="400" name="组合 399"/>
              <p:cNvGrpSpPr/>
              <p:nvPr/>
            </p:nvGrpSpPr>
            <p:grpSpPr>
              <a:xfrm>
                <a:off x="314" y="5961"/>
                <a:ext cx="5906" cy="1522"/>
                <a:chOff x="287" y="5961"/>
                <a:chExt cx="5906" cy="1522"/>
              </a:xfrm>
            </p:grpSpPr>
            <p:grpSp>
              <p:nvGrpSpPr>
                <p:cNvPr id="343" name="组合 342"/>
                <p:cNvGrpSpPr/>
                <p:nvPr/>
              </p:nvGrpSpPr>
              <p:grpSpPr>
                <a:xfrm>
                  <a:off x="3502" y="5961"/>
                  <a:ext cx="1462" cy="1522"/>
                  <a:chOff x="3244" y="5916"/>
                  <a:chExt cx="1462" cy="1522"/>
                </a:xfrm>
              </p:grpSpPr>
              <p:sp>
                <p:nvSpPr>
                  <p:cNvPr id="340" name="圆角矩形 339"/>
                  <p:cNvSpPr/>
                  <p:nvPr/>
                </p:nvSpPr>
                <p:spPr>
                  <a:xfrm>
                    <a:off x="3369" y="5952"/>
                    <a:ext cx="1200" cy="1487"/>
                  </a:xfrm>
                  <a:prstGeom prst="roundRect">
                    <a:avLst>
                      <a:gd name="adj" fmla="val 6043"/>
                    </a:avLst>
                  </a:prstGeom>
                  <a:solidFill>
                    <a:srgbClr val="DCEBF2"/>
                  </a:solidFill>
                  <a:ln>
                    <a:solidFill>
                      <a:srgbClr val="2E6C9C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313" name="组合 312"/>
                  <p:cNvGrpSpPr/>
                  <p:nvPr/>
                </p:nvGrpSpPr>
                <p:grpSpPr>
                  <a:xfrm>
                    <a:off x="3645" y="6096"/>
                    <a:ext cx="738" cy="242"/>
                    <a:chOff x="3669" y="5959"/>
                    <a:chExt cx="672" cy="242"/>
                  </a:xfrm>
                </p:grpSpPr>
                <p:sp>
                  <p:nvSpPr>
                    <p:cNvPr id="311" name="圆角矩形 310"/>
                    <p:cNvSpPr/>
                    <p:nvPr/>
                  </p:nvSpPr>
                  <p:spPr>
                    <a:xfrm>
                      <a:off x="3669" y="6004"/>
                      <a:ext cx="585" cy="197"/>
                    </a:xfrm>
                    <a:prstGeom prst="roundRect">
                      <a:avLst/>
                    </a:prstGeom>
                    <a:solidFill>
                      <a:srgbClr val="F1BD8C"/>
                    </a:solidFill>
                    <a:ln w="9525">
                      <a:solidFill>
                        <a:srgbClr val="AA794F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12" name="文本框 311"/>
                    <p:cNvSpPr txBox="1"/>
                    <p:nvPr/>
                  </p:nvSpPr>
                  <p:spPr>
                    <a:xfrm>
                      <a:off x="3669" y="5959"/>
                      <a:ext cx="672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600"/>
                        <a:t>Row 1</a:t>
                      </a:r>
                    </a:p>
                  </p:txBody>
                </p:sp>
              </p:grpSp>
              <p:grpSp>
                <p:nvGrpSpPr>
                  <p:cNvPr id="314" name="组合 313"/>
                  <p:cNvGrpSpPr/>
                  <p:nvPr/>
                </p:nvGrpSpPr>
                <p:grpSpPr>
                  <a:xfrm>
                    <a:off x="3645" y="6308"/>
                    <a:ext cx="740" cy="250"/>
                    <a:chOff x="3669" y="5951"/>
                    <a:chExt cx="672" cy="250"/>
                  </a:xfrm>
                </p:grpSpPr>
                <p:sp>
                  <p:nvSpPr>
                    <p:cNvPr id="315" name="圆角矩形 314"/>
                    <p:cNvSpPr/>
                    <p:nvPr/>
                  </p:nvSpPr>
                  <p:spPr>
                    <a:xfrm>
                      <a:off x="3669" y="6004"/>
                      <a:ext cx="585" cy="197"/>
                    </a:xfrm>
                    <a:prstGeom prst="roundRect">
                      <a:avLst/>
                    </a:prstGeom>
                    <a:solidFill>
                      <a:srgbClr val="F1BD8C"/>
                    </a:solidFill>
                    <a:ln w="9525">
                      <a:solidFill>
                        <a:srgbClr val="AA794F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16" name="文本框 315"/>
                    <p:cNvSpPr txBox="1"/>
                    <p:nvPr/>
                  </p:nvSpPr>
                  <p:spPr>
                    <a:xfrm>
                      <a:off x="3669" y="5951"/>
                      <a:ext cx="672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600"/>
                        <a:t>Row 2</a:t>
                      </a:r>
                    </a:p>
                  </p:txBody>
                </p:sp>
              </p:grpSp>
              <p:pic>
                <p:nvPicPr>
                  <p:cNvPr id="326" name="图片 325" descr="双向箭头"/>
                  <p:cNvPicPr>
                    <a:picLocks noChangeAspect="1"/>
                  </p:cNvPicPr>
                  <p:nvPr>
                    <p:custDataLst>
                      <p:tags r:id="rId30"/>
                    </p:custDataLst>
                  </p:nvPr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4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 flipH="1" flipV="1">
                    <a:off x="3851" y="6558"/>
                    <a:ext cx="218" cy="218"/>
                  </a:xfrm>
                  <a:prstGeom prst="rect">
                    <a:avLst/>
                  </a:prstGeom>
                </p:spPr>
              </p:pic>
              <p:grpSp>
                <p:nvGrpSpPr>
                  <p:cNvPr id="327" name="组合 326"/>
                  <p:cNvGrpSpPr/>
                  <p:nvPr/>
                </p:nvGrpSpPr>
                <p:grpSpPr>
                  <a:xfrm>
                    <a:off x="3644" y="6727"/>
                    <a:ext cx="741" cy="242"/>
                    <a:chOff x="3669" y="5959"/>
                    <a:chExt cx="673" cy="242"/>
                  </a:xfrm>
                </p:grpSpPr>
                <p:sp>
                  <p:nvSpPr>
                    <p:cNvPr id="328" name="圆角矩形 327"/>
                    <p:cNvSpPr/>
                    <p:nvPr/>
                  </p:nvSpPr>
                  <p:spPr>
                    <a:xfrm>
                      <a:off x="3669" y="6004"/>
                      <a:ext cx="585" cy="197"/>
                    </a:xfrm>
                    <a:prstGeom prst="roundRect">
                      <a:avLst/>
                    </a:prstGeom>
                    <a:solidFill>
                      <a:srgbClr val="F1BD8C"/>
                    </a:solidFill>
                    <a:ln w="9525">
                      <a:solidFill>
                        <a:srgbClr val="AA794F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29" name="文本框 328"/>
                    <p:cNvSpPr txBox="1"/>
                    <p:nvPr/>
                  </p:nvSpPr>
                  <p:spPr>
                    <a:xfrm>
                      <a:off x="3670" y="5959"/>
                      <a:ext cx="672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600"/>
                        <a:t>Row N</a:t>
                      </a:r>
                    </a:p>
                  </p:txBody>
                </p:sp>
              </p:grpSp>
              <p:grpSp>
                <p:nvGrpSpPr>
                  <p:cNvPr id="330" name="组合 329"/>
                  <p:cNvGrpSpPr/>
                  <p:nvPr/>
                </p:nvGrpSpPr>
                <p:grpSpPr>
                  <a:xfrm>
                    <a:off x="3598" y="6949"/>
                    <a:ext cx="791" cy="240"/>
                    <a:chOff x="3627" y="5961"/>
                    <a:chExt cx="717" cy="240"/>
                  </a:xfrm>
                </p:grpSpPr>
                <p:sp>
                  <p:nvSpPr>
                    <p:cNvPr id="331" name="圆角矩形 330"/>
                    <p:cNvSpPr/>
                    <p:nvPr/>
                  </p:nvSpPr>
                  <p:spPr>
                    <a:xfrm>
                      <a:off x="3669" y="6004"/>
                      <a:ext cx="585" cy="197"/>
                    </a:xfrm>
                    <a:prstGeom prst="roundRect">
                      <a:avLst/>
                    </a:prstGeom>
                    <a:solidFill>
                      <a:srgbClr val="F1BD8C"/>
                    </a:solidFill>
                    <a:ln w="9525">
                      <a:solidFill>
                        <a:srgbClr val="AA794F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32" name="文本框 331"/>
                    <p:cNvSpPr txBox="1"/>
                    <p:nvPr/>
                  </p:nvSpPr>
                  <p:spPr>
                    <a:xfrm>
                      <a:off x="3627" y="5961"/>
                      <a:ext cx="717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600"/>
                        <a:t>Thinking</a:t>
                      </a:r>
                    </a:p>
                  </p:txBody>
                </p:sp>
              </p:grpSp>
              <p:grpSp>
                <p:nvGrpSpPr>
                  <p:cNvPr id="333" name="组合 332"/>
                  <p:cNvGrpSpPr/>
                  <p:nvPr/>
                </p:nvGrpSpPr>
                <p:grpSpPr>
                  <a:xfrm>
                    <a:off x="3597" y="7167"/>
                    <a:ext cx="901" cy="242"/>
                    <a:chOff x="3626" y="5959"/>
                    <a:chExt cx="817" cy="242"/>
                  </a:xfrm>
                </p:grpSpPr>
                <p:sp>
                  <p:nvSpPr>
                    <p:cNvPr id="334" name="圆角矩形 333"/>
                    <p:cNvSpPr/>
                    <p:nvPr/>
                  </p:nvSpPr>
                  <p:spPr>
                    <a:xfrm>
                      <a:off x="3669" y="6004"/>
                      <a:ext cx="585" cy="197"/>
                    </a:xfrm>
                    <a:prstGeom prst="roundRect">
                      <a:avLst/>
                    </a:prstGeom>
                    <a:solidFill>
                      <a:srgbClr val="F1BD8C"/>
                    </a:solidFill>
                    <a:ln w="9525">
                      <a:solidFill>
                        <a:srgbClr val="AA794F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35" name="文本框 334"/>
                    <p:cNvSpPr txBox="1"/>
                    <p:nvPr/>
                  </p:nvSpPr>
                  <p:spPr>
                    <a:xfrm>
                      <a:off x="3626" y="5959"/>
                      <a:ext cx="817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600"/>
                        <a:t>Row test</a:t>
                      </a:r>
                    </a:p>
                  </p:txBody>
                </p:sp>
              </p:grpSp>
              <p:pic>
                <p:nvPicPr>
                  <p:cNvPr id="338" name="图片 337" descr="双向箭头"/>
                  <p:cNvPicPr>
                    <a:picLocks noChangeAspect="1"/>
                  </p:cNvPicPr>
                  <p:nvPr>
                    <p:custDataLst>
                      <p:tags r:id="rId31"/>
                    </p:custDataLst>
                  </p:nvPr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5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 flipH="1" flipV="1">
                    <a:off x="4000" y="6313"/>
                    <a:ext cx="878" cy="534"/>
                  </a:xfrm>
                  <a:prstGeom prst="rect">
                    <a:avLst/>
                  </a:prstGeom>
                </p:spPr>
              </p:pic>
              <p:pic>
                <p:nvPicPr>
                  <p:cNvPr id="339" name="图片 338" descr="双向箭头"/>
                  <p:cNvPicPr>
                    <a:picLocks noChangeAspect="1"/>
                  </p:cNvPicPr>
                  <p:nvPr>
                    <p:custDataLst>
                      <p:tags r:id="rId32"/>
                    </p:custDataLst>
                  </p:nvPr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5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 flipH="1" flipV="1">
                    <a:off x="3072" y="6313"/>
                    <a:ext cx="878" cy="534"/>
                  </a:xfrm>
                  <a:prstGeom prst="rect">
                    <a:avLst/>
                  </a:prstGeom>
                </p:spPr>
              </p:pic>
              <p:sp>
                <p:nvSpPr>
                  <p:cNvPr id="341" name="文本框 340"/>
                  <p:cNvSpPr txBox="1"/>
                  <p:nvPr/>
                </p:nvSpPr>
                <p:spPr>
                  <a:xfrm>
                    <a:off x="3343" y="5916"/>
                    <a:ext cx="1363" cy="1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r>
                      <a:rPr lang="en-US" altLang="zh-CN" sz="600" b="1"/>
                      <a:t>Sample Attention</a:t>
                    </a:r>
                  </a:p>
                </p:txBody>
              </p:sp>
            </p:grpSp>
            <p:grpSp>
              <p:nvGrpSpPr>
                <p:cNvPr id="310" name="组合 309"/>
                <p:cNvGrpSpPr/>
                <p:nvPr/>
              </p:nvGrpSpPr>
              <p:grpSpPr>
                <a:xfrm>
                  <a:off x="287" y="6071"/>
                  <a:ext cx="3032" cy="1390"/>
                  <a:chOff x="776" y="6222"/>
                  <a:chExt cx="3032" cy="1390"/>
                </a:xfrm>
              </p:grpSpPr>
              <p:sp>
                <p:nvSpPr>
                  <p:cNvPr id="306" name="圆角矩形 305"/>
                  <p:cNvSpPr/>
                  <p:nvPr/>
                </p:nvSpPr>
                <p:spPr>
                  <a:xfrm>
                    <a:off x="776" y="6222"/>
                    <a:ext cx="3032" cy="1390"/>
                  </a:xfrm>
                  <a:prstGeom prst="roundRect">
                    <a:avLst>
                      <a:gd name="adj" fmla="val 6043"/>
                    </a:avLst>
                  </a:prstGeom>
                  <a:solidFill>
                    <a:srgbClr val="DBEDEB"/>
                  </a:solidFill>
                  <a:ln>
                    <a:solidFill>
                      <a:srgbClr val="4A7473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307" name="组合 306"/>
                  <p:cNvGrpSpPr/>
                  <p:nvPr/>
                </p:nvGrpSpPr>
                <p:grpSpPr>
                  <a:xfrm>
                    <a:off x="776" y="6266"/>
                    <a:ext cx="3032" cy="1235"/>
                    <a:chOff x="776" y="6266"/>
                    <a:chExt cx="3032" cy="1235"/>
                  </a:xfrm>
                </p:grpSpPr>
                <p:sp>
                  <p:nvSpPr>
                    <p:cNvPr id="230" name="圆角矩形 229"/>
                    <p:cNvSpPr/>
                    <p:nvPr/>
                  </p:nvSpPr>
                  <p:spPr>
                    <a:xfrm>
                      <a:off x="852" y="6471"/>
                      <a:ext cx="295" cy="289"/>
                    </a:xfrm>
                    <a:prstGeom prst="roundRect">
                      <a:avLst/>
                    </a:prstGeom>
                    <a:solidFill>
                      <a:srgbClr val="BBD8D7"/>
                    </a:solidFill>
                    <a:ln>
                      <a:solidFill>
                        <a:srgbClr val="4A747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31" name="文本框 230"/>
                    <p:cNvSpPr txBox="1"/>
                    <p:nvPr/>
                  </p:nvSpPr>
                  <p:spPr>
                    <a:xfrm>
                      <a:off x="776" y="6396"/>
                      <a:ext cx="486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000" i="1"/>
                        <a:t>x</a:t>
                      </a:r>
                      <a:r>
                        <a:rPr lang="en-US" altLang="zh-CN" sz="1000" baseline="-25000"/>
                        <a:t>1</a:t>
                      </a:r>
                    </a:p>
                  </p:txBody>
                </p:sp>
                <p:sp>
                  <p:nvSpPr>
                    <p:cNvPr id="232" name="圆角矩形 231"/>
                    <p:cNvSpPr/>
                    <p:nvPr/>
                  </p:nvSpPr>
                  <p:spPr>
                    <a:xfrm>
                      <a:off x="852" y="6851"/>
                      <a:ext cx="295" cy="289"/>
                    </a:xfrm>
                    <a:prstGeom prst="roundRect">
                      <a:avLst/>
                    </a:prstGeom>
                    <a:solidFill>
                      <a:srgbClr val="BBD8D7"/>
                    </a:solidFill>
                    <a:ln>
                      <a:solidFill>
                        <a:srgbClr val="4A747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33" name="文本框 232"/>
                    <p:cNvSpPr txBox="1"/>
                    <p:nvPr/>
                  </p:nvSpPr>
                  <p:spPr>
                    <a:xfrm>
                      <a:off x="776" y="6776"/>
                      <a:ext cx="486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000" i="1"/>
                        <a:t>x</a:t>
                      </a:r>
                      <a:r>
                        <a:rPr lang="en-US" altLang="zh-CN" sz="1000" baseline="-25000"/>
                        <a:t>1</a:t>
                      </a:r>
                    </a:p>
                  </p:txBody>
                </p:sp>
                <p:sp>
                  <p:nvSpPr>
                    <p:cNvPr id="234" name="圆角矩形 233"/>
                    <p:cNvSpPr/>
                    <p:nvPr/>
                  </p:nvSpPr>
                  <p:spPr>
                    <a:xfrm>
                      <a:off x="852" y="7211"/>
                      <a:ext cx="295" cy="289"/>
                    </a:xfrm>
                    <a:prstGeom prst="roundRect">
                      <a:avLst/>
                    </a:prstGeom>
                    <a:solidFill>
                      <a:srgbClr val="BBD8D7"/>
                    </a:solidFill>
                    <a:ln>
                      <a:solidFill>
                        <a:srgbClr val="4A747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35" name="文本框 234"/>
                    <p:cNvSpPr txBox="1"/>
                    <p:nvPr/>
                  </p:nvSpPr>
                  <p:spPr>
                    <a:xfrm>
                      <a:off x="776" y="7136"/>
                      <a:ext cx="486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000" i="1"/>
                        <a:t>x</a:t>
                      </a:r>
                      <a:r>
                        <a:rPr lang="en-US" altLang="zh-CN" sz="1000" baseline="-25000"/>
                        <a:t>1</a:t>
                      </a:r>
                    </a:p>
                  </p:txBody>
                </p:sp>
                <p:sp>
                  <p:nvSpPr>
                    <p:cNvPr id="236" name="圆角矩形 235"/>
                    <p:cNvSpPr/>
                    <p:nvPr/>
                  </p:nvSpPr>
                  <p:spPr>
                    <a:xfrm>
                      <a:off x="1494" y="6471"/>
                      <a:ext cx="295" cy="289"/>
                    </a:xfrm>
                    <a:prstGeom prst="roundRect">
                      <a:avLst/>
                    </a:prstGeom>
                    <a:solidFill>
                      <a:srgbClr val="BBD8D7"/>
                    </a:solidFill>
                    <a:ln>
                      <a:solidFill>
                        <a:srgbClr val="4A747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37" name="文本框 236"/>
                    <p:cNvSpPr txBox="1"/>
                    <p:nvPr/>
                  </p:nvSpPr>
                  <p:spPr>
                    <a:xfrm>
                      <a:off x="1418" y="6396"/>
                      <a:ext cx="486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000" i="1"/>
                        <a:t>x</a:t>
                      </a:r>
                      <a:r>
                        <a:rPr lang="en-US" altLang="zh-CN" sz="1000" baseline="-25000"/>
                        <a:t>2</a:t>
                      </a:r>
                    </a:p>
                  </p:txBody>
                </p:sp>
                <p:sp>
                  <p:nvSpPr>
                    <p:cNvPr id="238" name="圆角矩形 237"/>
                    <p:cNvSpPr/>
                    <p:nvPr/>
                  </p:nvSpPr>
                  <p:spPr>
                    <a:xfrm>
                      <a:off x="1494" y="6851"/>
                      <a:ext cx="295" cy="289"/>
                    </a:xfrm>
                    <a:prstGeom prst="roundRect">
                      <a:avLst/>
                    </a:prstGeom>
                    <a:solidFill>
                      <a:srgbClr val="BBD8D7"/>
                    </a:solidFill>
                    <a:ln>
                      <a:solidFill>
                        <a:srgbClr val="4A747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39" name="文本框 238"/>
                    <p:cNvSpPr txBox="1"/>
                    <p:nvPr/>
                  </p:nvSpPr>
                  <p:spPr>
                    <a:xfrm>
                      <a:off x="1418" y="6776"/>
                      <a:ext cx="486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000" i="1"/>
                        <a:t>x</a:t>
                      </a:r>
                      <a:r>
                        <a:rPr lang="en-US" altLang="zh-CN" sz="1000" baseline="-25000"/>
                        <a:t>2</a:t>
                      </a:r>
                    </a:p>
                  </p:txBody>
                </p:sp>
                <p:sp>
                  <p:nvSpPr>
                    <p:cNvPr id="240" name="圆角矩形 239"/>
                    <p:cNvSpPr/>
                    <p:nvPr/>
                  </p:nvSpPr>
                  <p:spPr>
                    <a:xfrm>
                      <a:off x="1494" y="7211"/>
                      <a:ext cx="295" cy="289"/>
                    </a:xfrm>
                    <a:prstGeom prst="roundRect">
                      <a:avLst/>
                    </a:prstGeom>
                    <a:solidFill>
                      <a:srgbClr val="BBD8D7"/>
                    </a:solidFill>
                    <a:ln>
                      <a:solidFill>
                        <a:srgbClr val="4A747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41" name="文本框 240"/>
                    <p:cNvSpPr txBox="1"/>
                    <p:nvPr/>
                  </p:nvSpPr>
                  <p:spPr>
                    <a:xfrm>
                      <a:off x="1418" y="7136"/>
                      <a:ext cx="486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000" i="1"/>
                        <a:t>x</a:t>
                      </a:r>
                      <a:r>
                        <a:rPr lang="en-US" altLang="zh-CN" sz="1000" baseline="-25000"/>
                        <a:t>2</a:t>
                      </a:r>
                    </a:p>
                  </p:txBody>
                </p:sp>
                <p:pic>
                  <p:nvPicPr>
                    <p:cNvPr id="278" name="图片 277" descr="双向箭头"/>
                    <p:cNvPicPr>
                      <a:picLocks noChangeAspect="1"/>
                    </p:cNvPicPr>
                    <p:nvPr>
                      <p:custDataLst>
                        <p:tags r:id="rId18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162" y="6470"/>
                      <a:ext cx="306" cy="3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79" name="图片 278" descr="双向箭头"/>
                    <p:cNvPicPr>
                      <a:picLocks noChangeAspect="1"/>
                    </p:cNvPicPr>
                    <p:nvPr>
                      <p:custDataLst>
                        <p:tags r:id="rId19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162" y="6830"/>
                      <a:ext cx="306" cy="3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80" name="图片 279" descr="双向箭头"/>
                    <p:cNvPicPr>
                      <a:picLocks noChangeAspect="1"/>
                    </p:cNvPicPr>
                    <p:nvPr>
                      <p:custDataLst>
                        <p:tags r:id="rId20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162" y="7194"/>
                      <a:ext cx="306" cy="306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281" name="圆角矩形 280"/>
                    <p:cNvSpPr/>
                    <p:nvPr/>
                  </p:nvSpPr>
                  <p:spPr>
                    <a:xfrm>
                      <a:off x="2756" y="6471"/>
                      <a:ext cx="295" cy="289"/>
                    </a:xfrm>
                    <a:prstGeom prst="roundRect">
                      <a:avLst/>
                    </a:prstGeom>
                    <a:solidFill>
                      <a:srgbClr val="BBD8D7"/>
                    </a:solidFill>
                    <a:ln>
                      <a:solidFill>
                        <a:srgbClr val="4A747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82" name="文本框 281"/>
                    <p:cNvSpPr txBox="1"/>
                    <p:nvPr/>
                  </p:nvSpPr>
                  <p:spPr>
                    <a:xfrm>
                      <a:off x="2680" y="6396"/>
                      <a:ext cx="486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000" i="1"/>
                        <a:t>x</a:t>
                      </a:r>
                      <a:r>
                        <a:rPr lang="en-US" altLang="zh-CN" sz="1000" baseline="-25000"/>
                        <a:t>p</a:t>
                      </a:r>
                    </a:p>
                  </p:txBody>
                </p:sp>
                <p:sp>
                  <p:nvSpPr>
                    <p:cNvPr id="283" name="圆角矩形 282"/>
                    <p:cNvSpPr/>
                    <p:nvPr/>
                  </p:nvSpPr>
                  <p:spPr>
                    <a:xfrm>
                      <a:off x="2756" y="6851"/>
                      <a:ext cx="295" cy="289"/>
                    </a:xfrm>
                    <a:prstGeom prst="roundRect">
                      <a:avLst/>
                    </a:prstGeom>
                    <a:solidFill>
                      <a:srgbClr val="BBD8D7"/>
                    </a:solidFill>
                    <a:ln>
                      <a:solidFill>
                        <a:srgbClr val="4A747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84" name="文本框 283"/>
                    <p:cNvSpPr txBox="1"/>
                    <p:nvPr/>
                  </p:nvSpPr>
                  <p:spPr>
                    <a:xfrm>
                      <a:off x="2680" y="6776"/>
                      <a:ext cx="486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000" i="1"/>
                        <a:t>x</a:t>
                      </a:r>
                      <a:r>
                        <a:rPr lang="en-US" altLang="zh-CN" sz="1000" baseline="-25000"/>
                        <a:t>p</a:t>
                      </a:r>
                    </a:p>
                  </p:txBody>
                </p:sp>
                <p:sp>
                  <p:nvSpPr>
                    <p:cNvPr id="285" name="圆角矩形 284"/>
                    <p:cNvSpPr/>
                    <p:nvPr/>
                  </p:nvSpPr>
                  <p:spPr>
                    <a:xfrm>
                      <a:off x="2756" y="7211"/>
                      <a:ext cx="295" cy="289"/>
                    </a:xfrm>
                    <a:prstGeom prst="roundRect">
                      <a:avLst/>
                    </a:prstGeom>
                    <a:solidFill>
                      <a:srgbClr val="BBD8D7"/>
                    </a:solidFill>
                    <a:ln>
                      <a:solidFill>
                        <a:srgbClr val="4A747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86" name="文本框 285"/>
                    <p:cNvSpPr txBox="1"/>
                    <p:nvPr/>
                  </p:nvSpPr>
                  <p:spPr>
                    <a:xfrm>
                      <a:off x="2680" y="7136"/>
                      <a:ext cx="486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000" i="1"/>
                        <a:t>x</a:t>
                      </a:r>
                      <a:r>
                        <a:rPr lang="en-US" altLang="zh-CN" sz="1000" baseline="-25000"/>
                        <a:t>p</a:t>
                      </a:r>
                    </a:p>
                  </p:txBody>
                </p:sp>
                <p:sp>
                  <p:nvSpPr>
                    <p:cNvPr id="287" name="圆角矩形 286"/>
                    <p:cNvSpPr/>
                    <p:nvPr/>
                  </p:nvSpPr>
                  <p:spPr>
                    <a:xfrm>
                      <a:off x="3398" y="6471"/>
                      <a:ext cx="295" cy="289"/>
                    </a:xfrm>
                    <a:prstGeom prst="roundRect">
                      <a:avLst/>
                    </a:prstGeom>
                    <a:solidFill>
                      <a:srgbClr val="BBD8D7"/>
                    </a:solidFill>
                    <a:ln>
                      <a:solidFill>
                        <a:srgbClr val="4A747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88" name="文本框 287"/>
                    <p:cNvSpPr txBox="1"/>
                    <p:nvPr/>
                  </p:nvSpPr>
                  <p:spPr>
                    <a:xfrm>
                      <a:off x="3342" y="6396"/>
                      <a:ext cx="466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000" i="1"/>
                        <a:t>y</a:t>
                      </a:r>
                      <a:endParaRPr lang="en-US" altLang="zh-CN" sz="1000" baseline="-25000"/>
                    </a:p>
                  </p:txBody>
                </p:sp>
                <p:sp>
                  <p:nvSpPr>
                    <p:cNvPr id="289" name="圆角矩形 288"/>
                    <p:cNvSpPr/>
                    <p:nvPr/>
                  </p:nvSpPr>
                  <p:spPr>
                    <a:xfrm>
                      <a:off x="3398" y="6851"/>
                      <a:ext cx="295" cy="289"/>
                    </a:xfrm>
                    <a:prstGeom prst="roundRect">
                      <a:avLst/>
                    </a:prstGeom>
                    <a:solidFill>
                      <a:srgbClr val="BBD8D7"/>
                    </a:solidFill>
                    <a:ln>
                      <a:solidFill>
                        <a:srgbClr val="4A747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90" name="文本框 289"/>
                    <p:cNvSpPr txBox="1"/>
                    <p:nvPr/>
                  </p:nvSpPr>
                  <p:spPr>
                    <a:xfrm>
                      <a:off x="3342" y="6776"/>
                      <a:ext cx="466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000" i="1"/>
                        <a:t>y</a:t>
                      </a:r>
                      <a:endParaRPr lang="en-US" altLang="zh-CN" sz="1000" baseline="-25000"/>
                    </a:p>
                  </p:txBody>
                </p:sp>
                <p:sp>
                  <p:nvSpPr>
                    <p:cNvPr id="291" name="圆角矩形 290"/>
                    <p:cNvSpPr/>
                    <p:nvPr/>
                  </p:nvSpPr>
                  <p:spPr>
                    <a:xfrm>
                      <a:off x="3398" y="7211"/>
                      <a:ext cx="295" cy="289"/>
                    </a:xfrm>
                    <a:prstGeom prst="roundRect">
                      <a:avLst/>
                    </a:prstGeom>
                    <a:solidFill>
                      <a:srgbClr val="BBD8D7"/>
                    </a:solidFill>
                    <a:ln>
                      <a:solidFill>
                        <a:srgbClr val="4A747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92" name="文本框 291"/>
                    <p:cNvSpPr txBox="1"/>
                    <p:nvPr/>
                  </p:nvSpPr>
                  <p:spPr>
                    <a:xfrm>
                      <a:off x="3343" y="7136"/>
                      <a:ext cx="465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000" i="1"/>
                        <a:t>y</a:t>
                      </a:r>
                      <a:endParaRPr lang="en-US" altLang="zh-CN" sz="1000" baseline="-25000"/>
                    </a:p>
                  </p:txBody>
                </p:sp>
                <p:pic>
                  <p:nvPicPr>
                    <p:cNvPr id="293" name="图片 292" descr="双向箭头"/>
                    <p:cNvPicPr>
                      <a:picLocks noChangeAspect="1"/>
                    </p:cNvPicPr>
                    <p:nvPr>
                      <p:custDataLst>
                        <p:tags r:id="rId21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3066" y="6470"/>
                      <a:ext cx="306" cy="3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94" name="图片 293" descr="双向箭头"/>
                    <p:cNvPicPr>
                      <a:picLocks noChangeAspect="1"/>
                    </p:cNvPicPr>
                    <p:nvPr>
                      <p:custDataLst>
                        <p:tags r:id="rId22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3066" y="6830"/>
                      <a:ext cx="306" cy="3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95" name="图片 294" descr="双向箭头"/>
                    <p:cNvPicPr>
                      <a:picLocks noChangeAspect="1"/>
                    </p:cNvPicPr>
                    <p:nvPr>
                      <p:custDataLst>
                        <p:tags r:id="rId23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3066" y="7194"/>
                      <a:ext cx="306" cy="3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97" name="图片 296" descr="双向箭头"/>
                    <p:cNvPicPr>
                      <a:picLocks noChangeAspect="1"/>
                    </p:cNvPicPr>
                    <p:nvPr>
                      <p:custDataLst>
                        <p:tags r:id="rId24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788" y="6471"/>
                      <a:ext cx="306" cy="3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98" name="图片 297" descr="双向箭头"/>
                    <p:cNvPicPr>
                      <a:picLocks noChangeAspect="1"/>
                    </p:cNvPicPr>
                    <p:nvPr>
                      <p:custDataLst>
                        <p:tags r:id="rId25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788" y="6831"/>
                      <a:ext cx="306" cy="3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99" name="图片 298" descr="双向箭头"/>
                    <p:cNvPicPr>
                      <a:picLocks noChangeAspect="1"/>
                    </p:cNvPicPr>
                    <p:nvPr>
                      <p:custDataLst>
                        <p:tags r:id="rId26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788" y="7195"/>
                      <a:ext cx="306" cy="3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00" name="图片 299" descr="双向箭头"/>
                    <p:cNvPicPr>
                      <a:picLocks noChangeAspect="1"/>
                    </p:cNvPicPr>
                    <p:nvPr>
                      <p:custDataLst>
                        <p:tags r:id="rId27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50" y="6470"/>
                      <a:ext cx="306" cy="3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01" name="图片 300" descr="双向箭头"/>
                    <p:cNvPicPr>
                      <a:picLocks noChangeAspect="1"/>
                    </p:cNvPicPr>
                    <p:nvPr>
                      <p:custDataLst>
                        <p:tags r:id="rId28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50" y="6830"/>
                      <a:ext cx="306" cy="3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02" name="图片 301" descr="双向箭头"/>
                    <p:cNvPicPr>
                      <a:picLocks noChangeAspect="1"/>
                    </p:cNvPicPr>
                    <p:nvPr>
                      <p:custDataLst>
                        <p:tags r:id="rId29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50" y="7194"/>
                      <a:ext cx="306" cy="306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03" name="文本框 302"/>
                    <p:cNvSpPr txBox="1"/>
                    <p:nvPr/>
                  </p:nvSpPr>
                  <p:spPr>
                    <a:xfrm>
                      <a:off x="1966" y="6266"/>
                      <a:ext cx="714" cy="14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600">
                          <a:solidFill>
                            <a:srgbClr val="41898E"/>
                          </a:solidFill>
                        </a:rPr>
                        <a:t>…</a:t>
                      </a:r>
                    </a:p>
                  </p:txBody>
                </p:sp>
                <p:sp>
                  <p:nvSpPr>
                    <p:cNvPr id="304" name="文本框 303"/>
                    <p:cNvSpPr txBox="1"/>
                    <p:nvPr/>
                  </p:nvSpPr>
                  <p:spPr>
                    <a:xfrm>
                      <a:off x="1966" y="6631"/>
                      <a:ext cx="714" cy="14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600">
                          <a:solidFill>
                            <a:srgbClr val="41898E"/>
                          </a:solidFill>
                        </a:rPr>
                        <a:t>…</a:t>
                      </a:r>
                    </a:p>
                  </p:txBody>
                </p:sp>
                <p:sp>
                  <p:nvSpPr>
                    <p:cNvPr id="305" name="文本框 304"/>
                    <p:cNvSpPr txBox="1"/>
                    <p:nvPr/>
                  </p:nvSpPr>
                  <p:spPr>
                    <a:xfrm>
                      <a:off x="1966" y="6995"/>
                      <a:ext cx="714" cy="14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600">
                          <a:solidFill>
                            <a:srgbClr val="41898E"/>
                          </a:solidFill>
                        </a:rPr>
                        <a:t>…</a:t>
                      </a:r>
                    </a:p>
                  </p:txBody>
                </p:sp>
              </p:grpSp>
              <p:sp>
                <p:nvSpPr>
                  <p:cNvPr id="309" name="文本框 308"/>
                  <p:cNvSpPr txBox="1"/>
                  <p:nvPr/>
                </p:nvSpPr>
                <p:spPr>
                  <a:xfrm>
                    <a:off x="1652" y="6222"/>
                    <a:ext cx="1363" cy="1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r>
                      <a:rPr lang="en-US" altLang="zh-CN" sz="600" b="1"/>
                      <a:t> Feature Attention</a:t>
                    </a:r>
                  </a:p>
                </p:txBody>
              </p:sp>
            </p:grpSp>
            <p:grpSp>
              <p:nvGrpSpPr>
                <p:cNvPr id="396" name="组合 395"/>
                <p:cNvGrpSpPr/>
                <p:nvPr/>
              </p:nvGrpSpPr>
              <p:grpSpPr>
                <a:xfrm>
                  <a:off x="4703" y="6371"/>
                  <a:ext cx="1491" cy="841"/>
                  <a:chOff x="4791" y="6366"/>
                  <a:chExt cx="1491" cy="841"/>
                </a:xfrm>
              </p:grpSpPr>
              <p:grpSp>
                <p:nvGrpSpPr>
                  <p:cNvPr id="388" name="组合 387"/>
                  <p:cNvGrpSpPr/>
                  <p:nvPr/>
                </p:nvGrpSpPr>
                <p:grpSpPr>
                  <a:xfrm>
                    <a:off x="5464" y="6391"/>
                    <a:ext cx="818" cy="816"/>
                    <a:chOff x="5083" y="6371"/>
                    <a:chExt cx="609" cy="604"/>
                  </a:xfrm>
                </p:grpSpPr>
                <p:grpSp>
                  <p:nvGrpSpPr>
                    <p:cNvPr id="373" name="组合 372"/>
                    <p:cNvGrpSpPr/>
                    <p:nvPr/>
                  </p:nvGrpSpPr>
                  <p:grpSpPr>
                    <a:xfrm>
                      <a:off x="5487" y="6568"/>
                      <a:ext cx="205" cy="195"/>
                      <a:chOff x="5820" y="5719"/>
                      <a:chExt cx="202" cy="196"/>
                    </a:xfrm>
                    <a:solidFill>
                      <a:srgbClr val="E6A099"/>
                    </a:solidFill>
                  </p:grpSpPr>
                  <p:sp>
                    <p:nvSpPr>
                      <p:cNvPr id="374" name="矩形 373"/>
                      <p:cNvSpPr/>
                      <p:nvPr/>
                    </p:nvSpPr>
                    <p:spPr>
                      <a:xfrm>
                        <a:off x="5821" y="5719"/>
                        <a:ext cx="201" cy="197"/>
                      </a:xfrm>
                      <a:prstGeom prst="rect">
                        <a:avLst/>
                      </a:prstGeom>
                      <a:grpFill/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pic>
                    <p:nvPicPr>
                      <p:cNvPr id="375" name="图片 374" descr="叉-镂空"/>
                      <p:cNvPicPr>
                        <a:picLocks noChangeAspect="1"/>
                      </p:cNvPicPr>
                      <p:nvPr>
                        <p:custDataLst>
                          <p:tags r:id="rId17"/>
                        </p:custDataLst>
                      </p:nvPr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5820" y="5733"/>
                        <a:ext cx="202" cy="183"/>
                      </a:xfrm>
                      <a:prstGeom prst="rect">
                        <a:avLst/>
                      </a:prstGeom>
                      <a:grpFill/>
                    </p:spPr>
                  </p:pic>
                </p:grpSp>
                <p:sp>
                  <p:nvSpPr>
                    <p:cNvPr id="344" name="矩形 343"/>
                    <p:cNvSpPr/>
                    <p:nvPr/>
                  </p:nvSpPr>
                  <p:spPr>
                    <a:xfrm>
                      <a:off x="5084" y="6372"/>
                      <a:ext cx="201" cy="193"/>
                    </a:xfrm>
                    <a:prstGeom prst="rect">
                      <a:avLst/>
                    </a:prstGeom>
                    <a:solidFill>
                      <a:srgbClr val="ADC7A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pic>
                  <p:nvPicPr>
                    <p:cNvPr id="345" name="图片 344" descr="勾-镂空"/>
                    <p:cNvPicPr>
                      <a:picLocks noChangeAspect="1"/>
                    </p:cNvPicPr>
                    <p:nvPr>
                      <p:custDataLst>
                        <p:tags r:id="rId7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089" y="6385"/>
                      <a:ext cx="196" cy="196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46" name="矩形 345"/>
                    <p:cNvSpPr/>
                    <p:nvPr/>
                  </p:nvSpPr>
                  <p:spPr>
                    <a:xfrm>
                      <a:off x="5084" y="6565"/>
                      <a:ext cx="201" cy="197"/>
                    </a:xfrm>
                    <a:prstGeom prst="rect">
                      <a:avLst/>
                    </a:prstGeom>
                    <a:solidFill>
                      <a:srgbClr val="ADC7A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pic>
                  <p:nvPicPr>
                    <p:cNvPr id="347" name="图片 346" descr="勾-镂空"/>
                    <p:cNvPicPr>
                      <a:picLocks noChangeAspect="1"/>
                    </p:cNvPicPr>
                    <p:nvPr>
                      <p:custDataLst>
                        <p:tags r:id="rId8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089" y="6582"/>
                      <a:ext cx="196" cy="196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48" name="矩形 347"/>
                    <p:cNvSpPr/>
                    <p:nvPr/>
                  </p:nvSpPr>
                  <p:spPr>
                    <a:xfrm>
                      <a:off x="5083" y="6762"/>
                      <a:ext cx="201" cy="197"/>
                    </a:xfrm>
                    <a:prstGeom prst="rect">
                      <a:avLst/>
                    </a:prstGeom>
                    <a:solidFill>
                      <a:srgbClr val="ADC7A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pic>
                  <p:nvPicPr>
                    <p:cNvPr id="349" name="图片 348" descr="勾-镂空"/>
                    <p:cNvPicPr>
                      <a:picLocks noChangeAspect="1"/>
                    </p:cNvPicPr>
                    <p:nvPr>
                      <p:custDataLst>
                        <p:tags r:id="rId9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088" y="6779"/>
                      <a:ext cx="196" cy="196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50" name="矩形 349"/>
                    <p:cNvSpPr/>
                    <p:nvPr/>
                  </p:nvSpPr>
                  <p:spPr>
                    <a:xfrm>
                      <a:off x="5289" y="6371"/>
                      <a:ext cx="201" cy="197"/>
                    </a:xfrm>
                    <a:prstGeom prst="rect">
                      <a:avLst/>
                    </a:prstGeom>
                    <a:solidFill>
                      <a:srgbClr val="ADC7A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pic>
                  <p:nvPicPr>
                    <p:cNvPr id="351" name="图片 350" descr="勾-镂空"/>
                    <p:cNvPicPr>
                      <a:picLocks noChangeAspect="1"/>
                    </p:cNvPicPr>
                    <p:nvPr>
                      <p:custDataLst>
                        <p:tags r:id="rId10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294" y="6388"/>
                      <a:ext cx="196" cy="196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52" name="矩形 351"/>
                    <p:cNvSpPr/>
                    <p:nvPr/>
                  </p:nvSpPr>
                  <p:spPr>
                    <a:xfrm>
                      <a:off x="5289" y="6568"/>
                      <a:ext cx="201" cy="197"/>
                    </a:xfrm>
                    <a:prstGeom prst="rect">
                      <a:avLst/>
                    </a:prstGeom>
                    <a:solidFill>
                      <a:srgbClr val="ADC7A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pic>
                  <p:nvPicPr>
                    <p:cNvPr id="353" name="图片 352" descr="勾-镂空"/>
                    <p:cNvPicPr>
                      <a:picLocks noChangeAspect="1"/>
                    </p:cNvPicPr>
                    <p:nvPr>
                      <p:custDataLst>
                        <p:tags r:id="rId11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294" y="6585"/>
                      <a:ext cx="196" cy="196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54" name="矩形 353"/>
                    <p:cNvSpPr/>
                    <p:nvPr/>
                  </p:nvSpPr>
                  <p:spPr>
                    <a:xfrm>
                      <a:off x="5288" y="6765"/>
                      <a:ext cx="201" cy="194"/>
                    </a:xfrm>
                    <a:prstGeom prst="rect">
                      <a:avLst/>
                    </a:prstGeom>
                    <a:solidFill>
                      <a:srgbClr val="ADC7A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pic>
                  <p:nvPicPr>
                    <p:cNvPr id="355" name="图片 354" descr="勾-镂空"/>
                    <p:cNvPicPr>
                      <a:picLocks noChangeAspect="1"/>
                    </p:cNvPicPr>
                    <p:nvPr>
                      <p:custDataLst>
                        <p:tags r:id="rId12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293" y="6782"/>
                      <a:ext cx="196" cy="193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369" name="组合 368"/>
                    <p:cNvGrpSpPr/>
                    <p:nvPr/>
                  </p:nvGrpSpPr>
                  <p:grpSpPr>
                    <a:xfrm>
                      <a:off x="5489" y="6371"/>
                      <a:ext cx="202" cy="196"/>
                      <a:chOff x="5820" y="5719"/>
                      <a:chExt cx="202" cy="196"/>
                    </a:xfrm>
                  </p:grpSpPr>
                  <p:sp>
                    <p:nvSpPr>
                      <p:cNvPr id="356" name="矩形 355"/>
                      <p:cNvSpPr/>
                      <p:nvPr/>
                    </p:nvSpPr>
                    <p:spPr>
                      <a:xfrm>
                        <a:off x="5821" y="5719"/>
                        <a:ext cx="201" cy="197"/>
                      </a:xfrm>
                      <a:prstGeom prst="rect">
                        <a:avLst/>
                      </a:prstGeom>
                      <a:solidFill>
                        <a:srgbClr val="E6A099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pic>
                    <p:nvPicPr>
                      <p:cNvPr id="362" name="图片 361" descr="叉-镂空"/>
                      <p:cNvPicPr>
                        <a:picLocks noChangeAspect="1"/>
                      </p:cNvPicPr>
                      <p:nvPr>
                        <p:custDataLst>
                          <p:tags r:id="rId16"/>
                        </p:custDataLst>
                      </p:nvPr>
                    </p:nvPicPr>
                    <p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47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820" y="5733"/>
                        <a:ext cx="202" cy="18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384" name="图片 383" descr="叉-镂空"/>
                    <p:cNvPicPr>
                      <a:picLocks noChangeAspect="1"/>
                    </p:cNvPicPr>
                    <p:nvPr>
                      <p:custDataLst>
                        <p:tags r:id="rId13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492" y="6572"/>
                      <a:ext cx="200" cy="200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376" name="组合 375"/>
                    <p:cNvGrpSpPr/>
                    <p:nvPr/>
                  </p:nvGrpSpPr>
                  <p:grpSpPr>
                    <a:xfrm>
                      <a:off x="5490" y="6765"/>
                      <a:ext cx="202" cy="193"/>
                      <a:chOff x="5820" y="5719"/>
                      <a:chExt cx="202" cy="196"/>
                    </a:xfrm>
                    <a:solidFill>
                      <a:srgbClr val="E6A099"/>
                    </a:solidFill>
                  </p:grpSpPr>
                  <p:sp>
                    <p:nvSpPr>
                      <p:cNvPr id="377" name="矩形 376"/>
                      <p:cNvSpPr/>
                      <p:nvPr/>
                    </p:nvSpPr>
                    <p:spPr>
                      <a:xfrm>
                        <a:off x="5821" y="5719"/>
                        <a:ext cx="201" cy="197"/>
                      </a:xfrm>
                      <a:prstGeom prst="rect">
                        <a:avLst/>
                      </a:prstGeom>
                      <a:grpFill/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pic>
                    <p:nvPicPr>
                      <p:cNvPr id="378" name="图片 377" descr="叉-镂空"/>
                      <p:cNvPicPr>
                        <a:picLocks noChangeAspect="1"/>
                      </p:cNvPicPr>
                      <p:nvPr>
                        <p:custDataLst>
                          <p:tags r:id="rId15"/>
                        </p:custDataLst>
                      </p:nvPr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5820" y="5733"/>
                        <a:ext cx="202" cy="183"/>
                      </a:xfrm>
                      <a:prstGeom prst="rect">
                        <a:avLst/>
                      </a:prstGeom>
                      <a:grpFill/>
                    </p:spPr>
                  </p:pic>
                </p:grpSp>
                <p:pic>
                  <p:nvPicPr>
                    <p:cNvPr id="387" name="图片 386" descr="叉-镂空"/>
                    <p:cNvPicPr>
                      <a:picLocks noChangeAspect="1"/>
                    </p:cNvPicPr>
                    <p:nvPr>
                      <p:custDataLst>
                        <p:tags r:id="rId14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499" y="6765"/>
                      <a:ext cx="192" cy="192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389" name="文本框 388"/>
                  <p:cNvSpPr txBox="1"/>
                  <p:nvPr/>
                </p:nvSpPr>
                <p:spPr>
                  <a:xfrm>
                    <a:off x="4984" y="6366"/>
                    <a:ext cx="662" cy="1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r>
                      <a:rPr lang="en-US" altLang="zh-CN" sz="600" b="1"/>
                      <a:t>Train</a:t>
                    </a:r>
                  </a:p>
                </p:txBody>
              </p:sp>
              <p:sp>
                <p:nvSpPr>
                  <p:cNvPr id="390" name="文本框 389"/>
                  <p:cNvSpPr txBox="1"/>
                  <p:nvPr/>
                </p:nvSpPr>
                <p:spPr>
                  <a:xfrm>
                    <a:off x="4791" y="6647"/>
                    <a:ext cx="814" cy="1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r>
                      <a:rPr lang="en-US" altLang="zh-CN" sz="600" b="1"/>
                      <a:t>Thinking</a:t>
                    </a:r>
                  </a:p>
                </p:txBody>
              </p:sp>
              <p:sp>
                <p:nvSpPr>
                  <p:cNvPr id="391" name="文本框 390"/>
                  <p:cNvSpPr txBox="1"/>
                  <p:nvPr/>
                </p:nvSpPr>
                <p:spPr>
                  <a:xfrm>
                    <a:off x="5027" y="6933"/>
                    <a:ext cx="845" cy="1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r>
                      <a:rPr lang="en-US" altLang="zh-CN" sz="600" b="1"/>
                      <a:t>Test</a:t>
                    </a:r>
                  </a:p>
                </p:txBody>
              </p:sp>
            </p:grpSp>
            <p:pic>
              <p:nvPicPr>
                <p:cNvPr id="399" name="图片 398" descr="循环"/>
                <p:cNvPicPr>
                  <a:picLocks noChangeAspect="1"/>
                </p:cNvPicPr>
                <p:nvPr>
                  <p:custDataLst>
                    <p:tags r:id="rId6"/>
                  </p:custDataLst>
                </p:nvPr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58" y="7212"/>
                  <a:ext cx="217" cy="217"/>
                </a:xfrm>
                <a:prstGeom prst="rect">
                  <a:avLst/>
                </a:prstGeom>
              </p:spPr>
            </p:pic>
          </p:grpSp>
          <p:sp>
            <p:nvSpPr>
              <p:cNvPr id="401" name="下箭头 400"/>
              <p:cNvSpPr/>
              <p:nvPr>
                <p:custDataLst>
                  <p:tags r:id="rId5"/>
                </p:custDataLst>
              </p:nvPr>
            </p:nvSpPr>
            <p:spPr>
              <a:xfrm flipH="1">
                <a:off x="3249" y="7543"/>
                <a:ext cx="233" cy="339"/>
              </a:xfrm>
              <a:prstGeom prst="downArrow">
                <a:avLst/>
              </a:prstGeom>
              <a:solidFill>
                <a:srgbClr val="2E54A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02" name="圆角矩形 401"/>
              <p:cNvSpPr/>
              <p:nvPr/>
            </p:nvSpPr>
            <p:spPr>
              <a:xfrm>
                <a:off x="2490" y="7881"/>
                <a:ext cx="1883" cy="276"/>
              </a:xfrm>
              <a:prstGeom prst="roundRect">
                <a:avLst/>
              </a:prstGeom>
              <a:solidFill>
                <a:srgbClr val="C4DDF2"/>
              </a:solidFill>
              <a:ln>
                <a:solidFill>
                  <a:srgbClr val="2E54A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文本框 403"/>
              <p:cNvSpPr txBox="1"/>
              <p:nvPr/>
            </p:nvSpPr>
            <p:spPr>
              <a:xfrm>
                <a:off x="2448" y="7898"/>
                <a:ext cx="2076" cy="12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600" b="1"/>
                  <a:t>Output Decoder (2-layer MLP)</a:t>
                </a:r>
              </a:p>
            </p:txBody>
          </p:sp>
          <p:grpSp>
            <p:nvGrpSpPr>
              <p:cNvPr id="112" name="组合 111"/>
              <p:cNvGrpSpPr/>
              <p:nvPr/>
            </p:nvGrpSpPr>
            <p:grpSpPr>
              <a:xfrm>
                <a:off x="1442" y="8208"/>
                <a:ext cx="2076" cy="276"/>
                <a:chOff x="218" y="7881"/>
                <a:chExt cx="2076" cy="276"/>
              </a:xfrm>
            </p:grpSpPr>
            <p:sp>
              <p:nvSpPr>
                <p:cNvPr id="2" name="圆角矩形 1"/>
                <p:cNvSpPr/>
                <p:nvPr/>
              </p:nvSpPr>
              <p:spPr>
                <a:xfrm>
                  <a:off x="268" y="7881"/>
                  <a:ext cx="1085" cy="276"/>
                </a:xfrm>
                <a:prstGeom prst="roundRect">
                  <a:avLst/>
                </a:prstGeom>
                <a:solidFill>
                  <a:srgbClr val="DFEDF4"/>
                </a:solidFill>
                <a:ln>
                  <a:solidFill>
                    <a:srgbClr val="557083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文本框 26"/>
                <p:cNvSpPr txBox="1"/>
                <p:nvPr/>
              </p:nvSpPr>
              <p:spPr>
                <a:xfrm>
                  <a:off x="218" y="7898"/>
                  <a:ext cx="2076" cy="1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600" b="1"/>
                    <a:t>Point prediction</a:t>
                  </a:r>
                </a:p>
              </p:txBody>
            </p:sp>
          </p:grpSp>
          <p:grpSp>
            <p:nvGrpSpPr>
              <p:cNvPr id="108" name="组合 107"/>
              <p:cNvGrpSpPr/>
              <p:nvPr/>
            </p:nvGrpSpPr>
            <p:grpSpPr>
              <a:xfrm>
                <a:off x="3602" y="8208"/>
                <a:ext cx="1849" cy="276"/>
                <a:chOff x="3761" y="7881"/>
                <a:chExt cx="2076" cy="276"/>
              </a:xfrm>
            </p:grpSpPr>
            <p:sp>
              <p:nvSpPr>
                <p:cNvPr id="102" name="圆角矩形 101"/>
                <p:cNvSpPr/>
                <p:nvPr/>
              </p:nvSpPr>
              <p:spPr>
                <a:xfrm>
                  <a:off x="3791" y="7881"/>
                  <a:ext cx="1883" cy="276"/>
                </a:xfrm>
                <a:prstGeom prst="roundRect">
                  <a:avLst/>
                </a:prstGeom>
                <a:solidFill>
                  <a:srgbClr val="FDEDCB"/>
                </a:solidFill>
                <a:ln>
                  <a:solidFill>
                    <a:srgbClr val="EC9E65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3" name="文本框 102"/>
                <p:cNvSpPr txBox="1"/>
                <p:nvPr/>
              </p:nvSpPr>
              <p:spPr>
                <a:xfrm>
                  <a:off x="3761" y="7898"/>
                  <a:ext cx="2076" cy="1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600" b="1"/>
                    <a:t>Full predictive distribution</a:t>
                  </a:r>
                </a:p>
              </p:txBody>
            </p:sp>
          </p:grpSp>
          <p:pic>
            <p:nvPicPr>
              <p:cNvPr id="116" name="图形 28" descr="箭头: 向右旋转 纯色填充"/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9"/>
                  </a:ext>
                </a:extLst>
              </a:blip>
              <a:stretch>
                <a:fillRect/>
              </a:stretch>
            </p:blipFill>
            <p:spPr>
              <a:xfrm rot="20043803" flipH="1">
                <a:off x="2056" y="7833"/>
                <a:ext cx="371" cy="371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17" name="图形 28" descr="箭头: 向右旋转 纯色填充"/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0"/>
                  </a:ext>
                </a:extLst>
              </a:blip>
              <a:stretch>
                <a:fillRect/>
              </a:stretch>
            </p:blipFill>
            <p:spPr>
              <a:xfrm rot="2276195">
                <a:off x="4431" y="7848"/>
                <a:ext cx="380" cy="38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sp>
          <p:nvSpPr>
            <p:cNvPr id="182" name="文本框 181"/>
            <p:cNvSpPr txBox="1"/>
            <p:nvPr/>
          </p:nvSpPr>
          <p:spPr>
            <a:xfrm>
              <a:off x="3978" y="3304"/>
              <a:ext cx="209" cy="1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 altLang="zh-CN" sz="800" i="1">
                  <a:solidFill>
                    <a:schemeClr val="bg1"/>
                  </a:solidFill>
                </a:rPr>
                <a:t>y</a:t>
              </a:r>
            </a:p>
          </p:txBody>
        </p:sp>
        <p:sp>
          <p:nvSpPr>
            <p:cNvPr id="183" name="文本框 182"/>
            <p:cNvSpPr txBox="1"/>
            <p:nvPr/>
          </p:nvSpPr>
          <p:spPr>
            <a:xfrm>
              <a:off x="3448" y="3304"/>
              <a:ext cx="468" cy="1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 altLang="zh-CN" sz="800">
                  <a:solidFill>
                    <a:schemeClr val="bg1"/>
                  </a:solidFill>
                </a:rPr>
                <a:t>X</a:t>
              </a:r>
              <a:r>
                <a:rPr lang="en-US" altLang="zh-CN" sz="800" baseline="-25000">
                  <a:solidFill>
                    <a:schemeClr val="bg1"/>
                  </a:solidFill>
                  <a:sym typeface="+mn-ea"/>
                </a:rPr>
                <a:t>p</a:t>
              </a:r>
              <a:endParaRPr lang="en-US" altLang="zh-CN" sz="800" baseline="-25000">
                <a:solidFill>
                  <a:schemeClr val="bg1"/>
                </a:solidFill>
              </a:endParaRPr>
            </a:p>
            <a:p>
              <a:endParaRPr lang="en-US" altLang="zh-CN" sz="800" baseline="-25000">
                <a:solidFill>
                  <a:schemeClr val="bg1"/>
                </a:solidFill>
              </a:endParaRPr>
            </a:p>
          </p:txBody>
        </p:sp>
        <p:sp>
          <p:nvSpPr>
            <p:cNvPr id="185" name="文本框 184"/>
            <p:cNvSpPr txBox="1"/>
            <p:nvPr/>
          </p:nvSpPr>
          <p:spPr>
            <a:xfrm>
              <a:off x="2603" y="3304"/>
              <a:ext cx="468" cy="1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 altLang="zh-CN" sz="800">
                  <a:solidFill>
                    <a:schemeClr val="bg1"/>
                  </a:solidFill>
                </a:rPr>
                <a:t>X</a:t>
              </a:r>
              <a:r>
                <a:rPr lang="en-US" altLang="zh-CN" sz="800" baseline="-25000">
                  <a:solidFill>
                    <a:schemeClr val="bg1"/>
                  </a:solidFill>
                  <a:sym typeface="+mn-ea"/>
                </a:rPr>
                <a:t>2</a:t>
              </a:r>
              <a:endParaRPr lang="en-US" altLang="zh-CN" sz="800" baseline="-25000">
                <a:solidFill>
                  <a:schemeClr val="bg1"/>
                </a:solidFill>
              </a:endParaRPr>
            </a:p>
            <a:p>
              <a:endParaRPr lang="en-US" altLang="zh-CN" sz="800" baseline="-25000">
                <a:solidFill>
                  <a:schemeClr val="bg1"/>
                </a:solidFill>
              </a:endParaRPr>
            </a:p>
          </p:txBody>
        </p:sp>
        <p:sp>
          <p:nvSpPr>
            <p:cNvPr id="186" name="文本框 185"/>
            <p:cNvSpPr txBox="1"/>
            <p:nvPr/>
          </p:nvSpPr>
          <p:spPr>
            <a:xfrm>
              <a:off x="2195" y="3304"/>
              <a:ext cx="468" cy="1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 altLang="zh-CN" sz="800">
                  <a:solidFill>
                    <a:schemeClr val="bg1"/>
                  </a:solidFill>
                </a:rPr>
                <a:t>X</a:t>
              </a:r>
              <a:r>
                <a:rPr lang="en-US" altLang="zh-CN" sz="800" baseline="-25000">
                  <a:solidFill>
                    <a:schemeClr val="bg1"/>
                  </a:solidFill>
                  <a:sym typeface="+mn-ea"/>
                </a:rPr>
                <a:t>1</a:t>
              </a:r>
              <a:endParaRPr lang="en-US" altLang="zh-CN" sz="800" baseline="-25000">
                <a:solidFill>
                  <a:schemeClr val="bg1"/>
                </a:solidFill>
              </a:endParaRPr>
            </a:p>
            <a:p>
              <a:endParaRPr lang="en-US" altLang="zh-CN" sz="800" baseline="-25000">
                <a:solidFill>
                  <a:schemeClr val="bg1"/>
                </a:solidFill>
              </a:endParaRPr>
            </a:p>
          </p:txBody>
        </p:sp>
        <p:sp>
          <p:nvSpPr>
            <p:cNvPr id="190" name="矩形 189"/>
            <p:cNvSpPr/>
            <p:nvPr/>
          </p:nvSpPr>
          <p:spPr>
            <a:xfrm>
              <a:off x="196" y="3110"/>
              <a:ext cx="6087" cy="220"/>
            </a:xfrm>
            <a:prstGeom prst="rect">
              <a:avLst/>
            </a:prstGeom>
            <a:solidFill>
              <a:srgbClr val="1A296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900" dirty="0"/>
                <a:t> (b) TabPFN-2.5 alternating-attention Transformer encoder architecture</a:t>
              </a:r>
            </a:p>
          </p:txBody>
        </p:sp>
        <p:sp>
          <p:nvSpPr>
            <p:cNvPr id="187" name="文本框 186"/>
            <p:cNvSpPr txBox="1"/>
            <p:nvPr/>
          </p:nvSpPr>
          <p:spPr>
            <a:xfrm>
              <a:off x="2967" y="3133"/>
              <a:ext cx="910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60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115" name="文本框 114"/>
            <p:cNvSpPr txBox="1"/>
            <p:nvPr/>
          </p:nvSpPr>
          <p:spPr>
            <a:xfrm>
              <a:off x="5184" y="5939"/>
              <a:ext cx="1157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600" b="1"/>
                <a:t>Attention Mask</a:t>
              </a:r>
            </a:p>
          </p:txBody>
        </p:sp>
        <p:pic>
          <p:nvPicPr>
            <p:cNvPr id="152" name="图片 151"/>
            <p:cNvPicPr>
              <a:picLocks noChangeAspect="1"/>
            </p:cNvPicPr>
            <p:nvPr/>
          </p:nvPicPr>
          <p:blipFill>
            <a:blip r:embed="rId50"/>
            <a:srcRect l="40694" t="1527" r="40782" b="-10687"/>
            <a:stretch>
              <a:fillRect/>
            </a:stretch>
          </p:blipFill>
          <p:spPr>
            <a:xfrm>
              <a:off x="538" y="3728"/>
              <a:ext cx="1260" cy="286"/>
            </a:xfrm>
            <a:prstGeom prst="rect">
              <a:avLst/>
            </a:prstGeom>
          </p:spPr>
        </p:pic>
        <p:pic>
          <p:nvPicPr>
            <p:cNvPr id="153" name="图片 152"/>
            <p:cNvPicPr>
              <a:picLocks noChangeAspect="1"/>
            </p:cNvPicPr>
            <p:nvPr/>
          </p:nvPicPr>
          <p:blipFill>
            <a:blip r:embed="rId51"/>
            <a:srcRect l="43193" t="22093" r="43605" b="17054"/>
            <a:stretch>
              <a:fillRect/>
            </a:stretch>
          </p:blipFill>
          <p:spPr>
            <a:xfrm>
              <a:off x="702" y="4522"/>
              <a:ext cx="898" cy="314"/>
            </a:xfrm>
            <a:prstGeom prst="rect">
              <a:avLst/>
            </a:prstGeom>
          </p:spPr>
        </p:pic>
        <p:sp>
          <p:nvSpPr>
            <p:cNvPr id="198" name="文本框 197"/>
            <p:cNvSpPr txBox="1"/>
            <p:nvPr/>
          </p:nvSpPr>
          <p:spPr>
            <a:xfrm>
              <a:off x="4691" y="3676"/>
              <a:ext cx="1795" cy="34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600"/>
                <a:t>Positional feature embedding (randomized)</a:t>
              </a:r>
            </a:p>
          </p:txBody>
        </p:sp>
        <p:sp>
          <p:nvSpPr>
            <p:cNvPr id="199" name="文本框 198"/>
            <p:cNvSpPr txBox="1"/>
            <p:nvPr/>
          </p:nvSpPr>
          <p:spPr>
            <a:xfrm>
              <a:off x="4703" y="4141"/>
              <a:ext cx="1902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500"/>
                <a:t>Attention sinks; </a:t>
              </a:r>
            </a:p>
            <a:p>
              <a:r>
                <a:rPr lang="en-US" altLang="zh-CN" sz="500"/>
                <a:t>additional compute capacity </a:t>
              </a:r>
            </a:p>
          </p:txBody>
        </p:sp>
        <p:sp>
          <p:nvSpPr>
            <p:cNvPr id="200" name="文本框 199"/>
            <p:cNvSpPr txBox="1"/>
            <p:nvPr/>
          </p:nvSpPr>
          <p:spPr>
            <a:xfrm>
              <a:off x="4703" y="4476"/>
              <a:ext cx="1833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600"/>
                <a:t>Positional feature embedding (randomized)</a:t>
              </a:r>
            </a:p>
          </p:txBody>
        </p:sp>
        <p:pic>
          <p:nvPicPr>
            <p:cNvPr id="202" name="图片 201" descr="正态分布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p:blipFill>
          <p:spPr>
            <a:xfrm>
              <a:off x="5523" y="7964"/>
              <a:ext cx="519" cy="51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04" name="图片 203" descr="点状图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673" y="7968"/>
              <a:ext cx="515" cy="51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07" name="文本框 206"/>
            <p:cNvSpPr txBox="1"/>
            <p:nvPr/>
          </p:nvSpPr>
          <p:spPr>
            <a:xfrm>
              <a:off x="5256" y="6066"/>
              <a:ext cx="1363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500" b="1">
                  <a:solidFill>
                    <a:schemeClr val="bg1">
                      <a:lumMod val="50000"/>
                    </a:schemeClr>
                  </a:solidFill>
                </a:rPr>
                <a:t>From </a:t>
              </a:r>
            </a:p>
            <a:p>
              <a:r>
                <a:rPr lang="en-US" altLang="zh-CN" sz="500" b="1"/>
                <a:t>                </a:t>
              </a:r>
              <a:r>
                <a:rPr lang="en-US" altLang="zh-CN" sz="500" b="1">
                  <a:solidFill>
                    <a:schemeClr val="bg1">
                      <a:lumMod val="50000"/>
                    </a:schemeClr>
                  </a:solidFill>
                </a:rPr>
                <a:t>To</a:t>
              </a:r>
            </a:p>
          </p:txBody>
        </p:sp>
        <p:cxnSp>
          <p:nvCxnSpPr>
            <p:cNvPr id="212" name="直接箭头连接符 211"/>
            <p:cNvCxnSpPr/>
            <p:nvPr/>
          </p:nvCxnSpPr>
          <p:spPr>
            <a:xfrm>
              <a:off x="6079" y="6255"/>
              <a:ext cx="0" cy="140"/>
            </a:xfrm>
            <a:prstGeom prst="straightConnector1">
              <a:avLst/>
            </a:prstGeom>
            <a:ln>
              <a:solidFill>
                <a:srgbClr val="7F7F7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9" name="直接箭头连接符 228"/>
            <p:cNvCxnSpPr/>
            <p:nvPr/>
          </p:nvCxnSpPr>
          <p:spPr>
            <a:xfrm rot="16200000">
              <a:off x="5744" y="6143"/>
              <a:ext cx="0" cy="140"/>
            </a:xfrm>
            <a:prstGeom prst="straightConnector1">
              <a:avLst/>
            </a:prstGeom>
            <a:ln>
              <a:solidFill>
                <a:srgbClr val="7F7F7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组合 241"/>
          <p:cNvGrpSpPr/>
          <p:nvPr/>
        </p:nvGrpSpPr>
        <p:grpSpPr>
          <a:xfrm>
            <a:off x="1820787" y="0"/>
            <a:ext cx="4147820" cy="5410200"/>
            <a:chOff x="193" y="22"/>
            <a:chExt cx="6532" cy="8520"/>
          </a:xfrm>
        </p:grpSpPr>
        <p:sp>
          <p:nvSpPr>
            <p:cNvPr id="118" name="矩形 117"/>
            <p:cNvSpPr/>
            <p:nvPr/>
          </p:nvSpPr>
          <p:spPr>
            <a:xfrm>
              <a:off x="195" y="3330"/>
              <a:ext cx="6088" cy="5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500" b="1">
                  <a:solidFill>
                    <a:schemeClr val="bg1">
                      <a:lumMod val="50000"/>
                    </a:schemeClr>
                  </a:solidFill>
                  <a:sym typeface="+mn-ea"/>
                </a:rPr>
                <a:t>→</a:t>
              </a:r>
              <a:endParaRPr lang="zh-CN" altLang="en-US"/>
            </a:p>
          </p:txBody>
        </p:sp>
        <p:sp>
          <p:nvSpPr>
            <p:cNvPr id="164" name="矩形 163"/>
            <p:cNvSpPr/>
            <p:nvPr/>
          </p:nvSpPr>
          <p:spPr>
            <a:xfrm>
              <a:off x="198" y="241"/>
              <a:ext cx="6085" cy="28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63" name="组合 162"/>
            <p:cNvGrpSpPr/>
            <p:nvPr/>
          </p:nvGrpSpPr>
          <p:grpSpPr>
            <a:xfrm>
              <a:off x="268" y="242"/>
              <a:ext cx="6457" cy="2817"/>
              <a:chOff x="345" y="0"/>
              <a:chExt cx="6457" cy="2817"/>
            </a:xfrm>
          </p:grpSpPr>
          <p:grpSp>
            <p:nvGrpSpPr>
              <p:cNvPr id="28" name="组合 27"/>
              <p:cNvGrpSpPr/>
              <p:nvPr/>
            </p:nvGrpSpPr>
            <p:grpSpPr>
              <a:xfrm>
                <a:off x="345" y="810"/>
                <a:ext cx="1410" cy="1060"/>
                <a:chOff x="345" y="527"/>
                <a:chExt cx="1410" cy="1060"/>
              </a:xfrm>
            </p:grpSpPr>
            <p:sp>
              <p:nvSpPr>
                <p:cNvPr id="26" name="圆角矩形 25"/>
                <p:cNvSpPr/>
                <p:nvPr/>
              </p:nvSpPr>
              <p:spPr>
                <a:xfrm>
                  <a:off x="345" y="527"/>
                  <a:ext cx="1410" cy="1061"/>
                </a:xfrm>
                <a:prstGeom prst="roundRect">
                  <a:avLst>
                    <a:gd name="adj" fmla="val 11498"/>
                  </a:avLst>
                </a:prstGeom>
                <a:solidFill>
                  <a:srgbClr val="CDE4D0"/>
                </a:solidFill>
                <a:ln>
                  <a:solidFill>
                    <a:srgbClr val="4A6C53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" name="矩形 2"/>
                <p:cNvSpPr/>
                <p:nvPr/>
              </p:nvSpPr>
              <p:spPr>
                <a:xfrm>
                  <a:off x="418" y="613"/>
                  <a:ext cx="253" cy="197"/>
                </a:xfrm>
                <a:prstGeom prst="rect">
                  <a:avLst/>
                </a:prstGeom>
                <a:solidFill>
                  <a:srgbClr val="94C19B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418" y="810"/>
                  <a:ext cx="253" cy="197"/>
                </a:xfrm>
                <a:prstGeom prst="rect">
                  <a:avLst/>
                </a:prstGeom>
                <a:solidFill>
                  <a:srgbClr val="BDD39B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" name="矩形 5"/>
                <p:cNvSpPr/>
                <p:nvPr/>
              </p:nvSpPr>
              <p:spPr>
                <a:xfrm>
                  <a:off x="418" y="1007"/>
                  <a:ext cx="253" cy="197"/>
                </a:xfrm>
                <a:prstGeom prst="rect">
                  <a:avLst/>
                </a:prstGeom>
                <a:solidFill>
                  <a:srgbClr val="9FC18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" name="矩形 6"/>
                <p:cNvSpPr/>
                <p:nvPr/>
              </p:nvSpPr>
              <p:spPr>
                <a:xfrm>
                  <a:off x="418" y="1204"/>
                  <a:ext cx="253" cy="197"/>
                </a:xfrm>
                <a:prstGeom prst="rect">
                  <a:avLst/>
                </a:prstGeom>
                <a:solidFill>
                  <a:srgbClr val="BCCFA4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" name="矩形 7"/>
                <p:cNvSpPr/>
                <p:nvPr/>
              </p:nvSpPr>
              <p:spPr>
                <a:xfrm>
                  <a:off x="671" y="613"/>
                  <a:ext cx="253" cy="197"/>
                </a:xfrm>
                <a:prstGeom prst="rect">
                  <a:avLst/>
                </a:prstGeom>
                <a:solidFill>
                  <a:srgbClr val="B594A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671" y="810"/>
                  <a:ext cx="253" cy="197"/>
                </a:xfrm>
                <a:prstGeom prst="rect">
                  <a:avLst/>
                </a:prstGeom>
                <a:solidFill>
                  <a:srgbClr val="E0997F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" name="矩形 9"/>
                <p:cNvSpPr/>
                <p:nvPr/>
              </p:nvSpPr>
              <p:spPr>
                <a:xfrm>
                  <a:off x="671" y="1007"/>
                  <a:ext cx="253" cy="197"/>
                </a:xfrm>
                <a:prstGeom prst="rect">
                  <a:avLst/>
                </a:prstGeom>
                <a:solidFill>
                  <a:srgbClr val="D8A09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671" y="1204"/>
                  <a:ext cx="253" cy="197"/>
                </a:xfrm>
                <a:prstGeom prst="rect">
                  <a:avLst/>
                </a:prstGeom>
                <a:solidFill>
                  <a:srgbClr val="CE8B9C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924" y="613"/>
                  <a:ext cx="253" cy="197"/>
                </a:xfrm>
                <a:prstGeom prst="rect">
                  <a:avLst/>
                </a:prstGeom>
                <a:solidFill>
                  <a:srgbClr val="78B2B5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" name="矩形 12"/>
                <p:cNvSpPr/>
                <p:nvPr/>
              </p:nvSpPr>
              <p:spPr>
                <a:xfrm>
                  <a:off x="924" y="810"/>
                  <a:ext cx="253" cy="197"/>
                </a:xfrm>
                <a:prstGeom prst="rect">
                  <a:avLst/>
                </a:prstGeom>
                <a:solidFill>
                  <a:srgbClr val="B0A0B3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" name="矩形 13"/>
                <p:cNvSpPr/>
                <p:nvPr/>
              </p:nvSpPr>
              <p:spPr>
                <a:xfrm>
                  <a:off x="924" y="1007"/>
                  <a:ext cx="253" cy="197"/>
                </a:xfrm>
                <a:prstGeom prst="rect">
                  <a:avLst/>
                </a:prstGeom>
                <a:solidFill>
                  <a:srgbClr val="A79EB4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>
                  <a:off x="924" y="1204"/>
                  <a:ext cx="253" cy="197"/>
                </a:xfrm>
                <a:prstGeom prst="rect">
                  <a:avLst/>
                </a:prstGeom>
                <a:solidFill>
                  <a:srgbClr val="73AFB3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" name="矩形 15"/>
                <p:cNvSpPr/>
                <p:nvPr/>
              </p:nvSpPr>
              <p:spPr>
                <a:xfrm>
                  <a:off x="1177" y="613"/>
                  <a:ext cx="253" cy="197"/>
                </a:xfrm>
                <a:prstGeom prst="rect">
                  <a:avLst/>
                </a:prstGeom>
                <a:solidFill>
                  <a:srgbClr val="8EBF96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矩形 16"/>
                <p:cNvSpPr/>
                <p:nvPr/>
              </p:nvSpPr>
              <p:spPr>
                <a:xfrm>
                  <a:off x="1177" y="810"/>
                  <a:ext cx="253" cy="197"/>
                </a:xfrm>
                <a:prstGeom prst="rect">
                  <a:avLst/>
                </a:prstGeom>
                <a:solidFill>
                  <a:srgbClr val="F0D6A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" name="矩形 17"/>
                <p:cNvSpPr/>
                <p:nvPr/>
              </p:nvSpPr>
              <p:spPr>
                <a:xfrm>
                  <a:off x="1177" y="1007"/>
                  <a:ext cx="253" cy="197"/>
                </a:xfrm>
                <a:prstGeom prst="rect">
                  <a:avLst/>
                </a:prstGeom>
                <a:solidFill>
                  <a:srgbClr val="EAE5AE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矩形 18"/>
                <p:cNvSpPr/>
                <p:nvPr/>
              </p:nvSpPr>
              <p:spPr>
                <a:xfrm>
                  <a:off x="1177" y="1204"/>
                  <a:ext cx="253" cy="197"/>
                </a:xfrm>
                <a:prstGeom prst="rect">
                  <a:avLst/>
                </a:prstGeom>
                <a:solidFill>
                  <a:srgbClr val="EED295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1430" y="613"/>
                  <a:ext cx="253" cy="197"/>
                </a:xfrm>
                <a:prstGeom prst="rect">
                  <a:avLst/>
                </a:prstGeom>
                <a:solidFill>
                  <a:srgbClr val="2B633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矩形 20"/>
                <p:cNvSpPr/>
                <p:nvPr/>
              </p:nvSpPr>
              <p:spPr>
                <a:xfrm>
                  <a:off x="1430" y="810"/>
                  <a:ext cx="253" cy="197"/>
                </a:xfrm>
                <a:prstGeom prst="rect">
                  <a:avLst/>
                </a:prstGeom>
                <a:solidFill>
                  <a:srgbClr val="87B892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1430" y="1007"/>
                  <a:ext cx="253" cy="197"/>
                </a:xfrm>
                <a:prstGeom prst="rect">
                  <a:avLst/>
                </a:prstGeom>
                <a:solidFill>
                  <a:srgbClr val="8BBA9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1430" y="1204"/>
                  <a:ext cx="253" cy="197"/>
                </a:xfrm>
                <a:prstGeom prst="rect">
                  <a:avLst/>
                </a:prstGeom>
                <a:solidFill>
                  <a:srgbClr val="2A6039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文本框 23"/>
                <p:cNvSpPr txBox="1"/>
                <p:nvPr/>
              </p:nvSpPr>
              <p:spPr>
                <a:xfrm>
                  <a:off x="1410" y="527"/>
                  <a:ext cx="209" cy="1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800" i="1">
                      <a:solidFill>
                        <a:schemeClr val="bg1"/>
                      </a:solidFill>
                    </a:rPr>
                    <a:t>y</a:t>
                  </a:r>
                </a:p>
              </p:txBody>
            </p:sp>
            <p:sp>
              <p:nvSpPr>
                <p:cNvPr id="25" name="文本框 24"/>
                <p:cNvSpPr txBox="1"/>
                <p:nvPr/>
              </p:nvSpPr>
              <p:spPr>
                <a:xfrm>
                  <a:off x="615" y="1372"/>
                  <a:ext cx="910" cy="1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500"/>
                    <a:t>Task 1(SCM)</a:t>
                  </a:r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>
                <a:off x="1855" y="810"/>
                <a:ext cx="1410" cy="1060"/>
                <a:chOff x="345" y="527"/>
                <a:chExt cx="1410" cy="1060"/>
              </a:xfrm>
            </p:grpSpPr>
            <p:sp>
              <p:nvSpPr>
                <p:cNvPr id="30" name="圆角矩形 29"/>
                <p:cNvSpPr/>
                <p:nvPr/>
              </p:nvSpPr>
              <p:spPr>
                <a:xfrm>
                  <a:off x="345" y="527"/>
                  <a:ext cx="1410" cy="1061"/>
                </a:xfrm>
                <a:prstGeom prst="roundRect">
                  <a:avLst>
                    <a:gd name="adj" fmla="val 11498"/>
                  </a:avLst>
                </a:prstGeom>
                <a:solidFill>
                  <a:srgbClr val="CDE4D0"/>
                </a:solidFill>
                <a:ln>
                  <a:solidFill>
                    <a:srgbClr val="4A6C53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>
                  <a:off x="418" y="613"/>
                  <a:ext cx="253" cy="197"/>
                </a:xfrm>
                <a:prstGeom prst="rect">
                  <a:avLst/>
                </a:prstGeom>
                <a:solidFill>
                  <a:srgbClr val="94C19B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>
                  <a:off x="418" y="810"/>
                  <a:ext cx="253" cy="197"/>
                </a:xfrm>
                <a:prstGeom prst="rect">
                  <a:avLst/>
                </a:prstGeom>
                <a:solidFill>
                  <a:srgbClr val="BDD39B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>
                  <a:off x="418" y="1007"/>
                  <a:ext cx="253" cy="197"/>
                </a:xfrm>
                <a:prstGeom prst="rect">
                  <a:avLst/>
                </a:prstGeom>
                <a:solidFill>
                  <a:srgbClr val="9FC18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" name="矩形 33"/>
                <p:cNvSpPr/>
                <p:nvPr/>
              </p:nvSpPr>
              <p:spPr>
                <a:xfrm>
                  <a:off x="418" y="1204"/>
                  <a:ext cx="253" cy="197"/>
                </a:xfrm>
                <a:prstGeom prst="rect">
                  <a:avLst/>
                </a:prstGeom>
                <a:solidFill>
                  <a:srgbClr val="BCCFA4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5" name="矩形 34"/>
                <p:cNvSpPr/>
                <p:nvPr/>
              </p:nvSpPr>
              <p:spPr>
                <a:xfrm>
                  <a:off x="671" y="613"/>
                  <a:ext cx="253" cy="197"/>
                </a:xfrm>
                <a:prstGeom prst="rect">
                  <a:avLst/>
                </a:prstGeom>
                <a:solidFill>
                  <a:srgbClr val="B594A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6" name="矩形 35"/>
                <p:cNvSpPr/>
                <p:nvPr/>
              </p:nvSpPr>
              <p:spPr>
                <a:xfrm>
                  <a:off x="671" y="810"/>
                  <a:ext cx="253" cy="197"/>
                </a:xfrm>
                <a:prstGeom prst="rect">
                  <a:avLst/>
                </a:prstGeom>
                <a:solidFill>
                  <a:srgbClr val="E0997F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" name="矩形 36"/>
                <p:cNvSpPr/>
                <p:nvPr/>
              </p:nvSpPr>
              <p:spPr>
                <a:xfrm>
                  <a:off x="671" y="1007"/>
                  <a:ext cx="253" cy="197"/>
                </a:xfrm>
                <a:prstGeom prst="rect">
                  <a:avLst/>
                </a:prstGeom>
                <a:solidFill>
                  <a:srgbClr val="D8A09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矩形 37"/>
                <p:cNvSpPr/>
                <p:nvPr/>
              </p:nvSpPr>
              <p:spPr>
                <a:xfrm>
                  <a:off x="671" y="1204"/>
                  <a:ext cx="253" cy="197"/>
                </a:xfrm>
                <a:prstGeom prst="rect">
                  <a:avLst/>
                </a:prstGeom>
                <a:solidFill>
                  <a:srgbClr val="CE8B9C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矩形 38"/>
                <p:cNvSpPr/>
                <p:nvPr/>
              </p:nvSpPr>
              <p:spPr>
                <a:xfrm>
                  <a:off x="924" y="613"/>
                  <a:ext cx="253" cy="197"/>
                </a:xfrm>
                <a:prstGeom prst="rect">
                  <a:avLst/>
                </a:prstGeom>
                <a:solidFill>
                  <a:srgbClr val="78B2B5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" name="矩形 39"/>
                <p:cNvSpPr/>
                <p:nvPr/>
              </p:nvSpPr>
              <p:spPr>
                <a:xfrm>
                  <a:off x="924" y="810"/>
                  <a:ext cx="253" cy="197"/>
                </a:xfrm>
                <a:prstGeom prst="rect">
                  <a:avLst/>
                </a:prstGeom>
                <a:solidFill>
                  <a:srgbClr val="B0A0B3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矩形 40"/>
                <p:cNvSpPr/>
                <p:nvPr/>
              </p:nvSpPr>
              <p:spPr>
                <a:xfrm>
                  <a:off x="924" y="1007"/>
                  <a:ext cx="253" cy="197"/>
                </a:xfrm>
                <a:prstGeom prst="rect">
                  <a:avLst/>
                </a:prstGeom>
                <a:solidFill>
                  <a:srgbClr val="A79EB4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2" name="矩形 41"/>
                <p:cNvSpPr/>
                <p:nvPr/>
              </p:nvSpPr>
              <p:spPr>
                <a:xfrm>
                  <a:off x="924" y="1204"/>
                  <a:ext cx="253" cy="197"/>
                </a:xfrm>
                <a:prstGeom prst="rect">
                  <a:avLst/>
                </a:prstGeom>
                <a:solidFill>
                  <a:srgbClr val="73AFB3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" name="矩形 42"/>
                <p:cNvSpPr/>
                <p:nvPr/>
              </p:nvSpPr>
              <p:spPr>
                <a:xfrm>
                  <a:off x="1177" y="613"/>
                  <a:ext cx="253" cy="197"/>
                </a:xfrm>
                <a:prstGeom prst="rect">
                  <a:avLst/>
                </a:prstGeom>
                <a:solidFill>
                  <a:srgbClr val="8EBF96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" name="矩形 43"/>
                <p:cNvSpPr/>
                <p:nvPr/>
              </p:nvSpPr>
              <p:spPr>
                <a:xfrm>
                  <a:off x="1177" y="810"/>
                  <a:ext cx="253" cy="197"/>
                </a:xfrm>
                <a:prstGeom prst="rect">
                  <a:avLst/>
                </a:prstGeom>
                <a:solidFill>
                  <a:srgbClr val="F0D6A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5" name="矩形 44"/>
                <p:cNvSpPr/>
                <p:nvPr/>
              </p:nvSpPr>
              <p:spPr>
                <a:xfrm>
                  <a:off x="1177" y="1007"/>
                  <a:ext cx="253" cy="197"/>
                </a:xfrm>
                <a:prstGeom prst="rect">
                  <a:avLst/>
                </a:prstGeom>
                <a:solidFill>
                  <a:srgbClr val="EAE5AE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6" name="矩形 45"/>
                <p:cNvSpPr/>
                <p:nvPr/>
              </p:nvSpPr>
              <p:spPr>
                <a:xfrm>
                  <a:off x="1177" y="1204"/>
                  <a:ext cx="253" cy="197"/>
                </a:xfrm>
                <a:prstGeom prst="rect">
                  <a:avLst/>
                </a:prstGeom>
                <a:solidFill>
                  <a:srgbClr val="EED295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7" name="矩形 46"/>
                <p:cNvSpPr/>
                <p:nvPr/>
              </p:nvSpPr>
              <p:spPr>
                <a:xfrm>
                  <a:off x="1430" y="613"/>
                  <a:ext cx="253" cy="197"/>
                </a:xfrm>
                <a:prstGeom prst="rect">
                  <a:avLst/>
                </a:prstGeom>
                <a:solidFill>
                  <a:srgbClr val="2B633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8" name="矩形 47"/>
                <p:cNvSpPr/>
                <p:nvPr/>
              </p:nvSpPr>
              <p:spPr>
                <a:xfrm>
                  <a:off x="1430" y="810"/>
                  <a:ext cx="253" cy="197"/>
                </a:xfrm>
                <a:prstGeom prst="rect">
                  <a:avLst/>
                </a:prstGeom>
                <a:solidFill>
                  <a:srgbClr val="87B892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" name="矩形 48"/>
                <p:cNvSpPr/>
                <p:nvPr/>
              </p:nvSpPr>
              <p:spPr>
                <a:xfrm>
                  <a:off x="1430" y="1007"/>
                  <a:ext cx="253" cy="197"/>
                </a:xfrm>
                <a:prstGeom prst="rect">
                  <a:avLst/>
                </a:prstGeom>
                <a:solidFill>
                  <a:srgbClr val="8BBA9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" name="矩形 49"/>
                <p:cNvSpPr/>
                <p:nvPr/>
              </p:nvSpPr>
              <p:spPr>
                <a:xfrm>
                  <a:off x="1430" y="1204"/>
                  <a:ext cx="253" cy="197"/>
                </a:xfrm>
                <a:prstGeom prst="rect">
                  <a:avLst/>
                </a:prstGeom>
                <a:solidFill>
                  <a:srgbClr val="2A6039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文本框 50"/>
                <p:cNvSpPr txBox="1"/>
                <p:nvPr/>
              </p:nvSpPr>
              <p:spPr>
                <a:xfrm>
                  <a:off x="1410" y="527"/>
                  <a:ext cx="209" cy="1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800" i="1">
                      <a:solidFill>
                        <a:schemeClr val="bg1"/>
                      </a:solidFill>
                    </a:rPr>
                    <a:t>y</a:t>
                  </a:r>
                </a:p>
              </p:txBody>
            </p:sp>
            <p:sp>
              <p:nvSpPr>
                <p:cNvPr id="52" name="文本框 51"/>
                <p:cNvSpPr txBox="1"/>
                <p:nvPr/>
              </p:nvSpPr>
              <p:spPr>
                <a:xfrm>
                  <a:off x="615" y="1372"/>
                  <a:ext cx="910" cy="1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500"/>
                    <a:t>Task 2(BNN)</a:t>
                  </a:r>
                </a:p>
              </p:txBody>
            </p:sp>
          </p:grpSp>
          <p:grpSp>
            <p:nvGrpSpPr>
              <p:cNvPr id="53" name="组合 52"/>
              <p:cNvGrpSpPr/>
              <p:nvPr/>
            </p:nvGrpSpPr>
            <p:grpSpPr>
              <a:xfrm>
                <a:off x="3353" y="810"/>
                <a:ext cx="1410" cy="1061"/>
                <a:chOff x="345" y="527"/>
                <a:chExt cx="1410" cy="1061"/>
              </a:xfrm>
            </p:grpSpPr>
            <p:sp>
              <p:nvSpPr>
                <p:cNvPr id="54" name="圆角矩形 53"/>
                <p:cNvSpPr/>
                <p:nvPr/>
              </p:nvSpPr>
              <p:spPr>
                <a:xfrm>
                  <a:off x="345" y="527"/>
                  <a:ext cx="1410" cy="1061"/>
                </a:xfrm>
                <a:prstGeom prst="roundRect">
                  <a:avLst>
                    <a:gd name="adj" fmla="val 11498"/>
                  </a:avLst>
                </a:prstGeom>
                <a:solidFill>
                  <a:srgbClr val="CDE4D0"/>
                </a:solidFill>
                <a:ln>
                  <a:solidFill>
                    <a:srgbClr val="4A6C53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" name="矩形 54"/>
                <p:cNvSpPr/>
                <p:nvPr/>
              </p:nvSpPr>
              <p:spPr>
                <a:xfrm>
                  <a:off x="418" y="613"/>
                  <a:ext cx="253" cy="197"/>
                </a:xfrm>
                <a:prstGeom prst="rect">
                  <a:avLst/>
                </a:prstGeom>
                <a:solidFill>
                  <a:srgbClr val="94C19B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6" name="矩形 55"/>
                <p:cNvSpPr/>
                <p:nvPr/>
              </p:nvSpPr>
              <p:spPr>
                <a:xfrm>
                  <a:off x="418" y="810"/>
                  <a:ext cx="253" cy="197"/>
                </a:xfrm>
                <a:prstGeom prst="rect">
                  <a:avLst/>
                </a:prstGeom>
                <a:solidFill>
                  <a:srgbClr val="BDD39B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" name="矩形 56"/>
                <p:cNvSpPr/>
                <p:nvPr/>
              </p:nvSpPr>
              <p:spPr>
                <a:xfrm>
                  <a:off x="418" y="1007"/>
                  <a:ext cx="253" cy="197"/>
                </a:xfrm>
                <a:prstGeom prst="rect">
                  <a:avLst/>
                </a:prstGeom>
                <a:solidFill>
                  <a:srgbClr val="9FC18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" name="矩形 57"/>
                <p:cNvSpPr/>
                <p:nvPr/>
              </p:nvSpPr>
              <p:spPr>
                <a:xfrm>
                  <a:off x="418" y="1204"/>
                  <a:ext cx="253" cy="197"/>
                </a:xfrm>
                <a:prstGeom prst="rect">
                  <a:avLst/>
                </a:prstGeom>
                <a:solidFill>
                  <a:srgbClr val="BCCFA4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9" name="矩形 58"/>
                <p:cNvSpPr/>
                <p:nvPr/>
              </p:nvSpPr>
              <p:spPr>
                <a:xfrm>
                  <a:off x="671" y="613"/>
                  <a:ext cx="253" cy="197"/>
                </a:xfrm>
                <a:prstGeom prst="rect">
                  <a:avLst/>
                </a:prstGeom>
                <a:solidFill>
                  <a:srgbClr val="B594A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0" name="矩形 59"/>
                <p:cNvSpPr/>
                <p:nvPr/>
              </p:nvSpPr>
              <p:spPr>
                <a:xfrm>
                  <a:off x="671" y="810"/>
                  <a:ext cx="253" cy="197"/>
                </a:xfrm>
                <a:prstGeom prst="rect">
                  <a:avLst/>
                </a:prstGeom>
                <a:solidFill>
                  <a:srgbClr val="E0997F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1" name="矩形 60"/>
                <p:cNvSpPr/>
                <p:nvPr/>
              </p:nvSpPr>
              <p:spPr>
                <a:xfrm>
                  <a:off x="671" y="1007"/>
                  <a:ext cx="253" cy="197"/>
                </a:xfrm>
                <a:prstGeom prst="rect">
                  <a:avLst/>
                </a:prstGeom>
                <a:solidFill>
                  <a:srgbClr val="D8A09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2" name="矩形 61"/>
                <p:cNvSpPr/>
                <p:nvPr/>
              </p:nvSpPr>
              <p:spPr>
                <a:xfrm>
                  <a:off x="671" y="1204"/>
                  <a:ext cx="253" cy="197"/>
                </a:xfrm>
                <a:prstGeom prst="rect">
                  <a:avLst/>
                </a:prstGeom>
                <a:solidFill>
                  <a:srgbClr val="CE8B9C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" name="矩形 62"/>
                <p:cNvSpPr/>
                <p:nvPr/>
              </p:nvSpPr>
              <p:spPr>
                <a:xfrm>
                  <a:off x="924" y="613"/>
                  <a:ext cx="253" cy="197"/>
                </a:xfrm>
                <a:prstGeom prst="rect">
                  <a:avLst/>
                </a:prstGeom>
                <a:solidFill>
                  <a:srgbClr val="78B2B5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4" name="矩形 63"/>
                <p:cNvSpPr/>
                <p:nvPr/>
              </p:nvSpPr>
              <p:spPr>
                <a:xfrm>
                  <a:off x="924" y="810"/>
                  <a:ext cx="253" cy="197"/>
                </a:xfrm>
                <a:prstGeom prst="rect">
                  <a:avLst/>
                </a:prstGeom>
                <a:solidFill>
                  <a:srgbClr val="B0A0B3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5" name="矩形 64"/>
                <p:cNvSpPr/>
                <p:nvPr/>
              </p:nvSpPr>
              <p:spPr>
                <a:xfrm>
                  <a:off x="924" y="1007"/>
                  <a:ext cx="253" cy="197"/>
                </a:xfrm>
                <a:prstGeom prst="rect">
                  <a:avLst/>
                </a:prstGeom>
                <a:solidFill>
                  <a:srgbClr val="A79EB4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6" name="矩形 65"/>
                <p:cNvSpPr/>
                <p:nvPr/>
              </p:nvSpPr>
              <p:spPr>
                <a:xfrm>
                  <a:off x="924" y="1204"/>
                  <a:ext cx="253" cy="197"/>
                </a:xfrm>
                <a:prstGeom prst="rect">
                  <a:avLst/>
                </a:prstGeom>
                <a:solidFill>
                  <a:srgbClr val="73AFB3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" name="矩形 66"/>
                <p:cNvSpPr/>
                <p:nvPr/>
              </p:nvSpPr>
              <p:spPr>
                <a:xfrm>
                  <a:off x="1177" y="613"/>
                  <a:ext cx="253" cy="197"/>
                </a:xfrm>
                <a:prstGeom prst="rect">
                  <a:avLst/>
                </a:prstGeom>
                <a:solidFill>
                  <a:srgbClr val="8EBF96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" name="矩形 67"/>
                <p:cNvSpPr/>
                <p:nvPr/>
              </p:nvSpPr>
              <p:spPr>
                <a:xfrm>
                  <a:off x="1177" y="810"/>
                  <a:ext cx="253" cy="197"/>
                </a:xfrm>
                <a:prstGeom prst="rect">
                  <a:avLst/>
                </a:prstGeom>
                <a:solidFill>
                  <a:srgbClr val="F0D6A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9" name="矩形 68"/>
                <p:cNvSpPr/>
                <p:nvPr/>
              </p:nvSpPr>
              <p:spPr>
                <a:xfrm>
                  <a:off x="1177" y="1007"/>
                  <a:ext cx="253" cy="197"/>
                </a:xfrm>
                <a:prstGeom prst="rect">
                  <a:avLst/>
                </a:prstGeom>
                <a:solidFill>
                  <a:srgbClr val="EAE5AE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0" name="矩形 69"/>
                <p:cNvSpPr/>
                <p:nvPr/>
              </p:nvSpPr>
              <p:spPr>
                <a:xfrm>
                  <a:off x="1177" y="1204"/>
                  <a:ext cx="253" cy="197"/>
                </a:xfrm>
                <a:prstGeom prst="rect">
                  <a:avLst/>
                </a:prstGeom>
                <a:solidFill>
                  <a:srgbClr val="EED295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矩形 70"/>
                <p:cNvSpPr/>
                <p:nvPr/>
              </p:nvSpPr>
              <p:spPr>
                <a:xfrm>
                  <a:off x="1430" y="613"/>
                  <a:ext cx="253" cy="197"/>
                </a:xfrm>
                <a:prstGeom prst="rect">
                  <a:avLst/>
                </a:prstGeom>
                <a:solidFill>
                  <a:srgbClr val="2B633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2" name="矩形 71"/>
                <p:cNvSpPr/>
                <p:nvPr/>
              </p:nvSpPr>
              <p:spPr>
                <a:xfrm>
                  <a:off x="1430" y="810"/>
                  <a:ext cx="253" cy="197"/>
                </a:xfrm>
                <a:prstGeom prst="rect">
                  <a:avLst/>
                </a:prstGeom>
                <a:solidFill>
                  <a:srgbClr val="87B892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72"/>
                <p:cNvSpPr/>
                <p:nvPr/>
              </p:nvSpPr>
              <p:spPr>
                <a:xfrm>
                  <a:off x="1430" y="1007"/>
                  <a:ext cx="253" cy="197"/>
                </a:xfrm>
                <a:prstGeom prst="rect">
                  <a:avLst/>
                </a:prstGeom>
                <a:solidFill>
                  <a:srgbClr val="8BBA9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矩形 73"/>
                <p:cNvSpPr/>
                <p:nvPr/>
              </p:nvSpPr>
              <p:spPr>
                <a:xfrm>
                  <a:off x="1430" y="1204"/>
                  <a:ext cx="253" cy="197"/>
                </a:xfrm>
                <a:prstGeom prst="rect">
                  <a:avLst/>
                </a:prstGeom>
                <a:solidFill>
                  <a:srgbClr val="2A6039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" name="文本框 74"/>
                <p:cNvSpPr txBox="1"/>
                <p:nvPr/>
              </p:nvSpPr>
              <p:spPr>
                <a:xfrm>
                  <a:off x="1410" y="527"/>
                  <a:ext cx="209" cy="1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800" i="1">
                      <a:solidFill>
                        <a:schemeClr val="bg1"/>
                      </a:solidFill>
                    </a:rPr>
                    <a:t>y</a:t>
                  </a:r>
                </a:p>
              </p:txBody>
            </p:sp>
            <p:sp>
              <p:nvSpPr>
                <p:cNvPr id="76" name="文本框 75"/>
                <p:cNvSpPr txBox="1"/>
                <p:nvPr/>
              </p:nvSpPr>
              <p:spPr>
                <a:xfrm>
                  <a:off x="773" y="1135"/>
                  <a:ext cx="910" cy="1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1600"/>
                    <a:t>…</a:t>
                  </a:r>
                </a:p>
              </p:txBody>
            </p:sp>
          </p:grpSp>
          <p:grpSp>
            <p:nvGrpSpPr>
              <p:cNvPr id="77" name="组合 76"/>
              <p:cNvGrpSpPr/>
              <p:nvPr/>
            </p:nvGrpSpPr>
            <p:grpSpPr>
              <a:xfrm>
                <a:off x="4845" y="810"/>
                <a:ext cx="1410" cy="1060"/>
                <a:chOff x="345" y="527"/>
                <a:chExt cx="1410" cy="1060"/>
              </a:xfrm>
            </p:grpSpPr>
            <p:sp>
              <p:nvSpPr>
                <p:cNvPr id="78" name="圆角矩形 77"/>
                <p:cNvSpPr/>
                <p:nvPr/>
              </p:nvSpPr>
              <p:spPr>
                <a:xfrm>
                  <a:off x="345" y="527"/>
                  <a:ext cx="1410" cy="1061"/>
                </a:xfrm>
                <a:prstGeom prst="roundRect">
                  <a:avLst>
                    <a:gd name="adj" fmla="val 11498"/>
                  </a:avLst>
                </a:prstGeom>
                <a:solidFill>
                  <a:srgbClr val="CDE4D0"/>
                </a:solidFill>
                <a:ln>
                  <a:solidFill>
                    <a:srgbClr val="4A6C53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9" name="矩形 78"/>
                <p:cNvSpPr/>
                <p:nvPr/>
              </p:nvSpPr>
              <p:spPr>
                <a:xfrm>
                  <a:off x="418" y="613"/>
                  <a:ext cx="253" cy="197"/>
                </a:xfrm>
                <a:prstGeom prst="rect">
                  <a:avLst/>
                </a:prstGeom>
                <a:solidFill>
                  <a:srgbClr val="94C19B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" name="矩形 79"/>
                <p:cNvSpPr/>
                <p:nvPr/>
              </p:nvSpPr>
              <p:spPr>
                <a:xfrm>
                  <a:off x="418" y="810"/>
                  <a:ext cx="253" cy="197"/>
                </a:xfrm>
                <a:prstGeom prst="rect">
                  <a:avLst/>
                </a:prstGeom>
                <a:solidFill>
                  <a:srgbClr val="BDD39B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1" name="矩形 80"/>
                <p:cNvSpPr/>
                <p:nvPr/>
              </p:nvSpPr>
              <p:spPr>
                <a:xfrm>
                  <a:off x="418" y="1007"/>
                  <a:ext cx="253" cy="197"/>
                </a:xfrm>
                <a:prstGeom prst="rect">
                  <a:avLst/>
                </a:prstGeom>
                <a:solidFill>
                  <a:srgbClr val="9FC18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矩形 81"/>
                <p:cNvSpPr/>
                <p:nvPr/>
              </p:nvSpPr>
              <p:spPr>
                <a:xfrm>
                  <a:off x="418" y="1204"/>
                  <a:ext cx="253" cy="197"/>
                </a:xfrm>
                <a:prstGeom prst="rect">
                  <a:avLst/>
                </a:prstGeom>
                <a:solidFill>
                  <a:srgbClr val="BCCFA4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3" name="矩形 82"/>
                <p:cNvSpPr/>
                <p:nvPr/>
              </p:nvSpPr>
              <p:spPr>
                <a:xfrm>
                  <a:off x="671" y="613"/>
                  <a:ext cx="253" cy="197"/>
                </a:xfrm>
                <a:prstGeom prst="rect">
                  <a:avLst/>
                </a:prstGeom>
                <a:solidFill>
                  <a:srgbClr val="B594A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4" name="矩形 83"/>
                <p:cNvSpPr/>
                <p:nvPr/>
              </p:nvSpPr>
              <p:spPr>
                <a:xfrm>
                  <a:off x="671" y="810"/>
                  <a:ext cx="253" cy="197"/>
                </a:xfrm>
                <a:prstGeom prst="rect">
                  <a:avLst/>
                </a:prstGeom>
                <a:solidFill>
                  <a:srgbClr val="E0997F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5" name="矩形 84"/>
                <p:cNvSpPr/>
                <p:nvPr/>
              </p:nvSpPr>
              <p:spPr>
                <a:xfrm>
                  <a:off x="671" y="1007"/>
                  <a:ext cx="253" cy="197"/>
                </a:xfrm>
                <a:prstGeom prst="rect">
                  <a:avLst/>
                </a:prstGeom>
                <a:solidFill>
                  <a:srgbClr val="D8A09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6" name="矩形 85"/>
                <p:cNvSpPr/>
                <p:nvPr/>
              </p:nvSpPr>
              <p:spPr>
                <a:xfrm>
                  <a:off x="671" y="1204"/>
                  <a:ext cx="253" cy="197"/>
                </a:xfrm>
                <a:prstGeom prst="rect">
                  <a:avLst/>
                </a:prstGeom>
                <a:solidFill>
                  <a:srgbClr val="CE8B9C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7" name="矩形 86"/>
                <p:cNvSpPr/>
                <p:nvPr/>
              </p:nvSpPr>
              <p:spPr>
                <a:xfrm>
                  <a:off x="924" y="613"/>
                  <a:ext cx="253" cy="197"/>
                </a:xfrm>
                <a:prstGeom prst="rect">
                  <a:avLst/>
                </a:prstGeom>
                <a:solidFill>
                  <a:srgbClr val="78B2B5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8" name="矩形 87"/>
                <p:cNvSpPr/>
                <p:nvPr/>
              </p:nvSpPr>
              <p:spPr>
                <a:xfrm>
                  <a:off x="924" y="810"/>
                  <a:ext cx="253" cy="197"/>
                </a:xfrm>
                <a:prstGeom prst="rect">
                  <a:avLst/>
                </a:prstGeom>
                <a:solidFill>
                  <a:srgbClr val="B0A0B3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9" name="矩形 88"/>
                <p:cNvSpPr/>
                <p:nvPr/>
              </p:nvSpPr>
              <p:spPr>
                <a:xfrm>
                  <a:off x="924" y="1007"/>
                  <a:ext cx="253" cy="197"/>
                </a:xfrm>
                <a:prstGeom prst="rect">
                  <a:avLst/>
                </a:prstGeom>
                <a:solidFill>
                  <a:srgbClr val="A79EB4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0" name="矩形 89"/>
                <p:cNvSpPr/>
                <p:nvPr/>
              </p:nvSpPr>
              <p:spPr>
                <a:xfrm>
                  <a:off x="924" y="1204"/>
                  <a:ext cx="253" cy="197"/>
                </a:xfrm>
                <a:prstGeom prst="rect">
                  <a:avLst/>
                </a:prstGeom>
                <a:solidFill>
                  <a:srgbClr val="73AFB3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1" name="矩形 90"/>
                <p:cNvSpPr/>
                <p:nvPr/>
              </p:nvSpPr>
              <p:spPr>
                <a:xfrm>
                  <a:off x="1177" y="613"/>
                  <a:ext cx="253" cy="197"/>
                </a:xfrm>
                <a:prstGeom prst="rect">
                  <a:avLst/>
                </a:prstGeom>
                <a:solidFill>
                  <a:srgbClr val="8EBF96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2" name="矩形 91"/>
                <p:cNvSpPr/>
                <p:nvPr/>
              </p:nvSpPr>
              <p:spPr>
                <a:xfrm>
                  <a:off x="1177" y="810"/>
                  <a:ext cx="253" cy="197"/>
                </a:xfrm>
                <a:prstGeom prst="rect">
                  <a:avLst/>
                </a:prstGeom>
                <a:solidFill>
                  <a:srgbClr val="F0D6A0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3" name="矩形 92"/>
                <p:cNvSpPr/>
                <p:nvPr/>
              </p:nvSpPr>
              <p:spPr>
                <a:xfrm>
                  <a:off x="1177" y="1007"/>
                  <a:ext cx="253" cy="197"/>
                </a:xfrm>
                <a:prstGeom prst="rect">
                  <a:avLst/>
                </a:prstGeom>
                <a:solidFill>
                  <a:srgbClr val="EAE5AE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4" name="矩形 93"/>
                <p:cNvSpPr/>
                <p:nvPr/>
              </p:nvSpPr>
              <p:spPr>
                <a:xfrm>
                  <a:off x="1177" y="1204"/>
                  <a:ext cx="253" cy="197"/>
                </a:xfrm>
                <a:prstGeom prst="rect">
                  <a:avLst/>
                </a:prstGeom>
                <a:solidFill>
                  <a:srgbClr val="EED295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5" name="矩形 94"/>
                <p:cNvSpPr/>
                <p:nvPr/>
              </p:nvSpPr>
              <p:spPr>
                <a:xfrm>
                  <a:off x="1430" y="613"/>
                  <a:ext cx="253" cy="197"/>
                </a:xfrm>
                <a:prstGeom prst="rect">
                  <a:avLst/>
                </a:prstGeom>
                <a:solidFill>
                  <a:srgbClr val="2B6337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6" name="矩形 95"/>
                <p:cNvSpPr/>
                <p:nvPr/>
              </p:nvSpPr>
              <p:spPr>
                <a:xfrm>
                  <a:off x="1430" y="810"/>
                  <a:ext cx="253" cy="197"/>
                </a:xfrm>
                <a:prstGeom prst="rect">
                  <a:avLst/>
                </a:prstGeom>
                <a:solidFill>
                  <a:srgbClr val="87B892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7" name="矩形 96"/>
                <p:cNvSpPr/>
                <p:nvPr/>
              </p:nvSpPr>
              <p:spPr>
                <a:xfrm>
                  <a:off x="1430" y="1007"/>
                  <a:ext cx="253" cy="197"/>
                </a:xfrm>
                <a:prstGeom prst="rect">
                  <a:avLst/>
                </a:prstGeom>
                <a:solidFill>
                  <a:srgbClr val="8BBA9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1430" y="1204"/>
                  <a:ext cx="253" cy="197"/>
                </a:xfrm>
                <a:prstGeom prst="rect">
                  <a:avLst/>
                </a:prstGeom>
                <a:solidFill>
                  <a:srgbClr val="2A6039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9" name="文本框 98"/>
                <p:cNvSpPr txBox="1"/>
                <p:nvPr/>
              </p:nvSpPr>
              <p:spPr>
                <a:xfrm>
                  <a:off x="1410" y="527"/>
                  <a:ext cx="209" cy="1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800" i="1">
                      <a:solidFill>
                        <a:schemeClr val="bg1"/>
                      </a:solidFill>
                    </a:rPr>
                    <a:t>y</a:t>
                  </a:r>
                </a:p>
              </p:txBody>
            </p:sp>
            <p:sp>
              <p:nvSpPr>
                <p:cNvPr id="100" name="文本框 99"/>
                <p:cNvSpPr txBox="1"/>
                <p:nvPr/>
              </p:nvSpPr>
              <p:spPr>
                <a:xfrm>
                  <a:off x="615" y="1372"/>
                  <a:ext cx="910" cy="1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500"/>
                    <a:t>Task </a:t>
                  </a:r>
                  <a:r>
                    <a:rPr lang="en-US" altLang="zh-CN" sz="500" i="1"/>
                    <a:t>m </a:t>
                  </a:r>
                  <a:r>
                    <a:rPr lang="en-US" altLang="zh-CN" sz="500"/>
                    <a:t>(SCM)</a:t>
                  </a:r>
                </a:p>
              </p:txBody>
            </p:sp>
          </p:grpSp>
          <p:grpSp>
            <p:nvGrpSpPr>
              <p:cNvPr id="107" name="组合 106"/>
              <p:cNvGrpSpPr/>
              <p:nvPr/>
            </p:nvGrpSpPr>
            <p:grpSpPr>
              <a:xfrm>
                <a:off x="1726" y="2159"/>
                <a:ext cx="3359" cy="320"/>
                <a:chOff x="1755" y="2134"/>
                <a:chExt cx="3359" cy="320"/>
              </a:xfrm>
            </p:grpSpPr>
            <p:sp>
              <p:nvSpPr>
                <p:cNvPr id="101" name="圆角矩形 100"/>
                <p:cNvSpPr/>
                <p:nvPr/>
              </p:nvSpPr>
              <p:spPr>
                <a:xfrm>
                  <a:off x="1755" y="2134"/>
                  <a:ext cx="3326" cy="320"/>
                </a:xfrm>
                <a:prstGeom prst="roundRect">
                  <a:avLst/>
                </a:prstGeom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pic>
              <p:nvPicPr>
                <p:cNvPr id="106" name="图片 105"/>
                <p:cNvPicPr>
                  <a:picLocks noChangeAspect="1"/>
                </p:cNvPicPr>
                <p:nvPr/>
              </p:nvPicPr>
              <p:blipFill>
                <a:blip r:embed="rId38"/>
                <a:srcRect l="24265" t="20244" r="23341" b="21220"/>
                <a:stretch>
                  <a:fillRect/>
                </a:stretch>
              </p:blipFill>
              <p:spPr>
                <a:xfrm>
                  <a:off x="1784" y="2172"/>
                  <a:ext cx="3331" cy="282"/>
                </a:xfrm>
                <a:prstGeom prst="rect">
                  <a:avLst/>
                </a:prstGeom>
              </p:spPr>
            </p:pic>
          </p:grpSp>
          <p:sp>
            <p:nvSpPr>
              <p:cNvPr id="120" name="文本框 119"/>
              <p:cNvSpPr txBox="1"/>
              <p:nvPr/>
            </p:nvSpPr>
            <p:spPr>
              <a:xfrm>
                <a:off x="3302" y="2479"/>
                <a:ext cx="3500" cy="1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700" b="1"/>
                  <a:t>Pre-trained weights </a:t>
                </a:r>
                <a:r>
                  <a:rPr lang="en-US" altLang="zh-CN" sz="700" b="1" i="1"/>
                  <a:t>θ</a:t>
                </a:r>
                <a:r>
                  <a:rPr lang="en-US" altLang="zh-CN" sz="700" b="1"/>
                  <a:t>* </a:t>
                </a:r>
              </a:p>
            </p:txBody>
          </p:sp>
          <p:sp>
            <p:nvSpPr>
              <p:cNvPr id="123" name="下箭头 122"/>
              <p:cNvSpPr/>
              <p:nvPr>
                <p:custDataLst>
                  <p:tags r:id="rId35"/>
                </p:custDataLst>
              </p:nvPr>
            </p:nvSpPr>
            <p:spPr>
              <a:xfrm flipH="1">
                <a:off x="3193" y="2479"/>
                <a:ext cx="233" cy="339"/>
              </a:xfrm>
              <a:prstGeom prst="downArrow">
                <a:avLst/>
              </a:prstGeom>
              <a:solidFill>
                <a:srgbClr val="3B533E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pic>
            <p:nvPicPr>
              <p:cNvPr id="151" name="图片 150"/>
              <p:cNvPicPr>
                <a:picLocks noChangeAspect="1"/>
              </p:cNvPicPr>
              <p:nvPr/>
            </p:nvPicPr>
            <p:blipFill>
              <a:blip r:embed="rId39">
                <a:clrChange>
                  <a:clrFrom>
                    <a:srgbClr val="E4EDE8">
                      <a:alpha val="100000"/>
                    </a:srgbClr>
                  </a:clrFrom>
                  <a:clrTo>
                    <a:srgbClr val="E4EDE8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2687" y="0"/>
                <a:ext cx="1300" cy="743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cxnSp>
            <p:nvCxnSpPr>
              <p:cNvPr id="154" name="肘形连接符 153"/>
              <p:cNvCxnSpPr/>
              <p:nvPr/>
            </p:nvCxnSpPr>
            <p:spPr>
              <a:xfrm rot="10800000" flipV="1">
                <a:off x="1050" y="372"/>
                <a:ext cx="1692" cy="438"/>
              </a:xfrm>
              <a:prstGeom prst="bentConnector2">
                <a:avLst/>
              </a:prstGeom>
              <a:ln w="9525">
                <a:solidFill>
                  <a:srgbClr val="3B533E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5" name="肘形连接符 154"/>
              <p:cNvCxnSpPr/>
              <p:nvPr/>
            </p:nvCxnSpPr>
            <p:spPr>
              <a:xfrm rot="10800000" flipH="1" flipV="1">
                <a:off x="3868" y="372"/>
                <a:ext cx="1692" cy="438"/>
              </a:xfrm>
              <a:prstGeom prst="bentConnector2">
                <a:avLst/>
              </a:prstGeom>
              <a:ln w="9525">
                <a:solidFill>
                  <a:srgbClr val="3B533E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7" name="肘形连接符 156"/>
              <p:cNvCxnSpPr>
                <a:endCxn id="101" idx="1"/>
              </p:cNvCxnSpPr>
              <p:nvPr/>
            </p:nvCxnSpPr>
            <p:spPr>
              <a:xfrm>
                <a:off x="1074" y="1875"/>
                <a:ext cx="652" cy="444"/>
              </a:xfrm>
              <a:prstGeom prst="bentConnector3">
                <a:avLst>
                  <a:gd name="adj1" fmla="val -920"/>
                </a:avLst>
              </a:prstGeom>
              <a:ln w="9525">
                <a:solidFill>
                  <a:srgbClr val="3B533E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8" name="肘形连接符 157"/>
              <p:cNvCxnSpPr/>
              <p:nvPr/>
            </p:nvCxnSpPr>
            <p:spPr>
              <a:xfrm rot="10800000" flipV="1">
                <a:off x="5044" y="1873"/>
                <a:ext cx="519" cy="446"/>
              </a:xfrm>
              <a:prstGeom prst="bentConnector3">
                <a:avLst>
                  <a:gd name="adj1" fmla="val -770"/>
                </a:avLst>
              </a:prstGeom>
              <a:ln w="9525">
                <a:solidFill>
                  <a:srgbClr val="3B533E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9" name="直接箭头连接符 158"/>
              <p:cNvCxnSpPr>
                <a:stCxn id="54" idx="2"/>
              </p:cNvCxnSpPr>
              <p:nvPr/>
            </p:nvCxnSpPr>
            <p:spPr>
              <a:xfrm>
                <a:off x="4058" y="1871"/>
                <a:ext cx="0" cy="274"/>
              </a:xfrm>
              <a:prstGeom prst="straightConnector1">
                <a:avLst/>
              </a:prstGeom>
              <a:ln w="9525">
                <a:solidFill>
                  <a:srgbClr val="3B533E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0" name="直接箭头连接符 159"/>
              <p:cNvCxnSpPr/>
              <p:nvPr/>
            </p:nvCxnSpPr>
            <p:spPr>
              <a:xfrm>
                <a:off x="2560" y="1873"/>
                <a:ext cx="0" cy="274"/>
              </a:xfrm>
              <a:prstGeom prst="straightConnector1">
                <a:avLst/>
              </a:prstGeom>
              <a:ln w="9525">
                <a:solidFill>
                  <a:srgbClr val="3B533E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1" name="直接箭头连接符 160"/>
              <p:cNvCxnSpPr/>
              <p:nvPr/>
            </p:nvCxnSpPr>
            <p:spPr>
              <a:xfrm flipH="1">
                <a:off x="4180" y="376"/>
                <a:ext cx="5" cy="434"/>
              </a:xfrm>
              <a:prstGeom prst="straightConnector1">
                <a:avLst/>
              </a:prstGeom>
              <a:ln w="9525">
                <a:solidFill>
                  <a:srgbClr val="3B533E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2" name="直接箭头连接符 161"/>
              <p:cNvCxnSpPr/>
              <p:nvPr/>
            </p:nvCxnSpPr>
            <p:spPr>
              <a:xfrm flipH="1">
                <a:off x="2434" y="376"/>
                <a:ext cx="5" cy="434"/>
              </a:xfrm>
              <a:prstGeom prst="straightConnector1">
                <a:avLst/>
              </a:prstGeom>
              <a:ln w="9525">
                <a:solidFill>
                  <a:srgbClr val="3B533E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166" name="矩形 165"/>
            <p:cNvSpPr/>
            <p:nvPr/>
          </p:nvSpPr>
          <p:spPr>
            <a:xfrm>
              <a:off x="193" y="22"/>
              <a:ext cx="6088" cy="221"/>
            </a:xfrm>
            <a:prstGeom prst="rect">
              <a:avLst/>
            </a:prstGeom>
            <a:solidFill>
              <a:srgbClr val="2E663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900" dirty="0"/>
                <a:t>(a) Pre-training: meta-learning on synthetic task prior π</a:t>
              </a:r>
            </a:p>
          </p:txBody>
        </p:sp>
        <p:grpSp>
          <p:nvGrpSpPr>
            <p:cNvPr id="119" name="组合 118"/>
            <p:cNvGrpSpPr/>
            <p:nvPr/>
          </p:nvGrpSpPr>
          <p:grpSpPr>
            <a:xfrm>
              <a:off x="255" y="3388"/>
              <a:ext cx="6028" cy="5091"/>
              <a:chOff x="267" y="3394"/>
              <a:chExt cx="6028" cy="5090"/>
            </a:xfrm>
          </p:grpSpPr>
          <p:sp>
            <p:nvSpPr>
              <p:cNvPr id="395" name="圆角矩形 394"/>
              <p:cNvSpPr/>
              <p:nvPr/>
            </p:nvSpPr>
            <p:spPr>
              <a:xfrm>
                <a:off x="267" y="5761"/>
                <a:ext cx="6015" cy="198"/>
              </a:xfrm>
              <a:prstGeom prst="roundRect">
                <a:avLst>
                  <a:gd name="adj" fmla="val 50000"/>
                </a:avLst>
              </a:prstGeom>
              <a:solidFill>
                <a:srgbClr val="C5CBD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" name="圆角矩形 190"/>
              <p:cNvSpPr/>
              <p:nvPr/>
            </p:nvSpPr>
            <p:spPr>
              <a:xfrm>
                <a:off x="268" y="3591"/>
                <a:ext cx="6014" cy="597"/>
              </a:xfrm>
              <a:prstGeom prst="roundRect">
                <a:avLst>
                  <a:gd name="adj" fmla="val 10887"/>
                </a:avLst>
              </a:prstGeom>
              <a:solidFill>
                <a:srgbClr val="C4DDF2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" name="圆角矩形 207"/>
              <p:cNvSpPr/>
              <p:nvPr/>
            </p:nvSpPr>
            <p:spPr>
              <a:xfrm>
                <a:off x="4840" y="3728"/>
                <a:ext cx="1410" cy="340"/>
              </a:xfrm>
              <a:prstGeom prst="roundRect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ACC6D4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" name="圆角矩形 192"/>
              <p:cNvSpPr/>
              <p:nvPr/>
            </p:nvSpPr>
            <p:spPr>
              <a:xfrm>
                <a:off x="268" y="4491"/>
                <a:ext cx="6015" cy="396"/>
              </a:xfrm>
              <a:prstGeom prst="roundRect">
                <a:avLst/>
              </a:prstGeom>
              <a:solidFill>
                <a:srgbClr val="F8E0BD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" name="圆角矩形 191"/>
              <p:cNvSpPr/>
              <p:nvPr/>
            </p:nvSpPr>
            <p:spPr>
              <a:xfrm>
                <a:off x="268" y="4238"/>
                <a:ext cx="6015" cy="197"/>
              </a:xfrm>
              <a:prstGeom prst="roundRect">
                <a:avLst/>
              </a:prstGeom>
              <a:solidFill>
                <a:srgbClr val="E7D5E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矩形 127"/>
              <p:cNvSpPr/>
              <p:nvPr/>
            </p:nvSpPr>
            <p:spPr>
              <a:xfrm>
                <a:off x="2207" y="3394"/>
                <a:ext cx="425" cy="197"/>
              </a:xfrm>
              <a:prstGeom prst="rect">
                <a:avLst/>
              </a:prstGeom>
              <a:solidFill>
                <a:srgbClr val="474C4F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矩形 128"/>
              <p:cNvSpPr/>
              <p:nvPr/>
            </p:nvSpPr>
            <p:spPr>
              <a:xfrm>
                <a:off x="2632" y="3394"/>
                <a:ext cx="425" cy="197"/>
              </a:xfrm>
              <a:prstGeom prst="rect">
                <a:avLst/>
              </a:prstGeom>
              <a:solidFill>
                <a:srgbClr val="474C4F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矩形 129"/>
              <p:cNvSpPr/>
              <p:nvPr/>
            </p:nvSpPr>
            <p:spPr>
              <a:xfrm>
                <a:off x="3057" y="3394"/>
                <a:ext cx="425" cy="197"/>
              </a:xfrm>
              <a:prstGeom prst="rect">
                <a:avLst/>
              </a:prstGeom>
              <a:solidFill>
                <a:srgbClr val="474C4F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" name="矩形 130"/>
              <p:cNvSpPr/>
              <p:nvPr/>
            </p:nvSpPr>
            <p:spPr>
              <a:xfrm>
                <a:off x="3482" y="3394"/>
                <a:ext cx="425" cy="197"/>
              </a:xfrm>
              <a:prstGeom prst="rect">
                <a:avLst/>
              </a:prstGeom>
              <a:solidFill>
                <a:srgbClr val="474C4F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矩形 131"/>
              <p:cNvSpPr/>
              <p:nvPr/>
            </p:nvSpPr>
            <p:spPr>
              <a:xfrm>
                <a:off x="3907" y="3394"/>
                <a:ext cx="425" cy="197"/>
              </a:xfrm>
              <a:prstGeom prst="rect">
                <a:avLst/>
              </a:prstGeom>
              <a:solidFill>
                <a:srgbClr val="474C4F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矩形 132"/>
              <p:cNvSpPr/>
              <p:nvPr/>
            </p:nvSpPr>
            <p:spPr>
              <a:xfrm>
                <a:off x="2207" y="3591"/>
                <a:ext cx="425" cy="197"/>
              </a:xfrm>
              <a:prstGeom prst="rect">
                <a:avLst/>
              </a:prstGeom>
              <a:solidFill>
                <a:srgbClr val="ACC6D4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矩形 133"/>
              <p:cNvSpPr/>
              <p:nvPr/>
            </p:nvSpPr>
            <p:spPr>
              <a:xfrm>
                <a:off x="2632" y="3591"/>
                <a:ext cx="425" cy="197"/>
              </a:xfrm>
              <a:prstGeom prst="rect">
                <a:avLst/>
              </a:prstGeom>
              <a:solidFill>
                <a:srgbClr val="D9EBF4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矩形 134"/>
              <p:cNvSpPr/>
              <p:nvPr/>
            </p:nvSpPr>
            <p:spPr>
              <a:xfrm>
                <a:off x="3057" y="3591"/>
                <a:ext cx="425" cy="197"/>
              </a:xfrm>
              <a:prstGeom prst="rect">
                <a:avLst/>
              </a:prstGeom>
              <a:solidFill>
                <a:srgbClr val="ACC6D4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" name="矩形 135"/>
              <p:cNvSpPr/>
              <p:nvPr/>
            </p:nvSpPr>
            <p:spPr>
              <a:xfrm>
                <a:off x="3482" y="3591"/>
                <a:ext cx="425" cy="197"/>
              </a:xfrm>
              <a:prstGeom prst="rect">
                <a:avLst/>
              </a:prstGeom>
              <a:solidFill>
                <a:srgbClr val="D9EBF4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" name="矩形 136"/>
              <p:cNvSpPr/>
              <p:nvPr/>
            </p:nvSpPr>
            <p:spPr>
              <a:xfrm>
                <a:off x="3907" y="3591"/>
                <a:ext cx="425" cy="197"/>
              </a:xfrm>
              <a:prstGeom prst="rect">
                <a:avLst/>
              </a:prstGeom>
              <a:solidFill>
                <a:srgbClr val="89B7CF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矩形 137"/>
              <p:cNvSpPr/>
              <p:nvPr/>
            </p:nvSpPr>
            <p:spPr>
              <a:xfrm>
                <a:off x="2207" y="3791"/>
                <a:ext cx="425" cy="197"/>
              </a:xfrm>
              <a:prstGeom prst="rect">
                <a:avLst/>
              </a:prstGeom>
              <a:solidFill>
                <a:srgbClr val="D9EBF4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9" name="矩形 138"/>
              <p:cNvSpPr/>
              <p:nvPr/>
            </p:nvSpPr>
            <p:spPr>
              <a:xfrm>
                <a:off x="2632" y="3791"/>
                <a:ext cx="425" cy="197"/>
              </a:xfrm>
              <a:prstGeom prst="rect">
                <a:avLst/>
              </a:prstGeom>
              <a:solidFill>
                <a:srgbClr val="ACC6D4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" name="矩形 139"/>
              <p:cNvSpPr/>
              <p:nvPr/>
            </p:nvSpPr>
            <p:spPr>
              <a:xfrm>
                <a:off x="3057" y="3791"/>
                <a:ext cx="425" cy="197"/>
              </a:xfrm>
              <a:prstGeom prst="rect">
                <a:avLst/>
              </a:prstGeom>
              <a:solidFill>
                <a:srgbClr val="ACC6D4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矩形 140"/>
              <p:cNvSpPr/>
              <p:nvPr/>
            </p:nvSpPr>
            <p:spPr>
              <a:xfrm>
                <a:off x="3482" y="3791"/>
                <a:ext cx="425" cy="197"/>
              </a:xfrm>
              <a:prstGeom prst="rect">
                <a:avLst/>
              </a:prstGeom>
              <a:solidFill>
                <a:srgbClr val="D9EBF4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" name="矩形 141"/>
              <p:cNvSpPr/>
              <p:nvPr/>
            </p:nvSpPr>
            <p:spPr>
              <a:xfrm>
                <a:off x="3907" y="4491"/>
                <a:ext cx="425" cy="396"/>
              </a:xfrm>
              <a:prstGeom prst="rect">
                <a:avLst/>
              </a:prstGeom>
              <a:solidFill>
                <a:srgbClr val="FEE6C6"/>
              </a:solidFill>
              <a:ln w="9525">
                <a:solidFill>
                  <a:srgbClr val="AA794F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" name="矩形 142"/>
              <p:cNvSpPr/>
              <p:nvPr/>
            </p:nvSpPr>
            <p:spPr>
              <a:xfrm>
                <a:off x="2207" y="4491"/>
                <a:ext cx="425" cy="197"/>
              </a:xfrm>
              <a:prstGeom prst="rect">
                <a:avLst/>
              </a:prstGeom>
              <a:solidFill>
                <a:srgbClr val="F1BD8C"/>
              </a:solidFill>
              <a:ln w="9525">
                <a:solidFill>
                  <a:srgbClr val="AA794F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矩形 143"/>
              <p:cNvSpPr/>
              <p:nvPr/>
            </p:nvSpPr>
            <p:spPr>
              <a:xfrm>
                <a:off x="2632" y="4491"/>
                <a:ext cx="425" cy="197"/>
              </a:xfrm>
              <a:prstGeom prst="rect">
                <a:avLst/>
              </a:prstGeom>
              <a:solidFill>
                <a:srgbClr val="FEE6C6"/>
              </a:solidFill>
              <a:ln w="9525">
                <a:solidFill>
                  <a:srgbClr val="AA794F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" name="矩形 144"/>
              <p:cNvSpPr/>
              <p:nvPr/>
            </p:nvSpPr>
            <p:spPr>
              <a:xfrm>
                <a:off x="3057" y="4491"/>
                <a:ext cx="425" cy="197"/>
              </a:xfrm>
              <a:prstGeom prst="rect">
                <a:avLst/>
              </a:prstGeom>
              <a:solidFill>
                <a:srgbClr val="F1BD8C"/>
              </a:solidFill>
              <a:ln w="9525">
                <a:solidFill>
                  <a:srgbClr val="AA794F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矩形 145"/>
              <p:cNvSpPr/>
              <p:nvPr/>
            </p:nvSpPr>
            <p:spPr>
              <a:xfrm>
                <a:off x="3482" y="4491"/>
                <a:ext cx="425" cy="197"/>
              </a:xfrm>
              <a:prstGeom prst="rect">
                <a:avLst/>
              </a:prstGeom>
              <a:solidFill>
                <a:srgbClr val="FEE6C6"/>
              </a:solidFill>
              <a:ln w="9525">
                <a:solidFill>
                  <a:srgbClr val="AA794F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" name="矩形 146"/>
              <p:cNvSpPr/>
              <p:nvPr/>
            </p:nvSpPr>
            <p:spPr>
              <a:xfrm>
                <a:off x="2207" y="4691"/>
                <a:ext cx="425" cy="197"/>
              </a:xfrm>
              <a:prstGeom prst="rect">
                <a:avLst/>
              </a:prstGeom>
              <a:solidFill>
                <a:srgbClr val="FEE6C6"/>
              </a:solidFill>
              <a:ln w="9525">
                <a:solidFill>
                  <a:srgbClr val="AA794F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矩形 147"/>
              <p:cNvSpPr/>
              <p:nvPr/>
            </p:nvSpPr>
            <p:spPr>
              <a:xfrm>
                <a:off x="2632" y="4691"/>
                <a:ext cx="425" cy="197"/>
              </a:xfrm>
              <a:prstGeom prst="rect">
                <a:avLst/>
              </a:prstGeom>
              <a:solidFill>
                <a:srgbClr val="F1BD8C"/>
              </a:solidFill>
              <a:ln w="9525">
                <a:solidFill>
                  <a:srgbClr val="AA794F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" name="矩形 148"/>
              <p:cNvSpPr/>
              <p:nvPr/>
            </p:nvSpPr>
            <p:spPr>
              <a:xfrm>
                <a:off x="3057" y="4691"/>
                <a:ext cx="425" cy="197"/>
              </a:xfrm>
              <a:prstGeom prst="rect">
                <a:avLst/>
              </a:prstGeom>
              <a:solidFill>
                <a:srgbClr val="FEE6C6"/>
              </a:solidFill>
              <a:ln w="9525">
                <a:solidFill>
                  <a:srgbClr val="AA794F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" name="矩形 149"/>
              <p:cNvSpPr/>
              <p:nvPr/>
            </p:nvSpPr>
            <p:spPr>
              <a:xfrm>
                <a:off x="3482" y="4691"/>
                <a:ext cx="425" cy="197"/>
              </a:xfrm>
              <a:prstGeom prst="rect">
                <a:avLst/>
              </a:prstGeom>
              <a:solidFill>
                <a:srgbClr val="FEE6C6"/>
              </a:solidFill>
              <a:ln w="9525">
                <a:solidFill>
                  <a:srgbClr val="AA794F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矩形 167"/>
              <p:cNvSpPr/>
              <p:nvPr/>
            </p:nvSpPr>
            <p:spPr>
              <a:xfrm>
                <a:off x="2207" y="3991"/>
                <a:ext cx="425" cy="197"/>
              </a:xfrm>
              <a:prstGeom prst="rect">
                <a:avLst/>
              </a:prstGeom>
              <a:solidFill>
                <a:srgbClr val="D9EBF4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" name="矩形 168"/>
              <p:cNvSpPr/>
              <p:nvPr/>
            </p:nvSpPr>
            <p:spPr>
              <a:xfrm>
                <a:off x="2632" y="3991"/>
                <a:ext cx="425" cy="197"/>
              </a:xfrm>
              <a:prstGeom prst="rect">
                <a:avLst/>
              </a:prstGeom>
              <a:solidFill>
                <a:srgbClr val="D9EBF4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" name="矩形 169"/>
              <p:cNvSpPr/>
              <p:nvPr/>
            </p:nvSpPr>
            <p:spPr>
              <a:xfrm>
                <a:off x="3057" y="3991"/>
                <a:ext cx="425" cy="197"/>
              </a:xfrm>
              <a:prstGeom prst="rect">
                <a:avLst/>
              </a:prstGeom>
              <a:solidFill>
                <a:srgbClr val="ACC6D4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" name="矩形 170"/>
              <p:cNvSpPr/>
              <p:nvPr/>
            </p:nvSpPr>
            <p:spPr>
              <a:xfrm>
                <a:off x="3482" y="3991"/>
                <a:ext cx="425" cy="197"/>
              </a:xfrm>
              <a:prstGeom prst="rect">
                <a:avLst/>
              </a:prstGeom>
              <a:solidFill>
                <a:srgbClr val="D9EBF4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" name="矩形 171"/>
              <p:cNvSpPr/>
              <p:nvPr/>
            </p:nvSpPr>
            <p:spPr>
              <a:xfrm>
                <a:off x="3907" y="3788"/>
                <a:ext cx="425" cy="200"/>
              </a:xfrm>
              <a:prstGeom prst="rect">
                <a:avLst/>
              </a:prstGeom>
              <a:solidFill>
                <a:srgbClr val="89B7CF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" name="矩形 172"/>
              <p:cNvSpPr/>
              <p:nvPr/>
            </p:nvSpPr>
            <p:spPr>
              <a:xfrm>
                <a:off x="3907" y="3991"/>
                <a:ext cx="425" cy="197"/>
              </a:xfrm>
              <a:prstGeom prst="rect">
                <a:avLst/>
              </a:prstGeom>
              <a:solidFill>
                <a:srgbClr val="89B7CF"/>
              </a:solidFill>
              <a:ln w="9525">
                <a:solidFill>
                  <a:srgbClr val="3C607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文本框 173"/>
              <p:cNvSpPr txBox="1"/>
              <p:nvPr/>
            </p:nvSpPr>
            <p:spPr>
              <a:xfrm rot="16200000">
                <a:off x="3145" y="3750"/>
                <a:ext cx="910" cy="1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700"/>
                  <a:t>…</a:t>
                </a:r>
              </a:p>
            </p:txBody>
          </p:sp>
          <p:sp>
            <p:nvSpPr>
              <p:cNvPr id="175" name="文本框 174"/>
              <p:cNvSpPr txBox="1"/>
              <p:nvPr/>
            </p:nvSpPr>
            <p:spPr>
              <a:xfrm rot="16200000">
                <a:off x="2295" y="3750"/>
                <a:ext cx="910" cy="1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700"/>
                  <a:t>…</a:t>
                </a:r>
              </a:p>
            </p:txBody>
          </p:sp>
          <p:sp>
            <p:nvSpPr>
              <p:cNvPr id="176" name="文本框 175"/>
              <p:cNvSpPr txBox="1"/>
              <p:nvPr/>
            </p:nvSpPr>
            <p:spPr>
              <a:xfrm rot="16200000">
                <a:off x="1894" y="3750"/>
                <a:ext cx="910" cy="1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700"/>
                  <a:t>…</a:t>
                </a:r>
              </a:p>
            </p:txBody>
          </p:sp>
          <p:sp>
            <p:nvSpPr>
              <p:cNvPr id="188" name="矩形 187"/>
              <p:cNvSpPr/>
              <p:nvPr/>
            </p:nvSpPr>
            <p:spPr>
              <a:xfrm>
                <a:off x="2205" y="4238"/>
                <a:ext cx="2127" cy="197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ACC6D4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" name="文本框 178"/>
              <p:cNvSpPr txBox="1"/>
              <p:nvPr/>
            </p:nvSpPr>
            <p:spPr>
              <a:xfrm rot="16200000">
                <a:off x="3145" y="4459"/>
                <a:ext cx="910" cy="1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700"/>
                  <a:t>…</a:t>
                </a:r>
              </a:p>
            </p:txBody>
          </p:sp>
          <p:sp>
            <p:nvSpPr>
              <p:cNvPr id="194" name="文本框 193"/>
              <p:cNvSpPr txBox="1"/>
              <p:nvPr/>
            </p:nvSpPr>
            <p:spPr>
              <a:xfrm>
                <a:off x="696" y="4203"/>
                <a:ext cx="1363" cy="1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600"/>
                  <a:t>64 thinking rows</a:t>
                </a:r>
              </a:p>
            </p:txBody>
          </p:sp>
          <p:sp>
            <p:nvSpPr>
              <p:cNvPr id="196" name="文本框 195"/>
              <p:cNvSpPr txBox="1"/>
              <p:nvPr/>
            </p:nvSpPr>
            <p:spPr>
              <a:xfrm>
                <a:off x="714" y="3541"/>
                <a:ext cx="1328" cy="51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600"/>
                  <a:t>	</a:t>
                </a:r>
              </a:p>
            </p:txBody>
          </p:sp>
          <p:sp>
            <p:nvSpPr>
              <p:cNvPr id="197" name="文本框 196"/>
              <p:cNvSpPr txBox="1"/>
              <p:nvPr/>
            </p:nvSpPr>
            <p:spPr>
              <a:xfrm>
                <a:off x="2909" y="4203"/>
                <a:ext cx="818" cy="1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500" b="1" i="1"/>
                  <a:t>t</a:t>
                </a:r>
                <a:r>
                  <a:rPr lang="en-US" altLang="zh-CN" sz="500" b="1" baseline="-25000"/>
                  <a:t>1</a:t>
                </a:r>
                <a:r>
                  <a:rPr lang="en-US" altLang="zh-CN" sz="500" b="1"/>
                  <a:t>, </a:t>
                </a:r>
                <a:r>
                  <a:rPr lang="en-US" altLang="zh-CN" sz="500" b="1" i="1"/>
                  <a:t>t</a:t>
                </a:r>
                <a:r>
                  <a:rPr lang="en-US" altLang="zh-CN" sz="500" b="1" baseline="-25000"/>
                  <a:t>2</a:t>
                </a:r>
                <a:r>
                  <a:rPr lang="en-US" altLang="zh-CN" sz="500" b="1"/>
                  <a:t>, …, </a:t>
                </a:r>
                <a:r>
                  <a:rPr lang="en-US" altLang="zh-CN" sz="500" b="1" i="1"/>
                  <a:t>t</a:t>
                </a:r>
                <a:r>
                  <a:rPr lang="en-US" altLang="zh-CN" sz="500" b="1" baseline="-25000"/>
                  <a:t>64</a:t>
                </a:r>
              </a:p>
            </p:txBody>
          </p:sp>
          <p:sp>
            <p:nvSpPr>
              <p:cNvPr id="203" name="下箭头 202"/>
              <p:cNvSpPr/>
              <p:nvPr>
                <p:custDataLst>
                  <p:tags r:id="rId4"/>
                </p:custDataLst>
              </p:nvPr>
            </p:nvSpPr>
            <p:spPr>
              <a:xfrm rot="16200000" flipH="1">
                <a:off x="1888" y="4173"/>
                <a:ext cx="181" cy="345"/>
              </a:xfrm>
              <a:prstGeom prst="downArrow">
                <a:avLst/>
              </a:prstGeom>
              <a:solidFill>
                <a:srgbClr val="C81D3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pic>
            <p:nvPicPr>
              <p:cNvPr id="205" name="图形 28" descr="箭头: 向右旋转 纯色填充"/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0"/>
                  </a:ext>
                </a:extLst>
              </a:blip>
              <a:stretch>
                <a:fillRect/>
              </a:stretch>
            </p:blipFill>
            <p:spPr>
              <a:xfrm rot="20576195">
                <a:off x="1779" y="3675"/>
                <a:ext cx="380" cy="38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06" name="图形 28" descr="箭头: 向右旋转 纯色填充"/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1"/>
                  </a:ext>
                </a:extLst>
              </a:blip>
              <a:stretch>
                <a:fillRect/>
              </a:stretch>
            </p:blipFill>
            <p:spPr>
              <a:xfrm rot="12423804" flipH="1">
                <a:off x="1788" y="4555"/>
                <a:ext cx="371" cy="371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209" name="圆角矩形 208"/>
              <p:cNvSpPr/>
              <p:nvPr/>
            </p:nvSpPr>
            <p:spPr>
              <a:xfrm>
                <a:off x="4840" y="4222"/>
                <a:ext cx="1410" cy="230"/>
              </a:xfrm>
              <a:prstGeom prst="roundRect">
                <a:avLst/>
              </a:prstGeom>
              <a:noFill/>
              <a:ln w="9525">
                <a:solidFill>
                  <a:schemeClr val="accent6">
                    <a:lumMod val="75000"/>
                  </a:schemeClr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ACC6D4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" name="圆角矩形 209"/>
              <p:cNvSpPr/>
              <p:nvPr/>
            </p:nvSpPr>
            <p:spPr>
              <a:xfrm>
                <a:off x="4840" y="4543"/>
                <a:ext cx="1410" cy="293"/>
              </a:xfrm>
              <a:prstGeom prst="roundRect">
                <a:avLst/>
              </a:prstGeom>
              <a:noFill/>
              <a:ln w="9525">
                <a:solidFill>
                  <a:schemeClr val="accent3">
                    <a:lumMod val="75000"/>
                  </a:schemeClr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ACC6D4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1" name="圆角矩形 210"/>
              <p:cNvSpPr/>
              <p:nvPr/>
            </p:nvSpPr>
            <p:spPr>
              <a:xfrm>
                <a:off x="268" y="5204"/>
                <a:ext cx="2580" cy="498"/>
              </a:xfrm>
              <a:prstGeom prst="roundRect">
                <a:avLst/>
              </a:prstGeom>
              <a:solidFill>
                <a:srgbClr val="E5E6E9"/>
              </a:solidFill>
              <a:ln>
                <a:solidFill>
                  <a:srgbClr val="ACADAE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3" name="圆角矩形 212"/>
              <p:cNvSpPr/>
              <p:nvPr/>
            </p:nvSpPr>
            <p:spPr>
              <a:xfrm>
                <a:off x="4119" y="5204"/>
                <a:ext cx="1624" cy="497"/>
              </a:xfrm>
              <a:prstGeom prst="roundRect">
                <a:avLst/>
              </a:prstGeom>
              <a:solidFill>
                <a:srgbClr val="E5E6E9"/>
              </a:solidFill>
              <a:ln>
                <a:solidFill>
                  <a:srgbClr val="ACADAE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14" name="肘形连接符 213"/>
              <p:cNvCxnSpPr>
                <a:stCxn id="149" idx="2"/>
                <a:endCxn id="211" idx="0"/>
              </p:cNvCxnSpPr>
              <p:nvPr/>
            </p:nvCxnSpPr>
            <p:spPr>
              <a:xfrm rot="5400000">
                <a:off x="2256" y="4190"/>
                <a:ext cx="316" cy="1712"/>
              </a:xfrm>
              <a:prstGeom prst="bentConnector3">
                <a:avLst>
                  <a:gd name="adj1" fmla="val 50000"/>
                </a:avLst>
              </a:prstGeom>
              <a:ln w="9525">
                <a:solidFill>
                  <a:srgbClr val="535354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5" name="肘形连接符 214"/>
              <p:cNvCxnSpPr/>
              <p:nvPr/>
            </p:nvCxnSpPr>
            <p:spPr>
              <a:xfrm rot="16200000" flipH="1">
                <a:off x="3916" y="4243"/>
                <a:ext cx="316" cy="1607"/>
              </a:xfrm>
              <a:prstGeom prst="bentConnector3">
                <a:avLst>
                  <a:gd name="adj1" fmla="val 49842"/>
                </a:avLst>
              </a:prstGeom>
              <a:ln w="9525">
                <a:solidFill>
                  <a:srgbClr val="535354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216" name="图片 215"/>
              <p:cNvPicPr>
                <a:picLocks noChangeAspect="1"/>
              </p:cNvPicPr>
              <p:nvPr/>
            </p:nvPicPr>
            <p:blipFill>
              <a:blip r:embed="rId42">
                <a:clrChange>
                  <a:clrFrom>
                    <a:srgbClr val="F0F0F0">
                      <a:alpha val="100000"/>
                    </a:srgbClr>
                  </a:clrFrom>
                  <a:clrTo>
                    <a:srgbClr val="F0F0F0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3081" y="5281"/>
                <a:ext cx="314" cy="302"/>
              </a:xfrm>
              <a:prstGeom prst="rect">
                <a:avLst/>
              </a:prstGeom>
            </p:spPr>
          </p:pic>
          <p:grpSp>
            <p:nvGrpSpPr>
              <p:cNvPr id="219" name="组合 218"/>
              <p:cNvGrpSpPr/>
              <p:nvPr/>
            </p:nvGrpSpPr>
            <p:grpSpPr>
              <a:xfrm>
                <a:off x="4343" y="3719"/>
                <a:ext cx="497" cy="302"/>
                <a:chOff x="2220" y="7185"/>
                <a:chExt cx="497" cy="302"/>
              </a:xfrm>
            </p:grpSpPr>
            <p:pic>
              <p:nvPicPr>
                <p:cNvPr id="217" name="图片 216" descr="加号-镂空"/>
                <p:cNvPicPr>
                  <a:picLocks noChangeAspect="1"/>
                </p:cNvPicPr>
                <p:nvPr>
                  <p:custDataLst>
                    <p:tags r:id="rId34"/>
                  </p:custDataLst>
                </p:nvPr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220" y="7264"/>
                  <a:ext cx="183" cy="183"/>
                </a:xfrm>
                <a:prstGeom prst="rect">
                  <a:avLst/>
                </a:prstGeom>
              </p:spPr>
            </p:pic>
            <p:pic>
              <p:nvPicPr>
                <p:cNvPr id="218" name="图片 217"/>
                <p:cNvPicPr>
                  <a:picLocks noChangeAspect="1"/>
                </p:cNvPicPr>
                <p:nvPr/>
              </p:nvPicPr>
              <p:blipFill>
                <a:blip r:embed="rId42">
                  <a:clrChange>
                    <a:clrFrom>
                      <a:srgbClr val="F0F0F0">
                        <a:alpha val="100000"/>
                      </a:srgbClr>
                    </a:clrFrom>
                    <a:clrTo>
                      <a:srgbClr val="F0F0F0">
                        <a:alpha val="100000"/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2403" y="7185"/>
                  <a:ext cx="314" cy="302"/>
                </a:xfrm>
                <a:prstGeom prst="rect">
                  <a:avLst/>
                </a:prstGeom>
              </p:spPr>
            </p:pic>
          </p:grpSp>
          <p:grpSp>
            <p:nvGrpSpPr>
              <p:cNvPr id="220" name="组合 219"/>
              <p:cNvGrpSpPr/>
              <p:nvPr/>
            </p:nvGrpSpPr>
            <p:grpSpPr>
              <a:xfrm>
                <a:off x="4343" y="4534"/>
                <a:ext cx="497" cy="302"/>
                <a:chOff x="2220" y="7185"/>
                <a:chExt cx="497" cy="302"/>
              </a:xfrm>
            </p:grpSpPr>
            <p:pic>
              <p:nvPicPr>
                <p:cNvPr id="221" name="图片 220" descr="加号-镂空"/>
                <p:cNvPicPr>
                  <a:picLocks noChangeAspect="1"/>
                </p:cNvPicPr>
                <p:nvPr>
                  <p:custDataLst>
                    <p:tags r:id="rId33"/>
                  </p:custDataLst>
                </p:nvPr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220" y="7264"/>
                  <a:ext cx="183" cy="183"/>
                </a:xfrm>
                <a:prstGeom prst="rect">
                  <a:avLst/>
                </a:prstGeom>
              </p:spPr>
            </p:pic>
            <p:pic>
              <p:nvPicPr>
                <p:cNvPr id="222" name="图片 221"/>
                <p:cNvPicPr>
                  <a:picLocks noChangeAspect="1"/>
                </p:cNvPicPr>
                <p:nvPr/>
              </p:nvPicPr>
              <p:blipFill>
                <a:blip r:embed="rId42">
                  <a:clrChange>
                    <a:clrFrom>
                      <a:srgbClr val="F0F0F0">
                        <a:alpha val="100000"/>
                      </a:srgbClr>
                    </a:clrFrom>
                    <a:clrTo>
                      <a:srgbClr val="F0F0F0">
                        <a:alpha val="100000"/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2403" y="7185"/>
                  <a:ext cx="314" cy="302"/>
                </a:xfrm>
                <a:prstGeom prst="rect">
                  <a:avLst/>
                </a:prstGeom>
              </p:spPr>
            </p:pic>
          </p:grpSp>
          <p:sp>
            <p:nvSpPr>
              <p:cNvPr id="223" name="文本框 222"/>
              <p:cNvSpPr txBox="1"/>
              <p:nvPr/>
            </p:nvSpPr>
            <p:spPr>
              <a:xfrm>
                <a:off x="314" y="5164"/>
                <a:ext cx="2739" cy="53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altLang="zh-CN" sz="600" b="1"/>
                  <a:t>Feature Encoder</a:t>
                </a:r>
              </a:p>
              <a:p>
                <a:r>
                  <a:rPr lang="en-US" altLang="zh-CN" sz="600"/>
                  <a:t>Normalize </a:t>
                </a:r>
                <a:r>
                  <a:rPr lang="en-US" altLang="en-US" sz="600"/>
                  <a:t>→</a:t>
                </a:r>
                <a:r>
                  <a:rPr lang="en-US" altLang="zh-CN" sz="600"/>
                  <a:t> 2-layer MLP </a:t>
                </a:r>
                <a:r>
                  <a:rPr lang="en-US" altLang="en-US" sz="600"/>
                  <a:t>→</a:t>
                </a:r>
                <a:r>
                  <a:rPr lang="en-US" altLang="zh-CN" sz="600"/>
                  <a:t> </a:t>
                </a:r>
                <a:r>
                  <a:rPr lang="en-US" altLang="en-US" sz="600"/>
                  <a:t>ℝ</a:t>
                </a:r>
                <a:r>
                  <a:rPr lang="en-US" altLang="en-US" sz="600" i="1"/>
                  <a:t>ᵏ</a:t>
                </a:r>
                <a:endParaRPr lang="en-US" altLang="en-US" sz="600"/>
              </a:p>
              <a:p>
                <a:r>
                  <a:rPr lang="en-US" altLang="zh-CN" sz="600"/>
                  <a:t>Feature-group embedding, group size = 3</a:t>
                </a:r>
              </a:p>
            </p:txBody>
          </p:sp>
          <p:sp>
            <p:nvSpPr>
              <p:cNvPr id="224" name="文本框 223"/>
              <p:cNvSpPr txBox="1"/>
              <p:nvPr/>
            </p:nvSpPr>
            <p:spPr>
              <a:xfrm>
                <a:off x="3648" y="5164"/>
                <a:ext cx="2543" cy="53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altLang="zh-CN" sz="600" b="1"/>
                  <a:t>Target Encoder</a:t>
                </a:r>
              </a:p>
              <a:p>
                <a:pPr algn="ctr"/>
                <a:r>
                  <a:rPr lang="en-US" altLang="zh-CN" sz="600"/>
                  <a:t>Pad </a:t>
                </a:r>
                <a:r>
                  <a:rPr lang="en-US" altLang="zh-CN" sz="600" i="1"/>
                  <a:t>y</a:t>
                </a:r>
                <a:r>
                  <a:rPr lang="en-US" altLang="zh-CN" sz="600"/>
                  <a:t>* with </a:t>
                </a:r>
                <a:r>
                  <a:rPr lang="en-US" altLang="en-US" sz="600" i="1"/>
                  <a:t>ȳ</a:t>
                </a:r>
                <a:r>
                  <a:rPr lang="en-US" altLang="zh-CN" sz="600" baseline="-25000"/>
                  <a:t>train</a:t>
                </a:r>
                <a:r>
                  <a:rPr lang="en-US" altLang="zh-CN" sz="600"/>
                  <a:t> </a:t>
                </a:r>
                <a:r>
                  <a:rPr lang="en-US" altLang="en-US" sz="600"/>
                  <a:t>→</a:t>
                </a:r>
                <a:r>
                  <a:rPr lang="en-US" altLang="zh-CN" sz="600"/>
                  <a:t> Embed</a:t>
                </a:r>
              </a:p>
              <a:p>
                <a:pPr algn="ctr"/>
                <a:r>
                  <a:rPr lang="en-US" altLang="zh-CN" sz="600"/>
                  <a:t>Target embedding</a:t>
                </a:r>
              </a:p>
            </p:txBody>
          </p:sp>
          <p:cxnSp>
            <p:nvCxnSpPr>
              <p:cNvPr id="225" name="直接箭头连接符 224"/>
              <p:cNvCxnSpPr/>
              <p:nvPr/>
            </p:nvCxnSpPr>
            <p:spPr>
              <a:xfrm rot="16200000">
                <a:off x="2985" y="5316"/>
                <a:ext cx="0" cy="274"/>
              </a:xfrm>
              <a:prstGeom prst="straightConnector1">
                <a:avLst/>
              </a:prstGeom>
              <a:ln w="9525">
                <a:solidFill>
                  <a:srgbClr val="494949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226" name="图片 225"/>
              <p:cNvPicPr>
                <a:picLocks noChangeAspect="1"/>
              </p:cNvPicPr>
              <p:nvPr/>
            </p:nvPicPr>
            <p:blipFill>
              <a:blip r:embed="rId42">
                <a:clrChange>
                  <a:clrFrom>
                    <a:srgbClr val="F0F0F0">
                      <a:alpha val="100000"/>
                    </a:srgbClr>
                  </a:clrFrom>
                  <a:clrTo>
                    <a:srgbClr val="F0F0F0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5981" y="5281"/>
                <a:ext cx="314" cy="302"/>
              </a:xfrm>
              <a:prstGeom prst="rect">
                <a:avLst/>
              </a:prstGeom>
            </p:spPr>
          </p:pic>
          <p:cxnSp>
            <p:nvCxnSpPr>
              <p:cNvPr id="227" name="直接箭头连接符 226"/>
              <p:cNvCxnSpPr/>
              <p:nvPr/>
            </p:nvCxnSpPr>
            <p:spPr>
              <a:xfrm rot="16200000">
                <a:off x="5885" y="5316"/>
                <a:ext cx="0" cy="274"/>
              </a:xfrm>
              <a:prstGeom prst="straightConnector1">
                <a:avLst/>
              </a:prstGeom>
              <a:ln w="9525">
                <a:solidFill>
                  <a:srgbClr val="494949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28" name="直接箭头连接符 227"/>
              <p:cNvCxnSpPr>
                <a:endCxn id="222" idx="2"/>
              </p:cNvCxnSpPr>
              <p:nvPr/>
            </p:nvCxnSpPr>
            <p:spPr>
              <a:xfrm flipV="1">
                <a:off x="4373" y="4836"/>
                <a:ext cx="310" cy="206"/>
              </a:xfrm>
              <a:prstGeom prst="straightConnector1">
                <a:avLst/>
              </a:prstGeom>
              <a:ln w="9525">
                <a:solidFill>
                  <a:srgbClr val="494949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92" name="文本框 391"/>
              <p:cNvSpPr txBox="1"/>
              <p:nvPr/>
            </p:nvSpPr>
            <p:spPr>
              <a:xfrm>
                <a:off x="775" y="5724"/>
                <a:ext cx="5036" cy="12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700" b="1"/>
                  <a:t>Transformer Encoder Stack: 18 layers</a:t>
                </a:r>
                <a:r>
                  <a:rPr lang="en-US" altLang="en-US" sz="700" b="1"/>
                  <a:t/>
                </a:r>
                <a:r>
                  <a:rPr lang="en-US" altLang="zh-CN" sz="700" b="1"/>
                  <a:t/>
                </a:r>
              </a:p>
            </p:txBody>
          </p:sp>
          <p:sp>
            <p:nvSpPr>
              <p:cNvPr id="394" name="圆角矩形 393"/>
              <p:cNvSpPr/>
              <p:nvPr/>
            </p:nvSpPr>
            <p:spPr>
              <a:xfrm>
                <a:off x="268" y="5761"/>
                <a:ext cx="6014" cy="1782"/>
              </a:xfrm>
              <a:prstGeom prst="roundRect">
                <a:avLst>
                  <a:gd name="adj" fmla="val 6397"/>
                </a:avLst>
              </a:prstGeom>
              <a:noFill/>
              <a:ln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C4DDF2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 w="9525">
                    <a:solidFill>
                      <a:sysClr val="windowText" lastClr="000000"/>
                    </a:solidFill>
                  </a:ln>
                </a:endParaRPr>
              </a:p>
            </p:txBody>
          </p:sp>
          <p:sp>
            <p:nvSpPr>
              <p:cNvPr id="397" name="文本框 396"/>
              <p:cNvSpPr txBox="1"/>
              <p:nvPr/>
            </p:nvSpPr>
            <p:spPr>
              <a:xfrm rot="10800000">
                <a:off x="3275" y="5615"/>
                <a:ext cx="142" cy="1597"/>
              </a:xfrm>
              <a:prstGeom prst="rect">
                <a:avLst/>
              </a:prstGeom>
              <a:noFill/>
            </p:spPr>
            <p:txBody>
              <a:bodyPr vert="eaVert" wrap="square" rtlCol="0">
                <a:noAutofit/>
              </a:bodyPr>
              <a:lstStyle/>
              <a:p>
                <a:r>
                  <a:rPr lang="en-US" altLang="zh-CN" sz="1200"/>
                  <a:t>Alternate</a:t>
                </a:r>
              </a:p>
            </p:txBody>
          </p:sp>
          <p:grpSp>
            <p:nvGrpSpPr>
              <p:cNvPr id="400" name="组合 399"/>
              <p:cNvGrpSpPr/>
              <p:nvPr/>
            </p:nvGrpSpPr>
            <p:grpSpPr>
              <a:xfrm>
                <a:off x="314" y="5961"/>
                <a:ext cx="5906" cy="1522"/>
                <a:chOff x="287" y="5961"/>
                <a:chExt cx="5906" cy="1522"/>
              </a:xfrm>
            </p:grpSpPr>
            <p:grpSp>
              <p:nvGrpSpPr>
                <p:cNvPr id="343" name="组合 342"/>
                <p:cNvGrpSpPr/>
                <p:nvPr/>
              </p:nvGrpSpPr>
              <p:grpSpPr>
                <a:xfrm>
                  <a:off x="3502" y="5961"/>
                  <a:ext cx="1462" cy="1522"/>
                  <a:chOff x="3244" y="5916"/>
                  <a:chExt cx="1462" cy="1522"/>
                </a:xfrm>
              </p:grpSpPr>
              <p:sp>
                <p:nvSpPr>
                  <p:cNvPr id="340" name="圆角矩形 339"/>
                  <p:cNvSpPr/>
                  <p:nvPr/>
                </p:nvSpPr>
                <p:spPr>
                  <a:xfrm>
                    <a:off x="3369" y="5952"/>
                    <a:ext cx="1200" cy="1487"/>
                  </a:xfrm>
                  <a:prstGeom prst="roundRect">
                    <a:avLst>
                      <a:gd name="adj" fmla="val 6043"/>
                    </a:avLst>
                  </a:prstGeom>
                  <a:solidFill>
                    <a:srgbClr val="DCEBF2"/>
                  </a:solidFill>
                  <a:ln>
                    <a:solidFill>
                      <a:srgbClr val="2E6C9C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313" name="组合 312"/>
                  <p:cNvGrpSpPr/>
                  <p:nvPr/>
                </p:nvGrpSpPr>
                <p:grpSpPr>
                  <a:xfrm>
                    <a:off x="3645" y="6096"/>
                    <a:ext cx="738" cy="242"/>
                    <a:chOff x="3669" y="5959"/>
                    <a:chExt cx="672" cy="242"/>
                  </a:xfrm>
                </p:grpSpPr>
                <p:sp>
                  <p:nvSpPr>
                    <p:cNvPr id="311" name="圆角矩形 310"/>
                    <p:cNvSpPr/>
                    <p:nvPr/>
                  </p:nvSpPr>
                  <p:spPr>
                    <a:xfrm>
                      <a:off x="3669" y="6004"/>
                      <a:ext cx="585" cy="197"/>
                    </a:xfrm>
                    <a:prstGeom prst="roundRect">
                      <a:avLst/>
                    </a:prstGeom>
                    <a:solidFill>
                      <a:srgbClr val="F1BD8C"/>
                    </a:solidFill>
                    <a:ln w="9525">
                      <a:solidFill>
                        <a:srgbClr val="AA794F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12" name="文本框 311"/>
                    <p:cNvSpPr txBox="1"/>
                    <p:nvPr/>
                  </p:nvSpPr>
                  <p:spPr>
                    <a:xfrm>
                      <a:off x="3669" y="5959"/>
                      <a:ext cx="672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600"/>
                        <a:t>Row 1</a:t>
                      </a:r>
                    </a:p>
                  </p:txBody>
                </p:sp>
              </p:grpSp>
              <p:grpSp>
                <p:nvGrpSpPr>
                  <p:cNvPr id="314" name="组合 313"/>
                  <p:cNvGrpSpPr/>
                  <p:nvPr/>
                </p:nvGrpSpPr>
                <p:grpSpPr>
                  <a:xfrm>
                    <a:off x="3645" y="6308"/>
                    <a:ext cx="740" cy="250"/>
                    <a:chOff x="3669" y="5951"/>
                    <a:chExt cx="672" cy="250"/>
                  </a:xfrm>
                </p:grpSpPr>
                <p:sp>
                  <p:nvSpPr>
                    <p:cNvPr id="315" name="圆角矩形 314"/>
                    <p:cNvSpPr/>
                    <p:nvPr/>
                  </p:nvSpPr>
                  <p:spPr>
                    <a:xfrm>
                      <a:off x="3669" y="6004"/>
                      <a:ext cx="585" cy="197"/>
                    </a:xfrm>
                    <a:prstGeom prst="roundRect">
                      <a:avLst/>
                    </a:prstGeom>
                    <a:solidFill>
                      <a:srgbClr val="F1BD8C"/>
                    </a:solidFill>
                    <a:ln w="9525">
                      <a:solidFill>
                        <a:srgbClr val="AA794F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16" name="文本框 315"/>
                    <p:cNvSpPr txBox="1"/>
                    <p:nvPr/>
                  </p:nvSpPr>
                  <p:spPr>
                    <a:xfrm>
                      <a:off x="3669" y="5951"/>
                      <a:ext cx="672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600"/>
                        <a:t>Row 2</a:t>
                      </a:r>
                    </a:p>
                  </p:txBody>
                </p:sp>
              </p:grpSp>
              <p:pic>
                <p:nvPicPr>
                  <p:cNvPr id="326" name="图片 325" descr="双向箭头"/>
                  <p:cNvPicPr>
                    <a:picLocks noChangeAspect="1"/>
                  </p:cNvPicPr>
                  <p:nvPr>
                    <p:custDataLst>
                      <p:tags r:id="rId30"/>
                    </p:custDataLst>
                  </p:nvPr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4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 flipH="1" flipV="1">
                    <a:off x="3851" y="6558"/>
                    <a:ext cx="218" cy="218"/>
                  </a:xfrm>
                  <a:prstGeom prst="rect">
                    <a:avLst/>
                  </a:prstGeom>
                </p:spPr>
              </p:pic>
              <p:grpSp>
                <p:nvGrpSpPr>
                  <p:cNvPr id="327" name="组合 326"/>
                  <p:cNvGrpSpPr/>
                  <p:nvPr/>
                </p:nvGrpSpPr>
                <p:grpSpPr>
                  <a:xfrm>
                    <a:off x="3644" y="6727"/>
                    <a:ext cx="741" cy="242"/>
                    <a:chOff x="3669" y="5959"/>
                    <a:chExt cx="673" cy="242"/>
                  </a:xfrm>
                </p:grpSpPr>
                <p:sp>
                  <p:nvSpPr>
                    <p:cNvPr id="328" name="圆角矩形 327"/>
                    <p:cNvSpPr/>
                    <p:nvPr/>
                  </p:nvSpPr>
                  <p:spPr>
                    <a:xfrm>
                      <a:off x="3669" y="6004"/>
                      <a:ext cx="585" cy="197"/>
                    </a:xfrm>
                    <a:prstGeom prst="roundRect">
                      <a:avLst/>
                    </a:prstGeom>
                    <a:solidFill>
                      <a:srgbClr val="F1BD8C"/>
                    </a:solidFill>
                    <a:ln w="9525">
                      <a:solidFill>
                        <a:srgbClr val="AA794F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29" name="文本框 328"/>
                    <p:cNvSpPr txBox="1"/>
                    <p:nvPr/>
                  </p:nvSpPr>
                  <p:spPr>
                    <a:xfrm>
                      <a:off x="3670" y="5959"/>
                      <a:ext cx="672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600"/>
                        <a:t>Row N</a:t>
                      </a:r>
                    </a:p>
                  </p:txBody>
                </p:sp>
              </p:grpSp>
              <p:grpSp>
                <p:nvGrpSpPr>
                  <p:cNvPr id="330" name="组合 329"/>
                  <p:cNvGrpSpPr/>
                  <p:nvPr/>
                </p:nvGrpSpPr>
                <p:grpSpPr>
                  <a:xfrm>
                    <a:off x="3598" y="6949"/>
                    <a:ext cx="791" cy="240"/>
                    <a:chOff x="3627" y="5961"/>
                    <a:chExt cx="717" cy="240"/>
                  </a:xfrm>
                </p:grpSpPr>
                <p:sp>
                  <p:nvSpPr>
                    <p:cNvPr id="331" name="圆角矩形 330"/>
                    <p:cNvSpPr/>
                    <p:nvPr/>
                  </p:nvSpPr>
                  <p:spPr>
                    <a:xfrm>
                      <a:off x="3669" y="6004"/>
                      <a:ext cx="585" cy="197"/>
                    </a:xfrm>
                    <a:prstGeom prst="roundRect">
                      <a:avLst/>
                    </a:prstGeom>
                    <a:solidFill>
                      <a:srgbClr val="F1BD8C"/>
                    </a:solidFill>
                    <a:ln w="9525">
                      <a:solidFill>
                        <a:srgbClr val="AA794F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32" name="文本框 331"/>
                    <p:cNvSpPr txBox="1"/>
                    <p:nvPr/>
                  </p:nvSpPr>
                  <p:spPr>
                    <a:xfrm>
                      <a:off x="3627" y="5961"/>
                      <a:ext cx="717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600"/>
                        <a:t>Thinking</a:t>
                      </a:r>
                    </a:p>
                  </p:txBody>
                </p:sp>
              </p:grpSp>
              <p:grpSp>
                <p:nvGrpSpPr>
                  <p:cNvPr id="333" name="组合 332"/>
                  <p:cNvGrpSpPr/>
                  <p:nvPr/>
                </p:nvGrpSpPr>
                <p:grpSpPr>
                  <a:xfrm>
                    <a:off x="3597" y="7167"/>
                    <a:ext cx="901" cy="242"/>
                    <a:chOff x="3626" y="5959"/>
                    <a:chExt cx="817" cy="242"/>
                  </a:xfrm>
                </p:grpSpPr>
                <p:sp>
                  <p:nvSpPr>
                    <p:cNvPr id="334" name="圆角矩形 333"/>
                    <p:cNvSpPr/>
                    <p:nvPr/>
                  </p:nvSpPr>
                  <p:spPr>
                    <a:xfrm>
                      <a:off x="3669" y="6004"/>
                      <a:ext cx="585" cy="197"/>
                    </a:xfrm>
                    <a:prstGeom prst="roundRect">
                      <a:avLst/>
                    </a:prstGeom>
                    <a:solidFill>
                      <a:srgbClr val="F1BD8C"/>
                    </a:solidFill>
                    <a:ln w="9525">
                      <a:solidFill>
                        <a:srgbClr val="AA794F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35" name="文本框 334"/>
                    <p:cNvSpPr txBox="1"/>
                    <p:nvPr/>
                  </p:nvSpPr>
                  <p:spPr>
                    <a:xfrm>
                      <a:off x="3626" y="5959"/>
                      <a:ext cx="817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600"/>
                        <a:t>Row test</a:t>
                      </a:r>
                    </a:p>
                  </p:txBody>
                </p:sp>
              </p:grpSp>
              <p:pic>
                <p:nvPicPr>
                  <p:cNvPr id="338" name="图片 337" descr="双向箭头"/>
                  <p:cNvPicPr>
                    <a:picLocks noChangeAspect="1"/>
                  </p:cNvPicPr>
                  <p:nvPr>
                    <p:custDataLst>
                      <p:tags r:id="rId31"/>
                    </p:custDataLst>
                  </p:nvPr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5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 flipH="1" flipV="1">
                    <a:off x="4000" y="6313"/>
                    <a:ext cx="878" cy="534"/>
                  </a:xfrm>
                  <a:prstGeom prst="rect">
                    <a:avLst/>
                  </a:prstGeom>
                </p:spPr>
              </p:pic>
              <p:pic>
                <p:nvPicPr>
                  <p:cNvPr id="339" name="图片 338" descr="双向箭头"/>
                  <p:cNvPicPr>
                    <a:picLocks noChangeAspect="1"/>
                  </p:cNvPicPr>
                  <p:nvPr>
                    <p:custDataLst>
                      <p:tags r:id="rId32"/>
                    </p:custDataLst>
                  </p:nvPr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5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 flipH="1" flipV="1">
                    <a:off x="3072" y="6313"/>
                    <a:ext cx="878" cy="534"/>
                  </a:xfrm>
                  <a:prstGeom prst="rect">
                    <a:avLst/>
                  </a:prstGeom>
                </p:spPr>
              </p:pic>
              <p:sp>
                <p:nvSpPr>
                  <p:cNvPr id="341" name="文本框 340"/>
                  <p:cNvSpPr txBox="1"/>
                  <p:nvPr/>
                </p:nvSpPr>
                <p:spPr>
                  <a:xfrm>
                    <a:off x="3343" y="5916"/>
                    <a:ext cx="1363" cy="1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r>
                      <a:rPr lang="en-US" altLang="zh-CN" sz="600" b="1"/>
                      <a:t>Sample Attention</a:t>
                    </a:r>
                  </a:p>
                </p:txBody>
              </p:sp>
            </p:grpSp>
            <p:grpSp>
              <p:nvGrpSpPr>
                <p:cNvPr id="310" name="组合 309"/>
                <p:cNvGrpSpPr/>
                <p:nvPr/>
              </p:nvGrpSpPr>
              <p:grpSpPr>
                <a:xfrm>
                  <a:off x="287" y="6071"/>
                  <a:ext cx="3032" cy="1390"/>
                  <a:chOff x="776" y="6222"/>
                  <a:chExt cx="3032" cy="1390"/>
                </a:xfrm>
              </p:grpSpPr>
              <p:sp>
                <p:nvSpPr>
                  <p:cNvPr id="306" name="圆角矩形 305"/>
                  <p:cNvSpPr/>
                  <p:nvPr/>
                </p:nvSpPr>
                <p:spPr>
                  <a:xfrm>
                    <a:off x="776" y="6222"/>
                    <a:ext cx="3032" cy="1390"/>
                  </a:xfrm>
                  <a:prstGeom prst="roundRect">
                    <a:avLst>
                      <a:gd name="adj" fmla="val 6043"/>
                    </a:avLst>
                  </a:prstGeom>
                  <a:solidFill>
                    <a:srgbClr val="DBEDEB"/>
                  </a:solidFill>
                  <a:ln>
                    <a:solidFill>
                      <a:srgbClr val="4A7473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307" name="组合 306"/>
                  <p:cNvGrpSpPr/>
                  <p:nvPr/>
                </p:nvGrpSpPr>
                <p:grpSpPr>
                  <a:xfrm>
                    <a:off x="776" y="6266"/>
                    <a:ext cx="3032" cy="1235"/>
                    <a:chOff x="776" y="6266"/>
                    <a:chExt cx="3032" cy="1235"/>
                  </a:xfrm>
                </p:grpSpPr>
                <p:sp>
                  <p:nvSpPr>
                    <p:cNvPr id="230" name="圆角矩形 229"/>
                    <p:cNvSpPr/>
                    <p:nvPr/>
                  </p:nvSpPr>
                  <p:spPr>
                    <a:xfrm>
                      <a:off x="852" y="6471"/>
                      <a:ext cx="295" cy="289"/>
                    </a:xfrm>
                    <a:prstGeom prst="roundRect">
                      <a:avLst/>
                    </a:prstGeom>
                    <a:solidFill>
                      <a:srgbClr val="BBD8D7"/>
                    </a:solidFill>
                    <a:ln>
                      <a:solidFill>
                        <a:srgbClr val="4A747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31" name="文本框 230"/>
                    <p:cNvSpPr txBox="1"/>
                    <p:nvPr/>
                  </p:nvSpPr>
                  <p:spPr>
                    <a:xfrm>
                      <a:off x="776" y="6396"/>
                      <a:ext cx="486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000" i="1"/>
                        <a:t>x</a:t>
                      </a:r>
                      <a:r>
                        <a:rPr lang="en-US" altLang="zh-CN" sz="1000" baseline="-25000"/>
                        <a:t>1</a:t>
                      </a:r>
                    </a:p>
                  </p:txBody>
                </p:sp>
                <p:sp>
                  <p:nvSpPr>
                    <p:cNvPr id="232" name="圆角矩形 231"/>
                    <p:cNvSpPr/>
                    <p:nvPr/>
                  </p:nvSpPr>
                  <p:spPr>
                    <a:xfrm>
                      <a:off x="852" y="6851"/>
                      <a:ext cx="295" cy="289"/>
                    </a:xfrm>
                    <a:prstGeom prst="roundRect">
                      <a:avLst/>
                    </a:prstGeom>
                    <a:solidFill>
                      <a:srgbClr val="BBD8D7"/>
                    </a:solidFill>
                    <a:ln>
                      <a:solidFill>
                        <a:srgbClr val="4A747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33" name="文本框 232"/>
                    <p:cNvSpPr txBox="1"/>
                    <p:nvPr/>
                  </p:nvSpPr>
                  <p:spPr>
                    <a:xfrm>
                      <a:off x="776" y="6776"/>
                      <a:ext cx="486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000" i="1"/>
                        <a:t>x</a:t>
                      </a:r>
                      <a:r>
                        <a:rPr lang="en-US" altLang="zh-CN" sz="1000" baseline="-25000"/>
                        <a:t>1</a:t>
                      </a:r>
                    </a:p>
                  </p:txBody>
                </p:sp>
                <p:sp>
                  <p:nvSpPr>
                    <p:cNvPr id="234" name="圆角矩形 233"/>
                    <p:cNvSpPr/>
                    <p:nvPr/>
                  </p:nvSpPr>
                  <p:spPr>
                    <a:xfrm>
                      <a:off x="852" y="7211"/>
                      <a:ext cx="295" cy="289"/>
                    </a:xfrm>
                    <a:prstGeom prst="roundRect">
                      <a:avLst/>
                    </a:prstGeom>
                    <a:solidFill>
                      <a:srgbClr val="BBD8D7"/>
                    </a:solidFill>
                    <a:ln>
                      <a:solidFill>
                        <a:srgbClr val="4A747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35" name="文本框 234"/>
                    <p:cNvSpPr txBox="1"/>
                    <p:nvPr/>
                  </p:nvSpPr>
                  <p:spPr>
                    <a:xfrm>
                      <a:off x="776" y="7136"/>
                      <a:ext cx="486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000" i="1"/>
                        <a:t>x</a:t>
                      </a:r>
                      <a:r>
                        <a:rPr lang="en-US" altLang="zh-CN" sz="1000" baseline="-25000"/>
                        <a:t>1</a:t>
                      </a:r>
                    </a:p>
                  </p:txBody>
                </p:sp>
                <p:sp>
                  <p:nvSpPr>
                    <p:cNvPr id="236" name="圆角矩形 235"/>
                    <p:cNvSpPr/>
                    <p:nvPr/>
                  </p:nvSpPr>
                  <p:spPr>
                    <a:xfrm>
                      <a:off x="1494" y="6471"/>
                      <a:ext cx="295" cy="289"/>
                    </a:xfrm>
                    <a:prstGeom prst="roundRect">
                      <a:avLst/>
                    </a:prstGeom>
                    <a:solidFill>
                      <a:srgbClr val="BBD8D7"/>
                    </a:solidFill>
                    <a:ln>
                      <a:solidFill>
                        <a:srgbClr val="4A747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37" name="文本框 236"/>
                    <p:cNvSpPr txBox="1"/>
                    <p:nvPr/>
                  </p:nvSpPr>
                  <p:spPr>
                    <a:xfrm>
                      <a:off x="1418" y="6396"/>
                      <a:ext cx="486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000" i="1"/>
                        <a:t>x</a:t>
                      </a:r>
                      <a:r>
                        <a:rPr lang="en-US" altLang="zh-CN" sz="1000" baseline="-25000"/>
                        <a:t>2</a:t>
                      </a:r>
                    </a:p>
                  </p:txBody>
                </p:sp>
                <p:sp>
                  <p:nvSpPr>
                    <p:cNvPr id="238" name="圆角矩形 237"/>
                    <p:cNvSpPr/>
                    <p:nvPr/>
                  </p:nvSpPr>
                  <p:spPr>
                    <a:xfrm>
                      <a:off x="1494" y="6851"/>
                      <a:ext cx="295" cy="289"/>
                    </a:xfrm>
                    <a:prstGeom prst="roundRect">
                      <a:avLst/>
                    </a:prstGeom>
                    <a:solidFill>
                      <a:srgbClr val="BBD8D7"/>
                    </a:solidFill>
                    <a:ln>
                      <a:solidFill>
                        <a:srgbClr val="4A747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39" name="文本框 238"/>
                    <p:cNvSpPr txBox="1"/>
                    <p:nvPr/>
                  </p:nvSpPr>
                  <p:spPr>
                    <a:xfrm>
                      <a:off x="1418" y="6776"/>
                      <a:ext cx="486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000" i="1"/>
                        <a:t>x</a:t>
                      </a:r>
                      <a:r>
                        <a:rPr lang="en-US" altLang="zh-CN" sz="1000" baseline="-25000"/>
                        <a:t>2</a:t>
                      </a:r>
                    </a:p>
                  </p:txBody>
                </p:sp>
                <p:sp>
                  <p:nvSpPr>
                    <p:cNvPr id="240" name="圆角矩形 239"/>
                    <p:cNvSpPr/>
                    <p:nvPr/>
                  </p:nvSpPr>
                  <p:spPr>
                    <a:xfrm>
                      <a:off x="1494" y="7211"/>
                      <a:ext cx="295" cy="289"/>
                    </a:xfrm>
                    <a:prstGeom prst="roundRect">
                      <a:avLst/>
                    </a:prstGeom>
                    <a:solidFill>
                      <a:srgbClr val="BBD8D7"/>
                    </a:solidFill>
                    <a:ln>
                      <a:solidFill>
                        <a:srgbClr val="4A747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41" name="文本框 240"/>
                    <p:cNvSpPr txBox="1"/>
                    <p:nvPr/>
                  </p:nvSpPr>
                  <p:spPr>
                    <a:xfrm>
                      <a:off x="1418" y="7136"/>
                      <a:ext cx="486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000" i="1"/>
                        <a:t>x</a:t>
                      </a:r>
                      <a:r>
                        <a:rPr lang="en-US" altLang="zh-CN" sz="1000" baseline="-25000"/>
                        <a:t>2</a:t>
                      </a:r>
                    </a:p>
                  </p:txBody>
                </p:sp>
                <p:pic>
                  <p:nvPicPr>
                    <p:cNvPr id="278" name="图片 277" descr="双向箭头"/>
                    <p:cNvPicPr>
                      <a:picLocks noChangeAspect="1"/>
                    </p:cNvPicPr>
                    <p:nvPr>
                      <p:custDataLst>
                        <p:tags r:id="rId18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162" y="6470"/>
                      <a:ext cx="306" cy="3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79" name="图片 278" descr="双向箭头"/>
                    <p:cNvPicPr>
                      <a:picLocks noChangeAspect="1"/>
                    </p:cNvPicPr>
                    <p:nvPr>
                      <p:custDataLst>
                        <p:tags r:id="rId19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162" y="6830"/>
                      <a:ext cx="306" cy="3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80" name="图片 279" descr="双向箭头"/>
                    <p:cNvPicPr>
                      <a:picLocks noChangeAspect="1"/>
                    </p:cNvPicPr>
                    <p:nvPr>
                      <p:custDataLst>
                        <p:tags r:id="rId20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162" y="7194"/>
                      <a:ext cx="306" cy="306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281" name="圆角矩形 280"/>
                    <p:cNvSpPr/>
                    <p:nvPr/>
                  </p:nvSpPr>
                  <p:spPr>
                    <a:xfrm>
                      <a:off x="2756" y="6471"/>
                      <a:ext cx="295" cy="289"/>
                    </a:xfrm>
                    <a:prstGeom prst="roundRect">
                      <a:avLst/>
                    </a:prstGeom>
                    <a:solidFill>
                      <a:srgbClr val="BBD8D7"/>
                    </a:solidFill>
                    <a:ln>
                      <a:solidFill>
                        <a:srgbClr val="4A747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82" name="文本框 281"/>
                    <p:cNvSpPr txBox="1"/>
                    <p:nvPr/>
                  </p:nvSpPr>
                  <p:spPr>
                    <a:xfrm>
                      <a:off x="2680" y="6396"/>
                      <a:ext cx="486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000" i="1"/>
                        <a:t>x</a:t>
                      </a:r>
                      <a:r>
                        <a:rPr lang="en-US" altLang="zh-CN" sz="1000" baseline="-25000"/>
                        <a:t>p</a:t>
                      </a:r>
                    </a:p>
                  </p:txBody>
                </p:sp>
                <p:sp>
                  <p:nvSpPr>
                    <p:cNvPr id="283" name="圆角矩形 282"/>
                    <p:cNvSpPr/>
                    <p:nvPr/>
                  </p:nvSpPr>
                  <p:spPr>
                    <a:xfrm>
                      <a:off x="2756" y="6851"/>
                      <a:ext cx="295" cy="289"/>
                    </a:xfrm>
                    <a:prstGeom prst="roundRect">
                      <a:avLst/>
                    </a:prstGeom>
                    <a:solidFill>
                      <a:srgbClr val="BBD8D7"/>
                    </a:solidFill>
                    <a:ln>
                      <a:solidFill>
                        <a:srgbClr val="4A747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84" name="文本框 283"/>
                    <p:cNvSpPr txBox="1"/>
                    <p:nvPr/>
                  </p:nvSpPr>
                  <p:spPr>
                    <a:xfrm>
                      <a:off x="2680" y="6776"/>
                      <a:ext cx="486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000" i="1"/>
                        <a:t>x</a:t>
                      </a:r>
                      <a:r>
                        <a:rPr lang="en-US" altLang="zh-CN" sz="1000" baseline="-25000"/>
                        <a:t>p</a:t>
                      </a:r>
                    </a:p>
                  </p:txBody>
                </p:sp>
                <p:sp>
                  <p:nvSpPr>
                    <p:cNvPr id="285" name="圆角矩形 284"/>
                    <p:cNvSpPr/>
                    <p:nvPr/>
                  </p:nvSpPr>
                  <p:spPr>
                    <a:xfrm>
                      <a:off x="2756" y="7211"/>
                      <a:ext cx="295" cy="289"/>
                    </a:xfrm>
                    <a:prstGeom prst="roundRect">
                      <a:avLst/>
                    </a:prstGeom>
                    <a:solidFill>
                      <a:srgbClr val="BBD8D7"/>
                    </a:solidFill>
                    <a:ln>
                      <a:solidFill>
                        <a:srgbClr val="4A747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86" name="文本框 285"/>
                    <p:cNvSpPr txBox="1"/>
                    <p:nvPr/>
                  </p:nvSpPr>
                  <p:spPr>
                    <a:xfrm>
                      <a:off x="2680" y="7136"/>
                      <a:ext cx="486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000" i="1"/>
                        <a:t>x</a:t>
                      </a:r>
                      <a:r>
                        <a:rPr lang="en-US" altLang="zh-CN" sz="1000" baseline="-25000"/>
                        <a:t>p</a:t>
                      </a:r>
                    </a:p>
                  </p:txBody>
                </p:sp>
                <p:sp>
                  <p:nvSpPr>
                    <p:cNvPr id="287" name="圆角矩形 286"/>
                    <p:cNvSpPr/>
                    <p:nvPr/>
                  </p:nvSpPr>
                  <p:spPr>
                    <a:xfrm>
                      <a:off x="3398" y="6471"/>
                      <a:ext cx="295" cy="289"/>
                    </a:xfrm>
                    <a:prstGeom prst="roundRect">
                      <a:avLst/>
                    </a:prstGeom>
                    <a:solidFill>
                      <a:srgbClr val="BBD8D7"/>
                    </a:solidFill>
                    <a:ln>
                      <a:solidFill>
                        <a:srgbClr val="4A747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88" name="文本框 287"/>
                    <p:cNvSpPr txBox="1"/>
                    <p:nvPr/>
                  </p:nvSpPr>
                  <p:spPr>
                    <a:xfrm>
                      <a:off x="3342" y="6396"/>
                      <a:ext cx="466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000" i="1"/>
                        <a:t>y</a:t>
                      </a:r>
                      <a:endParaRPr lang="en-US" altLang="zh-CN" sz="1000" baseline="-25000"/>
                    </a:p>
                  </p:txBody>
                </p:sp>
                <p:sp>
                  <p:nvSpPr>
                    <p:cNvPr id="289" name="圆角矩形 288"/>
                    <p:cNvSpPr/>
                    <p:nvPr/>
                  </p:nvSpPr>
                  <p:spPr>
                    <a:xfrm>
                      <a:off x="3398" y="6851"/>
                      <a:ext cx="295" cy="289"/>
                    </a:xfrm>
                    <a:prstGeom prst="roundRect">
                      <a:avLst/>
                    </a:prstGeom>
                    <a:solidFill>
                      <a:srgbClr val="BBD8D7"/>
                    </a:solidFill>
                    <a:ln>
                      <a:solidFill>
                        <a:srgbClr val="4A747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90" name="文本框 289"/>
                    <p:cNvSpPr txBox="1"/>
                    <p:nvPr/>
                  </p:nvSpPr>
                  <p:spPr>
                    <a:xfrm>
                      <a:off x="3342" y="6776"/>
                      <a:ext cx="466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000" i="1"/>
                        <a:t>y</a:t>
                      </a:r>
                      <a:endParaRPr lang="en-US" altLang="zh-CN" sz="1000" baseline="-25000"/>
                    </a:p>
                  </p:txBody>
                </p:sp>
                <p:sp>
                  <p:nvSpPr>
                    <p:cNvPr id="291" name="圆角矩形 290"/>
                    <p:cNvSpPr/>
                    <p:nvPr/>
                  </p:nvSpPr>
                  <p:spPr>
                    <a:xfrm>
                      <a:off x="3398" y="7211"/>
                      <a:ext cx="295" cy="289"/>
                    </a:xfrm>
                    <a:prstGeom prst="roundRect">
                      <a:avLst/>
                    </a:prstGeom>
                    <a:solidFill>
                      <a:srgbClr val="BBD8D7"/>
                    </a:solidFill>
                    <a:ln>
                      <a:solidFill>
                        <a:srgbClr val="4A747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altLang="zh-CN" sz="10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92" name="文本框 291"/>
                    <p:cNvSpPr txBox="1"/>
                    <p:nvPr/>
                  </p:nvSpPr>
                  <p:spPr>
                    <a:xfrm>
                      <a:off x="3343" y="7136"/>
                      <a:ext cx="465" cy="1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000" i="1"/>
                        <a:t>y</a:t>
                      </a:r>
                      <a:endParaRPr lang="en-US" altLang="zh-CN" sz="1000" baseline="-25000"/>
                    </a:p>
                  </p:txBody>
                </p:sp>
                <p:pic>
                  <p:nvPicPr>
                    <p:cNvPr id="293" name="图片 292" descr="双向箭头"/>
                    <p:cNvPicPr>
                      <a:picLocks noChangeAspect="1"/>
                    </p:cNvPicPr>
                    <p:nvPr>
                      <p:custDataLst>
                        <p:tags r:id="rId21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3066" y="6470"/>
                      <a:ext cx="306" cy="3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94" name="图片 293" descr="双向箭头"/>
                    <p:cNvPicPr>
                      <a:picLocks noChangeAspect="1"/>
                    </p:cNvPicPr>
                    <p:nvPr>
                      <p:custDataLst>
                        <p:tags r:id="rId22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3066" y="6830"/>
                      <a:ext cx="306" cy="3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95" name="图片 294" descr="双向箭头"/>
                    <p:cNvPicPr>
                      <a:picLocks noChangeAspect="1"/>
                    </p:cNvPicPr>
                    <p:nvPr>
                      <p:custDataLst>
                        <p:tags r:id="rId23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3066" y="7194"/>
                      <a:ext cx="306" cy="3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97" name="图片 296" descr="双向箭头"/>
                    <p:cNvPicPr>
                      <a:picLocks noChangeAspect="1"/>
                    </p:cNvPicPr>
                    <p:nvPr>
                      <p:custDataLst>
                        <p:tags r:id="rId24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788" y="6471"/>
                      <a:ext cx="306" cy="3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98" name="图片 297" descr="双向箭头"/>
                    <p:cNvPicPr>
                      <a:picLocks noChangeAspect="1"/>
                    </p:cNvPicPr>
                    <p:nvPr>
                      <p:custDataLst>
                        <p:tags r:id="rId25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788" y="6831"/>
                      <a:ext cx="306" cy="3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99" name="图片 298" descr="双向箭头"/>
                    <p:cNvPicPr>
                      <a:picLocks noChangeAspect="1"/>
                    </p:cNvPicPr>
                    <p:nvPr>
                      <p:custDataLst>
                        <p:tags r:id="rId26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788" y="7195"/>
                      <a:ext cx="306" cy="3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00" name="图片 299" descr="双向箭头"/>
                    <p:cNvPicPr>
                      <a:picLocks noChangeAspect="1"/>
                    </p:cNvPicPr>
                    <p:nvPr>
                      <p:custDataLst>
                        <p:tags r:id="rId27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50" y="6470"/>
                      <a:ext cx="306" cy="3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01" name="图片 300" descr="双向箭头"/>
                    <p:cNvPicPr>
                      <a:picLocks noChangeAspect="1"/>
                    </p:cNvPicPr>
                    <p:nvPr>
                      <p:custDataLst>
                        <p:tags r:id="rId28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50" y="6830"/>
                      <a:ext cx="306" cy="30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02" name="图片 301" descr="双向箭头"/>
                    <p:cNvPicPr>
                      <a:picLocks noChangeAspect="1"/>
                    </p:cNvPicPr>
                    <p:nvPr>
                      <p:custDataLst>
                        <p:tags r:id="rId29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50" y="7194"/>
                      <a:ext cx="306" cy="306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03" name="文本框 302"/>
                    <p:cNvSpPr txBox="1"/>
                    <p:nvPr/>
                  </p:nvSpPr>
                  <p:spPr>
                    <a:xfrm>
                      <a:off x="1966" y="6266"/>
                      <a:ext cx="714" cy="14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600">
                          <a:solidFill>
                            <a:srgbClr val="41898E"/>
                          </a:solidFill>
                        </a:rPr>
                        <a:t>…</a:t>
                      </a:r>
                    </a:p>
                  </p:txBody>
                </p:sp>
                <p:sp>
                  <p:nvSpPr>
                    <p:cNvPr id="304" name="文本框 303"/>
                    <p:cNvSpPr txBox="1"/>
                    <p:nvPr/>
                  </p:nvSpPr>
                  <p:spPr>
                    <a:xfrm>
                      <a:off x="1966" y="6631"/>
                      <a:ext cx="714" cy="14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600">
                          <a:solidFill>
                            <a:srgbClr val="41898E"/>
                          </a:solidFill>
                        </a:rPr>
                        <a:t>…</a:t>
                      </a:r>
                    </a:p>
                  </p:txBody>
                </p:sp>
                <p:sp>
                  <p:nvSpPr>
                    <p:cNvPr id="305" name="文本框 304"/>
                    <p:cNvSpPr txBox="1"/>
                    <p:nvPr/>
                  </p:nvSpPr>
                  <p:spPr>
                    <a:xfrm>
                      <a:off x="1966" y="6995"/>
                      <a:ext cx="714" cy="14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lstStyle/>
                    <a:p>
                      <a:r>
                        <a:rPr lang="en-US" altLang="zh-CN" sz="1600">
                          <a:solidFill>
                            <a:srgbClr val="41898E"/>
                          </a:solidFill>
                        </a:rPr>
                        <a:t>…</a:t>
                      </a:r>
                    </a:p>
                  </p:txBody>
                </p:sp>
              </p:grpSp>
              <p:sp>
                <p:nvSpPr>
                  <p:cNvPr id="309" name="文本框 308"/>
                  <p:cNvSpPr txBox="1"/>
                  <p:nvPr/>
                </p:nvSpPr>
                <p:spPr>
                  <a:xfrm>
                    <a:off x="1652" y="6222"/>
                    <a:ext cx="1363" cy="1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r>
                      <a:rPr lang="en-US" altLang="zh-CN" sz="600" b="1"/>
                      <a:t> Feature Attention</a:t>
                    </a:r>
                  </a:p>
                </p:txBody>
              </p:sp>
            </p:grpSp>
            <p:grpSp>
              <p:nvGrpSpPr>
                <p:cNvPr id="396" name="组合 395"/>
                <p:cNvGrpSpPr/>
                <p:nvPr/>
              </p:nvGrpSpPr>
              <p:grpSpPr>
                <a:xfrm>
                  <a:off x="4703" y="6371"/>
                  <a:ext cx="1491" cy="841"/>
                  <a:chOff x="4791" y="6366"/>
                  <a:chExt cx="1491" cy="841"/>
                </a:xfrm>
              </p:grpSpPr>
              <p:grpSp>
                <p:nvGrpSpPr>
                  <p:cNvPr id="388" name="组合 387"/>
                  <p:cNvGrpSpPr/>
                  <p:nvPr/>
                </p:nvGrpSpPr>
                <p:grpSpPr>
                  <a:xfrm>
                    <a:off x="5464" y="6391"/>
                    <a:ext cx="818" cy="816"/>
                    <a:chOff x="5083" y="6371"/>
                    <a:chExt cx="609" cy="604"/>
                  </a:xfrm>
                </p:grpSpPr>
                <p:grpSp>
                  <p:nvGrpSpPr>
                    <p:cNvPr id="373" name="组合 372"/>
                    <p:cNvGrpSpPr/>
                    <p:nvPr/>
                  </p:nvGrpSpPr>
                  <p:grpSpPr>
                    <a:xfrm>
                      <a:off x="5487" y="6568"/>
                      <a:ext cx="205" cy="195"/>
                      <a:chOff x="5820" y="5719"/>
                      <a:chExt cx="202" cy="196"/>
                    </a:xfrm>
                    <a:solidFill>
                      <a:srgbClr val="E6A099"/>
                    </a:solidFill>
                  </p:grpSpPr>
                  <p:sp>
                    <p:nvSpPr>
                      <p:cNvPr id="374" name="矩形 373"/>
                      <p:cNvSpPr/>
                      <p:nvPr/>
                    </p:nvSpPr>
                    <p:spPr>
                      <a:xfrm>
                        <a:off x="5821" y="5719"/>
                        <a:ext cx="201" cy="197"/>
                      </a:xfrm>
                      <a:prstGeom prst="rect">
                        <a:avLst/>
                      </a:prstGeom>
                      <a:grpFill/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pic>
                    <p:nvPicPr>
                      <p:cNvPr id="375" name="图片 374" descr="叉-镂空"/>
                      <p:cNvPicPr>
                        <a:picLocks noChangeAspect="1"/>
                      </p:cNvPicPr>
                      <p:nvPr>
                        <p:custDataLst>
                          <p:tags r:id="rId17"/>
                        </p:custDataLst>
                      </p:nvPr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5820" y="5733"/>
                        <a:ext cx="202" cy="183"/>
                      </a:xfrm>
                      <a:prstGeom prst="rect">
                        <a:avLst/>
                      </a:prstGeom>
                      <a:grpFill/>
                    </p:spPr>
                  </p:pic>
                </p:grpSp>
                <p:sp>
                  <p:nvSpPr>
                    <p:cNvPr id="344" name="矩形 343"/>
                    <p:cNvSpPr/>
                    <p:nvPr/>
                  </p:nvSpPr>
                  <p:spPr>
                    <a:xfrm>
                      <a:off x="5084" y="6372"/>
                      <a:ext cx="201" cy="193"/>
                    </a:xfrm>
                    <a:prstGeom prst="rect">
                      <a:avLst/>
                    </a:prstGeom>
                    <a:solidFill>
                      <a:srgbClr val="ADC7A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pic>
                  <p:nvPicPr>
                    <p:cNvPr id="345" name="图片 344" descr="勾-镂空"/>
                    <p:cNvPicPr>
                      <a:picLocks noChangeAspect="1"/>
                    </p:cNvPicPr>
                    <p:nvPr>
                      <p:custDataLst>
                        <p:tags r:id="rId7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089" y="6385"/>
                      <a:ext cx="196" cy="196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46" name="矩形 345"/>
                    <p:cNvSpPr/>
                    <p:nvPr/>
                  </p:nvSpPr>
                  <p:spPr>
                    <a:xfrm>
                      <a:off x="5084" y="6565"/>
                      <a:ext cx="201" cy="197"/>
                    </a:xfrm>
                    <a:prstGeom prst="rect">
                      <a:avLst/>
                    </a:prstGeom>
                    <a:solidFill>
                      <a:srgbClr val="ADC7A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pic>
                  <p:nvPicPr>
                    <p:cNvPr id="347" name="图片 346" descr="勾-镂空"/>
                    <p:cNvPicPr>
                      <a:picLocks noChangeAspect="1"/>
                    </p:cNvPicPr>
                    <p:nvPr>
                      <p:custDataLst>
                        <p:tags r:id="rId8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089" y="6582"/>
                      <a:ext cx="196" cy="196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48" name="矩形 347"/>
                    <p:cNvSpPr/>
                    <p:nvPr/>
                  </p:nvSpPr>
                  <p:spPr>
                    <a:xfrm>
                      <a:off x="5083" y="6762"/>
                      <a:ext cx="201" cy="197"/>
                    </a:xfrm>
                    <a:prstGeom prst="rect">
                      <a:avLst/>
                    </a:prstGeom>
                    <a:solidFill>
                      <a:srgbClr val="ADC7A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pic>
                  <p:nvPicPr>
                    <p:cNvPr id="349" name="图片 348" descr="勾-镂空"/>
                    <p:cNvPicPr>
                      <a:picLocks noChangeAspect="1"/>
                    </p:cNvPicPr>
                    <p:nvPr>
                      <p:custDataLst>
                        <p:tags r:id="rId9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088" y="6779"/>
                      <a:ext cx="196" cy="196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50" name="矩形 349"/>
                    <p:cNvSpPr/>
                    <p:nvPr/>
                  </p:nvSpPr>
                  <p:spPr>
                    <a:xfrm>
                      <a:off x="5289" y="6371"/>
                      <a:ext cx="201" cy="197"/>
                    </a:xfrm>
                    <a:prstGeom prst="rect">
                      <a:avLst/>
                    </a:prstGeom>
                    <a:solidFill>
                      <a:srgbClr val="ADC7A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pic>
                  <p:nvPicPr>
                    <p:cNvPr id="351" name="图片 350" descr="勾-镂空"/>
                    <p:cNvPicPr>
                      <a:picLocks noChangeAspect="1"/>
                    </p:cNvPicPr>
                    <p:nvPr>
                      <p:custDataLst>
                        <p:tags r:id="rId10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294" y="6388"/>
                      <a:ext cx="196" cy="196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52" name="矩形 351"/>
                    <p:cNvSpPr/>
                    <p:nvPr/>
                  </p:nvSpPr>
                  <p:spPr>
                    <a:xfrm>
                      <a:off x="5289" y="6568"/>
                      <a:ext cx="201" cy="197"/>
                    </a:xfrm>
                    <a:prstGeom prst="rect">
                      <a:avLst/>
                    </a:prstGeom>
                    <a:solidFill>
                      <a:srgbClr val="ADC7A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pic>
                  <p:nvPicPr>
                    <p:cNvPr id="353" name="图片 352" descr="勾-镂空"/>
                    <p:cNvPicPr>
                      <a:picLocks noChangeAspect="1"/>
                    </p:cNvPicPr>
                    <p:nvPr>
                      <p:custDataLst>
                        <p:tags r:id="rId11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294" y="6585"/>
                      <a:ext cx="196" cy="196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54" name="矩形 353"/>
                    <p:cNvSpPr/>
                    <p:nvPr/>
                  </p:nvSpPr>
                  <p:spPr>
                    <a:xfrm>
                      <a:off x="5288" y="6765"/>
                      <a:ext cx="201" cy="194"/>
                    </a:xfrm>
                    <a:prstGeom prst="rect">
                      <a:avLst/>
                    </a:prstGeom>
                    <a:solidFill>
                      <a:srgbClr val="ADC7A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pic>
                  <p:nvPicPr>
                    <p:cNvPr id="355" name="图片 354" descr="勾-镂空"/>
                    <p:cNvPicPr>
                      <a:picLocks noChangeAspect="1"/>
                    </p:cNvPicPr>
                    <p:nvPr>
                      <p:custDataLst>
                        <p:tags r:id="rId12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293" y="6782"/>
                      <a:ext cx="196" cy="193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369" name="组合 368"/>
                    <p:cNvGrpSpPr/>
                    <p:nvPr/>
                  </p:nvGrpSpPr>
                  <p:grpSpPr>
                    <a:xfrm>
                      <a:off x="5489" y="6371"/>
                      <a:ext cx="202" cy="196"/>
                      <a:chOff x="5820" y="5719"/>
                      <a:chExt cx="202" cy="196"/>
                    </a:xfrm>
                  </p:grpSpPr>
                  <p:sp>
                    <p:nvSpPr>
                      <p:cNvPr id="356" name="矩形 355"/>
                      <p:cNvSpPr/>
                      <p:nvPr/>
                    </p:nvSpPr>
                    <p:spPr>
                      <a:xfrm>
                        <a:off x="5821" y="5719"/>
                        <a:ext cx="201" cy="197"/>
                      </a:xfrm>
                      <a:prstGeom prst="rect">
                        <a:avLst/>
                      </a:prstGeom>
                      <a:solidFill>
                        <a:srgbClr val="E6A099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pic>
                    <p:nvPicPr>
                      <p:cNvPr id="362" name="图片 361" descr="叉-镂空"/>
                      <p:cNvPicPr>
                        <a:picLocks noChangeAspect="1"/>
                      </p:cNvPicPr>
                      <p:nvPr>
                        <p:custDataLst>
                          <p:tags r:id="rId16"/>
                        </p:custDataLst>
                      </p:nvPr>
                    </p:nvPicPr>
                    <p:blipFill>
                      <a:blip>
                        <a:extLst>
                          <a:ext uri="{96DAC541-7B7A-43D3-8B79-37D633B846F1}">
                            <asvg:svgBlip xmlns:asvg="http://schemas.microsoft.com/office/drawing/2016/SVG/main" r:embed="rId47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820" y="5733"/>
                        <a:ext cx="202" cy="183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384" name="图片 383" descr="叉-镂空"/>
                    <p:cNvPicPr>
                      <a:picLocks noChangeAspect="1"/>
                    </p:cNvPicPr>
                    <p:nvPr>
                      <p:custDataLst>
                        <p:tags r:id="rId13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492" y="6572"/>
                      <a:ext cx="200" cy="200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376" name="组合 375"/>
                    <p:cNvGrpSpPr/>
                    <p:nvPr/>
                  </p:nvGrpSpPr>
                  <p:grpSpPr>
                    <a:xfrm>
                      <a:off x="5490" y="6765"/>
                      <a:ext cx="202" cy="193"/>
                      <a:chOff x="5820" y="5719"/>
                      <a:chExt cx="202" cy="196"/>
                    </a:xfrm>
                    <a:solidFill>
                      <a:srgbClr val="E6A099"/>
                    </a:solidFill>
                  </p:grpSpPr>
                  <p:sp>
                    <p:nvSpPr>
                      <p:cNvPr id="377" name="矩形 376"/>
                      <p:cNvSpPr/>
                      <p:nvPr/>
                    </p:nvSpPr>
                    <p:spPr>
                      <a:xfrm>
                        <a:off x="5821" y="5719"/>
                        <a:ext cx="201" cy="197"/>
                      </a:xfrm>
                      <a:prstGeom prst="rect">
                        <a:avLst/>
                      </a:prstGeom>
                      <a:grpFill/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pic>
                    <p:nvPicPr>
                      <p:cNvPr id="378" name="图片 377" descr="叉-镂空"/>
                      <p:cNvPicPr>
                        <a:picLocks noChangeAspect="1"/>
                      </p:cNvPicPr>
                      <p:nvPr>
                        <p:custDataLst>
                          <p:tags r:id="rId15"/>
                        </p:custDataLst>
                      </p:nvPr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5820" y="5733"/>
                        <a:ext cx="202" cy="183"/>
                      </a:xfrm>
                      <a:prstGeom prst="rect">
                        <a:avLst/>
                      </a:prstGeom>
                      <a:grpFill/>
                    </p:spPr>
                  </p:pic>
                </p:grpSp>
                <p:pic>
                  <p:nvPicPr>
                    <p:cNvPr id="387" name="图片 386" descr="叉-镂空"/>
                    <p:cNvPicPr>
                      <a:picLocks noChangeAspect="1"/>
                    </p:cNvPicPr>
                    <p:nvPr>
                      <p:custDataLst>
                        <p:tags r:id="rId14"/>
                      </p:custDataLst>
                    </p:nvPr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4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499" y="6765"/>
                      <a:ext cx="192" cy="192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389" name="文本框 388"/>
                  <p:cNvSpPr txBox="1"/>
                  <p:nvPr/>
                </p:nvSpPr>
                <p:spPr>
                  <a:xfrm>
                    <a:off x="4984" y="6366"/>
                    <a:ext cx="662" cy="1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r>
                      <a:rPr lang="en-US" altLang="zh-CN" sz="600" b="1"/>
                      <a:t>Train</a:t>
                    </a:r>
                  </a:p>
                </p:txBody>
              </p:sp>
              <p:sp>
                <p:nvSpPr>
                  <p:cNvPr id="390" name="文本框 389"/>
                  <p:cNvSpPr txBox="1"/>
                  <p:nvPr/>
                </p:nvSpPr>
                <p:spPr>
                  <a:xfrm>
                    <a:off x="4791" y="6647"/>
                    <a:ext cx="814" cy="1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r>
                      <a:rPr lang="en-US" altLang="zh-CN" sz="600" b="1"/>
                      <a:t>Thinking</a:t>
                    </a:r>
                  </a:p>
                </p:txBody>
              </p:sp>
              <p:sp>
                <p:nvSpPr>
                  <p:cNvPr id="391" name="文本框 390"/>
                  <p:cNvSpPr txBox="1"/>
                  <p:nvPr/>
                </p:nvSpPr>
                <p:spPr>
                  <a:xfrm>
                    <a:off x="5027" y="6933"/>
                    <a:ext cx="845" cy="1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r>
                      <a:rPr lang="en-US" altLang="zh-CN" sz="600" b="1"/>
                      <a:t>Test</a:t>
                    </a:r>
                  </a:p>
                </p:txBody>
              </p:sp>
            </p:grpSp>
            <p:pic>
              <p:nvPicPr>
                <p:cNvPr id="399" name="图片 398" descr="循环"/>
                <p:cNvPicPr>
                  <a:picLocks noChangeAspect="1"/>
                </p:cNvPicPr>
                <p:nvPr>
                  <p:custDataLst>
                    <p:tags r:id="rId6"/>
                  </p:custDataLst>
                </p:nvPr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58" y="7212"/>
                  <a:ext cx="217" cy="217"/>
                </a:xfrm>
                <a:prstGeom prst="rect">
                  <a:avLst/>
                </a:prstGeom>
              </p:spPr>
            </p:pic>
          </p:grpSp>
          <p:sp>
            <p:nvSpPr>
              <p:cNvPr id="401" name="下箭头 400"/>
              <p:cNvSpPr/>
              <p:nvPr>
                <p:custDataLst>
                  <p:tags r:id="rId5"/>
                </p:custDataLst>
              </p:nvPr>
            </p:nvSpPr>
            <p:spPr>
              <a:xfrm flipH="1">
                <a:off x="3249" y="7543"/>
                <a:ext cx="233" cy="339"/>
              </a:xfrm>
              <a:prstGeom prst="downArrow">
                <a:avLst/>
              </a:prstGeom>
              <a:solidFill>
                <a:srgbClr val="2E54A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02" name="圆角矩形 401"/>
              <p:cNvSpPr/>
              <p:nvPr/>
            </p:nvSpPr>
            <p:spPr>
              <a:xfrm>
                <a:off x="2490" y="7881"/>
                <a:ext cx="1883" cy="276"/>
              </a:xfrm>
              <a:prstGeom prst="roundRect">
                <a:avLst/>
              </a:prstGeom>
              <a:solidFill>
                <a:srgbClr val="C4DDF2"/>
              </a:solidFill>
              <a:ln>
                <a:solidFill>
                  <a:srgbClr val="2E54A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文本框 403"/>
              <p:cNvSpPr txBox="1"/>
              <p:nvPr/>
            </p:nvSpPr>
            <p:spPr>
              <a:xfrm>
                <a:off x="2448" y="7898"/>
                <a:ext cx="2076" cy="12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600" b="1"/>
                  <a:t>Output Decoder (2-layer MLP)</a:t>
                </a:r>
              </a:p>
            </p:txBody>
          </p:sp>
          <p:grpSp>
            <p:nvGrpSpPr>
              <p:cNvPr id="112" name="组合 111"/>
              <p:cNvGrpSpPr/>
              <p:nvPr/>
            </p:nvGrpSpPr>
            <p:grpSpPr>
              <a:xfrm>
                <a:off x="1442" y="8208"/>
                <a:ext cx="2076" cy="276"/>
                <a:chOff x="218" y="7881"/>
                <a:chExt cx="2076" cy="276"/>
              </a:xfrm>
            </p:grpSpPr>
            <p:sp>
              <p:nvSpPr>
                <p:cNvPr id="2" name="圆角矩形 1"/>
                <p:cNvSpPr/>
                <p:nvPr/>
              </p:nvSpPr>
              <p:spPr>
                <a:xfrm>
                  <a:off x="268" y="7881"/>
                  <a:ext cx="1085" cy="276"/>
                </a:xfrm>
                <a:prstGeom prst="roundRect">
                  <a:avLst/>
                </a:prstGeom>
                <a:solidFill>
                  <a:srgbClr val="DFEDF4"/>
                </a:solidFill>
                <a:ln>
                  <a:solidFill>
                    <a:srgbClr val="557083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文本框 26"/>
                <p:cNvSpPr txBox="1"/>
                <p:nvPr/>
              </p:nvSpPr>
              <p:spPr>
                <a:xfrm>
                  <a:off x="218" y="7898"/>
                  <a:ext cx="2076" cy="1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600" b="1"/>
                    <a:t>Point prediction</a:t>
                  </a:r>
                </a:p>
              </p:txBody>
            </p:sp>
          </p:grpSp>
          <p:grpSp>
            <p:nvGrpSpPr>
              <p:cNvPr id="108" name="组合 107"/>
              <p:cNvGrpSpPr/>
              <p:nvPr/>
            </p:nvGrpSpPr>
            <p:grpSpPr>
              <a:xfrm>
                <a:off x="3602" y="8208"/>
                <a:ext cx="1849" cy="276"/>
                <a:chOff x="3761" y="7881"/>
                <a:chExt cx="2076" cy="276"/>
              </a:xfrm>
            </p:grpSpPr>
            <p:sp>
              <p:nvSpPr>
                <p:cNvPr id="102" name="圆角矩形 101"/>
                <p:cNvSpPr/>
                <p:nvPr/>
              </p:nvSpPr>
              <p:spPr>
                <a:xfrm>
                  <a:off x="3791" y="7881"/>
                  <a:ext cx="1883" cy="276"/>
                </a:xfrm>
                <a:prstGeom prst="roundRect">
                  <a:avLst/>
                </a:prstGeom>
                <a:solidFill>
                  <a:srgbClr val="FDEDCB"/>
                </a:solidFill>
                <a:ln>
                  <a:solidFill>
                    <a:srgbClr val="EC9E65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3" name="文本框 102"/>
                <p:cNvSpPr txBox="1"/>
                <p:nvPr/>
              </p:nvSpPr>
              <p:spPr>
                <a:xfrm>
                  <a:off x="3761" y="7898"/>
                  <a:ext cx="2076" cy="1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600" b="1"/>
                    <a:t>Full predictive distribution</a:t>
                  </a:r>
                </a:p>
              </p:txBody>
            </p:sp>
          </p:grpSp>
          <p:pic>
            <p:nvPicPr>
              <p:cNvPr id="116" name="图形 28" descr="箭头: 向右旋转 纯色填充"/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9"/>
                  </a:ext>
                </a:extLst>
              </a:blip>
              <a:stretch>
                <a:fillRect/>
              </a:stretch>
            </p:blipFill>
            <p:spPr>
              <a:xfrm rot="20043803" flipH="1">
                <a:off x="2056" y="7833"/>
                <a:ext cx="371" cy="371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17" name="图形 28" descr="箭头: 向右旋转 纯色填充"/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0"/>
                  </a:ext>
                </a:extLst>
              </a:blip>
              <a:stretch>
                <a:fillRect/>
              </a:stretch>
            </p:blipFill>
            <p:spPr>
              <a:xfrm rot="2276195">
                <a:off x="4431" y="7848"/>
                <a:ext cx="380" cy="38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sp>
          <p:nvSpPr>
            <p:cNvPr id="182" name="文本框 181"/>
            <p:cNvSpPr txBox="1"/>
            <p:nvPr/>
          </p:nvSpPr>
          <p:spPr>
            <a:xfrm>
              <a:off x="3978" y="3304"/>
              <a:ext cx="209" cy="1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 altLang="zh-CN" sz="800" i="1">
                  <a:solidFill>
                    <a:schemeClr val="bg1"/>
                  </a:solidFill>
                </a:rPr>
                <a:t>y</a:t>
              </a:r>
            </a:p>
          </p:txBody>
        </p:sp>
        <p:sp>
          <p:nvSpPr>
            <p:cNvPr id="183" name="文本框 182"/>
            <p:cNvSpPr txBox="1"/>
            <p:nvPr/>
          </p:nvSpPr>
          <p:spPr>
            <a:xfrm>
              <a:off x="3448" y="3304"/>
              <a:ext cx="468" cy="1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 altLang="zh-CN" sz="800">
                  <a:solidFill>
                    <a:schemeClr val="bg1"/>
                  </a:solidFill>
                </a:rPr>
                <a:t>X</a:t>
              </a:r>
              <a:r>
                <a:rPr lang="en-US" altLang="zh-CN" sz="800" baseline="-25000">
                  <a:solidFill>
                    <a:schemeClr val="bg1"/>
                  </a:solidFill>
                  <a:sym typeface="+mn-ea"/>
                </a:rPr>
                <a:t>p</a:t>
              </a:r>
              <a:endParaRPr lang="en-US" altLang="zh-CN" sz="800" baseline="-25000">
                <a:solidFill>
                  <a:schemeClr val="bg1"/>
                </a:solidFill>
              </a:endParaRPr>
            </a:p>
            <a:p>
              <a:endParaRPr lang="en-US" altLang="zh-CN" sz="800" baseline="-25000">
                <a:solidFill>
                  <a:schemeClr val="bg1"/>
                </a:solidFill>
              </a:endParaRPr>
            </a:p>
          </p:txBody>
        </p:sp>
        <p:sp>
          <p:nvSpPr>
            <p:cNvPr id="185" name="文本框 184"/>
            <p:cNvSpPr txBox="1"/>
            <p:nvPr/>
          </p:nvSpPr>
          <p:spPr>
            <a:xfrm>
              <a:off x="2603" y="3304"/>
              <a:ext cx="468" cy="1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 altLang="zh-CN" sz="800">
                  <a:solidFill>
                    <a:schemeClr val="bg1"/>
                  </a:solidFill>
                </a:rPr>
                <a:t>X</a:t>
              </a:r>
              <a:r>
                <a:rPr lang="en-US" altLang="zh-CN" sz="800" baseline="-25000">
                  <a:solidFill>
                    <a:schemeClr val="bg1"/>
                  </a:solidFill>
                  <a:sym typeface="+mn-ea"/>
                </a:rPr>
                <a:t>2</a:t>
              </a:r>
              <a:endParaRPr lang="en-US" altLang="zh-CN" sz="800" baseline="-25000">
                <a:solidFill>
                  <a:schemeClr val="bg1"/>
                </a:solidFill>
              </a:endParaRPr>
            </a:p>
            <a:p>
              <a:endParaRPr lang="en-US" altLang="zh-CN" sz="800" baseline="-25000">
                <a:solidFill>
                  <a:schemeClr val="bg1"/>
                </a:solidFill>
              </a:endParaRPr>
            </a:p>
          </p:txBody>
        </p:sp>
        <p:sp>
          <p:nvSpPr>
            <p:cNvPr id="186" name="文本框 185"/>
            <p:cNvSpPr txBox="1"/>
            <p:nvPr/>
          </p:nvSpPr>
          <p:spPr>
            <a:xfrm>
              <a:off x="2195" y="3304"/>
              <a:ext cx="468" cy="1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 altLang="zh-CN" sz="800">
                  <a:solidFill>
                    <a:schemeClr val="bg1"/>
                  </a:solidFill>
                </a:rPr>
                <a:t>X</a:t>
              </a:r>
              <a:r>
                <a:rPr lang="en-US" altLang="zh-CN" sz="800" baseline="-25000">
                  <a:solidFill>
                    <a:schemeClr val="bg1"/>
                  </a:solidFill>
                  <a:sym typeface="+mn-ea"/>
                </a:rPr>
                <a:t>1</a:t>
              </a:r>
              <a:endParaRPr lang="en-US" altLang="zh-CN" sz="800" baseline="-25000">
                <a:solidFill>
                  <a:schemeClr val="bg1"/>
                </a:solidFill>
              </a:endParaRPr>
            </a:p>
            <a:p>
              <a:endParaRPr lang="en-US" altLang="zh-CN" sz="800" baseline="-25000">
                <a:solidFill>
                  <a:schemeClr val="bg1"/>
                </a:solidFill>
              </a:endParaRPr>
            </a:p>
          </p:txBody>
        </p:sp>
        <p:sp>
          <p:nvSpPr>
            <p:cNvPr id="190" name="矩形 189"/>
            <p:cNvSpPr/>
            <p:nvPr/>
          </p:nvSpPr>
          <p:spPr>
            <a:xfrm>
              <a:off x="196" y="3110"/>
              <a:ext cx="6087" cy="220"/>
            </a:xfrm>
            <a:prstGeom prst="rect">
              <a:avLst/>
            </a:prstGeom>
            <a:solidFill>
              <a:srgbClr val="1A296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900" dirty="0"/>
                <a:t> (b) TabPFN-2.5 alternating-attention Transformer encoder architecture</a:t>
              </a:r>
            </a:p>
          </p:txBody>
        </p:sp>
        <p:sp>
          <p:nvSpPr>
            <p:cNvPr id="187" name="文本框 186"/>
            <p:cNvSpPr txBox="1"/>
            <p:nvPr/>
          </p:nvSpPr>
          <p:spPr>
            <a:xfrm>
              <a:off x="2967" y="3133"/>
              <a:ext cx="910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600">
                  <a:solidFill>
                    <a:schemeClr val="bg1"/>
                  </a:solidFill>
                </a:rPr>
                <a:t>…</a:t>
              </a:r>
            </a:p>
          </p:txBody>
        </p:sp>
        <p:sp>
          <p:nvSpPr>
            <p:cNvPr id="115" name="文本框 114"/>
            <p:cNvSpPr txBox="1"/>
            <p:nvPr/>
          </p:nvSpPr>
          <p:spPr>
            <a:xfrm>
              <a:off x="5184" y="5939"/>
              <a:ext cx="1157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600" b="1"/>
                <a:t>Attention Mask</a:t>
              </a:r>
            </a:p>
          </p:txBody>
        </p:sp>
        <p:pic>
          <p:nvPicPr>
            <p:cNvPr id="152" name="图片 151"/>
            <p:cNvPicPr>
              <a:picLocks noChangeAspect="1"/>
            </p:cNvPicPr>
            <p:nvPr/>
          </p:nvPicPr>
          <p:blipFill>
            <a:blip r:embed="rId50"/>
            <a:srcRect l="40694" t="1527" r="40782" b="-10687"/>
            <a:stretch>
              <a:fillRect/>
            </a:stretch>
          </p:blipFill>
          <p:spPr>
            <a:xfrm>
              <a:off x="538" y="3728"/>
              <a:ext cx="1260" cy="286"/>
            </a:xfrm>
            <a:prstGeom prst="rect">
              <a:avLst/>
            </a:prstGeom>
          </p:spPr>
        </p:pic>
        <p:pic>
          <p:nvPicPr>
            <p:cNvPr id="153" name="图片 152"/>
            <p:cNvPicPr>
              <a:picLocks noChangeAspect="1"/>
            </p:cNvPicPr>
            <p:nvPr/>
          </p:nvPicPr>
          <p:blipFill>
            <a:blip r:embed="rId51"/>
            <a:srcRect l="43193" t="22093" r="43605" b="17054"/>
            <a:stretch>
              <a:fillRect/>
            </a:stretch>
          </p:blipFill>
          <p:spPr>
            <a:xfrm>
              <a:off x="702" y="4522"/>
              <a:ext cx="898" cy="314"/>
            </a:xfrm>
            <a:prstGeom prst="rect">
              <a:avLst/>
            </a:prstGeom>
          </p:spPr>
        </p:pic>
        <p:sp>
          <p:nvSpPr>
            <p:cNvPr id="198" name="文本框 197"/>
            <p:cNvSpPr txBox="1"/>
            <p:nvPr/>
          </p:nvSpPr>
          <p:spPr>
            <a:xfrm>
              <a:off x="4691" y="3676"/>
              <a:ext cx="1795" cy="34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600"/>
                <a:t>Positional feature embedding (randomized)</a:t>
              </a:r>
            </a:p>
          </p:txBody>
        </p:sp>
        <p:sp>
          <p:nvSpPr>
            <p:cNvPr id="199" name="文本框 198"/>
            <p:cNvSpPr txBox="1"/>
            <p:nvPr/>
          </p:nvSpPr>
          <p:spPr>
            <a:xfrm>
              <a:off x="4703" y="4141"/>
              <a:ext cx="1902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500"/>
                <a:t>Attention sinks; </a:t>
              </a:r>
            </a:p>
            <a:p>
              <a:r>
                <a:rPr lang="en-US" altLang="zh-CN" sz="500"/>
                <a:t>additional compute capacity </a:t>
              </a:r>
            </a:p>
          </p:txBody>
        </p:sp>
        <p:sp>
          <p:nvSpPr>
            <p:cNvPr id="200" name="文本框 199"/>
            <p:cNvSpPr txBox="1"/>
            <p:nvPr/>
          </p:nvSpPr>
          <p:spPr>
            <a:xfrm>
              <a:off x="4703" y="4476"/>
              <a:ext cx="1833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600"/>
                <a:t>Positional feature embedding (randomized)</a:t>
              </a:r>
            </a:p>
          </p:txBody>
        </p:sp>
        <p:pic>
          <p:nvPicPr>
            <p:cNvPr id="202" name="图片 201" descr="正态分布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p:blipFill>
          <p:spPr>
            <a:xfrm>
              <a:off x="5523" y="7964"/>
              <a:ext cx="519" cy="51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04" name="图片 203" descr="点状图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673" y="7968"/>
              <a:ext cx="515" cy="51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07" name="文本框 206"/>
            <p:cNvSpPr txBox="1"/>
            <p:nvPr/>
          </p:nvSpPr>
          <p:spPr>
            <a:xfrm>
              <a:off x="5256" y="6066"/>
              <a:ext cx="1363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500" b="1">
                  <a:solidFill>
                    <a:schemeClr val="bg1">
                      <a:lumMod val="50000"/>
                    </a:schemeClr>
                  </a:solidFill>
                </a:rPr>
                <a:t>From </a:t>
              </a:r>
            </a:p>
            <a:p>
              <a:r>
                <a:rPr lang="en-US" altLang="zh-CN" sz="500" b="1"/>
                <a:t>                </a:t>
              </a:r>
              <a:r>
                <a:rPr lang="en-US" altLang="zh-CN" sz="500" b="1">
                  <a:solidFill>
                    <a:schemeClr val="bg1">
                      <a:lumMod val="50000"/>
                    </a:schemeClr>
                  </a:solidFill>
                </a:rPr>
                <a:t>To</a:t>
              </a:r>
            </a:p>
          </p:txBody>
        </p:sp>
        <p:cxnSp>
          <p:nvCxnSpPr>
            <p:cNvPr id="212" name="直接箭头连接符 211"/>
            <p:cNvCxnSpPr/>
            <p:nvPr/>
          </p:nvCxnSpPr>
          <p:spPr>
            <a:xfrm>
              <a:off x="6079" y="6255"/>
              <a:ext cx="0" cy="140"/>
            </a:xfrm>
            <a:prstGeom prst="straightConnector1">
              <a:avLst/>
            </a:prstGeom>
            <a:ln>
              <a:solidFill>
                <a:srgbClr val="7F7F7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9" name="直接箭头连接符 228"/>
            <p:cNvCxnSpPr/>
            <p:nvPr/>
          </p:nvCxnSpPr>
          <p:spPr>
            <a:xfrm rot="16200000">
              <a:off x="5744" y="6143"/>
              <a:ext cx="0" cy="140"/>
            </a:xfrm>
            <a:prstGeom prst="straightConnector1">
              <a:avLst/>
            </a:prstGeom>
            <a:ln>
              <a:solidFill>
                <a:srgbClr val="7F7F7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组合 450"/>
          <p:cNvGrpSpPr/>
          <p:nvPr/>
        </p:nvGrpSpPr>
        <p:grpSpPr>
          <a:xfrm>
            <a:off x="2388564" y="549279"/>
            <a:ext cx="4935855" cy="5759451"/>
            <a:chOff x="-37" y="0"/>
            <a:chExt cx="7773" cy="9070"/>
          </a:xfrm>
        </p:grpSpPr>
        <p:sp>
          <p:nvSpPr>
            <p:cNvPr id="243" name="圆角矩形 242"/>
            <p:cNvSpPr/>
            <p:nvPr/>
          </p:nvSpPr>
          <p:spPr>
            <a:xfrm>
              <a:off x="34" y="1795"/>
              <a:ext cx="6749" cy="2666"/>
            </a:xfrm>
            <a:prstGeom prst="roundRect">
              <a:avLst>
                <a:gd name="adj" fmla="val 5646"/>
              </a:avLst>
            </a:prstGeom>
            <a:solidFill>
              <a:srgbClr val="D7E5C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圆角矩形 103"/>
            <p:cNvSpPr/>
            <p:nvPr/>
          </p:nvSpPr>
          <p:spPr>
            <a:xfrm>
              <a:off x="34" y="0"/>
              <a:ext cx="6749" cy="1645"/>
            </a:xfrm>
            <a:prstGeom prst="roundRect">
              <a:avLst>
                <a:gd name="adj" fmla="val 5646"/>
              </a:avLst>
            </a:prstGeom>
            <a:solidFill>
              <a:srgbClr val="DBEBF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圆角矩形 108"/>
            <p:cNvSpPr/>
            <p:nvPr/>
          </p:nvSpPr>
          <p:spPr>
            <a:xfrm>
              <a:off x="35" y="0"/>
              <a:ext cx="6749" cy="220"/>
            </a:xfrm>
            <a:prstGeom prst="roundRect">
              <a:avLst>
                <a:gd name="adj" fmla="val 46363"/>
              </a:avLst>
            </a:prstGeom>
            <a:solidFill>
              <a:srgbClr val="BED5E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zh-CN" sz="900" b="1">
                  <a:solidFill>
                    <a:schemeClr val="tx1"/>
                  </a:solidFill>
                </a:rPr>
                <a:t>Stage 1: Data preprocessing and target definition</a:t>
              </a:r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24" y="220"/>
              <a:ext cx="1715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800" b="1"/>
                <a:t>①</a:t>
              </a:r>
              <a:r>
                <a:rPr lang="en-US" altLang="zh-CN" sz="800"/>
                <a:t> </a:t>
              </a:r>
              <a:r>
                <a:rPr lang="en-US" altLang="zh-CN" sz="800" b="1"/>
                <a:t>Primary dataset</a:t>
              </a:r>
            </a:p>
          </p:txBody>
        </p:sp>
        <p:sp>
          <p:nvSpPr>
            <p:cNvPr id="113" name="文本框 112"/>
            <p:cNvSpPr txBox="1"/>
            <p:nvPr/>
          </p:nvSpPr>
          <p:spPr>
            <a:xfrm>
              <a:off x="-37" y="1213"/>
              <a:ext cx="2866" cy="51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700"/>
                <a:t>Longmenshan Fault Zone</a:t>
              </a:r>
              <a:r>
                <a:rPr lang="zh-CN" altLang="en-US" sz="700"/>
                <a:t>，</a:t>
              </a:r>
            </a:p>
            <a:p>
              <a:r>
                <a:rPr lang="en-US" altLang="zh-CN" sz="700" i="1"/>
                <a:t>n</a:t>
              </a:r>
              <a:r>
                <a:rPr lang="en-US" altLang="zh-CN" sz="700"/>
                <a:t>=60, 6 predictors + 1 response</a:t>
              </a:r>
            </a:p>
          </p:txBody>
        </p:sp>
        <p:sp>
          <p:nvSpPr>
            <p:cNvPr id="121" name="文本框 120"/>
            <p:cNvSpPr txBox="1"/>
            <p:nvPr/>
          </p:nvSpPr>
          <p:spPr>
            <a:xfrm>
              <a:off x="1900" y="220"/>
              <a:ext cx="2201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800" b="1"/>
                <a:t>②</a:t>
              </a:r>
              <a:r>
                <a:rPr lang="en-US" altLang="zh-CN" sz="800"/>
                <a:t> </a:t>
              </a:r>
              <a:r>
                <a:rPr lang="en-US" altLang="zh-CN" sz="800" b="1"/>
                <a:t>Target transformation</a:t>
              </a:r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4249" y="220"/>
              <a:ext cx="2513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800" b="1"/>
                <a:t>③</a:t>
              </a:r>
              <a:r>
                <a:rPr lang="en-US" altLang="zh-CN" sz="800"/>
                <a:t> </a:t>
              </a:r>
              <a:r>
                <a:rPr lang="en-US" altLang="zh-CN" sz="800" b="1"/>
                <a:t> Dual feature set design</a:t>
              </a:r>
            </a:p>
          </p:txBody>
        </p:sp>
        <p:grpSp>
          <p:nvGrpSpPr>
            <p:cNvPr id="177" name="组合 176"/>
            <p:cNvGrpSpPr/>
            <p:nvPr/>
          </p:nvGrpSpPr>
          <p:grpSpPr>
            <a:xfrm>
              <a:off x="4354" y="417"/>
              <a:ext cx="2767" cy="991"/>
              <a:chOff x="1889" y="3350"/>
              <a:chExt cx="2767" cy="991"/>
            </a:xfrm>
          </p:grpSpPr>
          <p:sp>
            <p:nvSpPr>
              <p:cNvPr id="124" name="矩形 123"/>
              <p:cNvSpPr/>
              <p:nvPr/>
            </p:nvSpPr>
            <p:spPr>
              <a:xfrm>
                <a:off x="1896" y="3631"/>
                <a:ext cx="1643" cy="197"/>
              </a:xfrm>
              <a:prstGeom prst="rect">
                <a:avLst/>
              </a:prstGeom>
              <a:solidFill>
                <a:srgbClr val="B5D0E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700" i="1">
                    <a:solidFill>
                      <a:schemeClr val="tx1"/>
                    </a:solidFill>
                  </a:rPr>
                  <a:t>A</a:t>
                </a:r>
                <a:r>
                  <a:rPr lang="en-US" altLang="zh-CN" sz="700">
                    <a:solidFill>
                      <a:schemeClr val="tx1"/>
                    </a:solidFill>
                  </a:rPr>
                  <a:t> , </a:t>
                </a:r>
                <a:r>
                  <a:rPr lang="en-US" altLang="zh-CN" sz="700" i="1">
                    <a:solidFill>
                      <a:schemeClr val="tx1"/>
                    </a:solidFill>
                  </a:rPr>
                  <a:t>H</a:t>
                </a:r>
                <a:r>
                  <a:rPr lang="en-US" altLang="zh-CN" sz="700">
                    <a:solidFill>
                      <a:schemeClr val="tx1"/>
                    </a:solidFill>
                  </a:rPr>
                  <a:t>, </a:t>
                </a:r>
                <a:r>
                  <a:rPr lang="en-US" altLang="zh-CN" sz="700" i="1">
                    <a:solidFill>
                      <a:schemeClr val="tx1"/>
                    </a:solidFill>
                  </a:rPr>
                  <a:t>L</a:t>
                </a:r>
                <a:r>
                  <a:rPr lang="en-US" altLang="zh-CN" sz="700">
                    <a:solidFill>
                      <a:schemeClr val="tx1"/>
                    </a:solidFill>
                  </a:rPr>
                  <a:t>, </a:t>
                </a:r>
                <a:r>
                  <a:rPr lang="en-US" altLang="zh-CN" sz="700" i="1">
                    <a:solidFill>
                      <a:schemeClr val="tx1"/>
                    </a:solidFill>
                  </a:rPr>
                  <a:t>D</a:t>
                </a:r>
                <a:r>
                  <a:rPr lang="en-US" altLang="zh-CN" sz="700">
                    <a:solidFill>
                      <a:schemeClr val="tx1"/>
                    </a:solidFill>
                  </a:rPr>
                  <a:t>, </a:t>
                </a:r>
                <a:r>
                  <a:rPr lang="en-US" altLang="zh-CN" sz="700" i="1">
                    <a:solidFill>
                      <a:schemeClr val="tx1"/>
                    </a:solidFill>
                  </a:rPr>
                  <a:t>J</a:t>
                </a:r>
                <a:r>
                  <a:rPr lang="en-US" altLang="zh-CN" sz="700">
                    <a:solidFill>
                      <a:schemeClr val="tx1"/>
                    </a:solidFill>
                  </a:rPr>
                  <a:t> ,</a:t>
                </a:r>
                <a:r>
                  <a:rPr lang="en-US" altLang="zh-CN" sz="700" i="1">
                    <a:solidFill>
                      <a:schemeClr val="tx1"/>
                    </a:solidFill>
                  </a:rPr>
                  <a:t>V</a:t>
                </a:r>
                <a:r>
                  <a:rPr lang="en-US" altLang="zh-CN" sz="700" baseline="-25000">
                    <a:solidFill>
                      <a:schemeClr val="tx1"/>
                    </a:solidFill>
                  </a:rPr>
                  <a:t>landslide</a:t>
                </a:r>
              </a:p>
            </p:txBody>
          </p:sp>
          <p:sp>
            <p:nvSpPr>
              <p:cNvPr id="125" name="矩形 124"/>
              <p:cNvSpPr/>
              <p:nvPr/>
            </p:nvSpPr>
            <p:spPr>
              <a:xfrm>
                <a:off x="1896" y="4144"/>
                <a:ext cx="1644" cy="197"/>
              </a:xfrm>
              <a:prstGeom prst="rect">
                <a:avLst/>
              </a:prstGeom>
              <a:solidFill>
                <a:srgbClr val="B5D0E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700" i="1">
                    <a:solidFill>
                      <a:schemeClr val="tx1"/>
                    </a:solidFill>
                    <a:sym typeface="+mn-ea"/>
                  </a:rPr>
                  <a:t>A</a:t>
                </a:r>
                <a:r>
                  <a:rPr lang="en-US" altLang="zh-CN" sz="700">
                    <a:solidFill>
                      <a:schemeClr val="tx1"/>
                    </a:solidFill>
                    <a:sym typeface="+mn-ea"/>
                  </a:rPr>
                  <a:t> , </a:t>
                </a:r>
                <a:r>
                  <a:rPr lang="en-US" altLang="zh-CN" sz="700" i="1">
                    <a:solidFill>
                      <a:schemeClr val="tx1"/>
                    </a:solidFill>
                    <a:sym typeface="+mn-ea"/>
                  </a:rPr>
                  <a:t>H</a:t>
                </a:r>
                <a:r>
                  <a:rPr lang="en-US" altLang="zh-CN" sz="700">
                    <a:solidFill>
                      <a:schemeClr val="tx1"/>
                    </a:solidFill>
                    <a:sym typeface="+mn-ea"/>
                  </a:rPr>
                  <a:t>, </a:t>
                </a:r>
                <a:r>
                  <a:rPr lang="en-US" altLang="zh-CN" sz="700" i="1">
                    <a:solidFill>
                      <a:schemeClr val="tx1"/>
                    </a:solidFill>
                    <a:sym typeface="+mn-ea"/>
                  </a:rPr>
                  <a:t>L</a:t>
                </a:r>
                <a:r>
                  <a:rPr lang="en-US" altLang="zh-CN" sz="700">
                    <a:solidFill>
                      <a:schemeClr val="tx1"/>
                    </a:solidFill>
                    <a:sym typeface="+mn-ea"/>
                  </a:rPr>
                  <a:t>, </a:t>
                </a:r>
                <a:r>
                  <a:rPr lang="en-US" altLang="zh-CN" sz="700" i="1">
                    <a:solidFill>
                      <a:schemeClr val="tx1"/>
                    </a:solidFill>
                    <a:sym typeface="+mn-ea"/>
                  </a:rPr>
                  <a:t>D</a:t>
                </a:r>
                <a:r>
                  <a:rPr lang="en-US" altLang="zh-CN" sz="700">
                    <a:solidFill>
                      <a:schemeClr val="tx1"/>
                    </a:solidFill>
                    <a:sym typeface="+mn-ea"/>
                  </a:rPr>
                  <a:t>, </a:t>
                </a:r>
                <a:r>
                  <a:rPr lang="en-US" altLang="zh-CN" sz="700" i="1">
                    <a:solidFill>
                      <a:schemeClr val="tx1"/>
                    </a:solidFill>
                    <a:sym typeface="+mn-ea"/>
                  </a:rPr>
                  <a:t>J</a:t>
                </a:r>
                <a:r>
                  <a:rPr lang="en-US" altLang="zh-CN" sz="700">
                    <a:solidFill>
                      <a:schemeClr val="tx1"/>
                    </a:solidFill>
                    <a:sym typeface="+mn-ea"/>
                  </a:rPr>
                  <a:t> </a:t>
                </a:r>
                <a:endParaRPr lang="en-US" altLang="zh-CN" sz="700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文本框 125"/>
              <p:cNvSpPr txBox="1"/>
              <p:nvPr/>
            </p:nvSpPr>
            <p:spPr>
              <a:xfrm>
                <a:off x="2272" y="3350"/>
                <a:ext cx="1243" cy="31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sz="700"/>
                  <a:t>Set A (6 vars)</a:t>
                </a:r>
              </a:p>
            </p:txBody>
          </p:sp>
          <p:sp>
            <p:nvSpPr>
              <p:cNvPr id="127" name="文本框 126"/>
              <p:cNvSpPr txBox="1"/>
              <p:nvPr/>
            </p:nvSpPr>
            <p:spPr>
              <a:xfrm>
                <a:off x="2250" y="3898"/>
                <a:ext cx="1243" cy="31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sz="700"/>
                  <a:t>Set B (5 vars)</a:t>
                </a:r>
              </a:p>
            </p:txBody>
          </p:sp>
          <p:cxnSp>
            <p:nvCxnSpPr>
              <p:cNvPr id="156" name="肘形连接符 155"/>
              <p:cNvCxnSpPr>
                <a:stCxn id="124" idx="3"/>
                <a:endCxn id="125" idx="3"/>
              </p:cNvCxnSpPr>
              <p:nvPr/>
            </p:nvCxnSpPr>
            <p:spPr>
              <a:xfrm>
                <a:off x="3539" y="3730"/>
                <a:ext cx="1" cy="513"/>
              </a:xfrm>
              <a:prstGeom prst="bentConnector3">
                <a:avLst>
                  <a:gd name="adj1" fmla="val 1160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65" name="文本框 164"/>
              <p:cNvSpPr txBox="1"/>
              <p:nvPr/>
            </p:nvSpPr>
            <p:spPr>
              <a:xfrm>
                <a:off x="3586" y="3698"/>
                <a:ext cx="1070" cy="51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sz="700"/>
                  <a:t>Ablation:</a:t>
                </a:r>
              </a:p>
              <a:p>
                <a:r>
                  <a:rPr lang="zh-CN" altLang="en-US" sz="700"/>
                  <a:t>±</a:t>
                </a:r>
                <a:r>
                  <a:rPr lang="en-US" altLang="zh-CN" sz="700" i="1">
                    <a:sym typeface="+mn-ea"/>
                  </a:rPr>
                  <a:t>V</a:t>
                </a:r>
                <a:r>
                  <a:rPr lang="en-US" altLang="zh-CN" sz="700" baseline="-25000">
                    <a:sym typeface="+mn-ea"/>
                  </a:rPr>
                  <a:t>landslide</a:t>
                </a:r>
              </a:p>
            </p:txBody>
          </p:sp>
          <p:cxnSp>
            <p:nvCxnSpPr>
              <p:cNvPr id="167" name="直接连接符 166"/>
              <p:cNvCxnSpPr/>
              <p:nvPr/>
            </p:nvCxnSpPr>
            <p:spPr>
              <a:xfrm>
                <a:off x="1889" y="3922"/>
                <a:ext cx="164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pic>
          <p:nvPicPr>
            <p:cNvPr id="180" name="图片 179"/>
            <p:cNvPicPr>
              <a:picLocks noChangeAspect="1"/>
            </p:cNvPicPr>
            <p:nvPr/>
          </p:nvPicPr>
          <p:blipFill>
            <a:blip r:embed="rId20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49" y="417"/>
              <a:ext cx="807" cy="796"/>
            </a:xfrm>
            <a:prstGeom prst="rect">
              <a:avLst/>
            </a:prstGeom>
          </p:spPr>
        </p:pic>
        <p:pic>
          <p:nvPicPr>
            <p:cNvPr id="181" name="图片 180"/>
            <p:cNvPicPr>
              <a:picLocks noChangeAspect="1"/>
            </p:cNvPicPr>
            <p:nvPr/>
          </p:nvPicPr>
          <p:blipFill>
            <a:blip r:embed="rId2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b="22760"/>
            <a:stretch>
              <a:fillRect/>
            </a:stretch>
          </p:blipFill>
          <p:spPr>
            <a:xfrm>
              <a:off x="1826" y="528"/>
              <a:ext cx="2680" cy="638"/>
            </a:xfrm>
            <a:prstGeom prst="rect">
              <a:avLst/>
            </a:prstGeom>
          </p:spPr>
        </p:pic>
        <p:sp>
          <p:nvSpPr>
            <p:cNvPr id="184" name="文本框 183"/>
            <p:cNvSpPr txBox="1"/>
            <p:nvPr/>
          </p:nvSpPr>
          <p:spPr>
            <a:xfrm>
              <a:off x="1826" y="1166"/>
              <a:ext cx="1026" cy="2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sz="700" i="1"/>
                <a:t>V</a:t>
              </a:r>
              <a:r>
                <a:rPr lang="en-US" sz="700" baseline="-25000"/>
                <a:t>0</a:t>
              </a:r>
              <a:r>
                <a:rPr lang="en-US" sz="700"/>
                <a:t> (</a:t>
              </a:r>
              <a:r>
                <a:rPr lang="zh-CN" altLang="en-US" sz="700"/>
                <a:t>×</a:t>
              </a:r>
              <a:r>
                <a:rPr lang="en-US" altLang="zh-CN" sz="700"/>
                <a:t>10</a:t>
              </a:r>
              <a:r>
                <a:rPr lang="en-US" altLang="zh-CN" sz="700" baseline="30000"/>
                <a:t>4</a:t>
              </a:r>
              <a:r>
                <a:rPr lang="en-US" altLang="zh-CN" sz="700"/>
                <a:t>m</a:t>
              </a:r>
              <a:r>
                <a:rPr lang="en-US" altLang="zh-CN" sz="700" baseline="30000"/>
                <a:t>3</a:t>
              </a:r>
              <a:r>
                <a:rPr lang="en-US" sz="700"/>
                <a:t>)</a:t>
              </a:r>
            </a:p>
          </p:txBody>
        </p:sp>
        <p:sp>
          <p:nvSpPr>
            <p:cNvPr id="189" name="文本框 188"/>
            <p:cNvSpPr txBox="1"/>
            <p:nvPr/>
          </p:nvSpPr>
          <p:spPr>
            <a:xfrm>
              <a:off x="3405" y="1166"/>
              <a:ext cx="779" cy="2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sz="700"/>
                <a:t>log</a:t>
              </a:r>
              <a:r>
                <a:rPr lang="en-US" sz="700" baseline="-25000"/>
                <a:t>10</a:t>
              </a:r>
              <a:r>
                <a:rPr lang="en-US" sz="700" i="1"/>
                <a:t>(V</a:t>
              </a:r>
              <a:r>
                <a:rPr lang="en-US" sz="700" baseline="-25000"/>
                <a:t>0</a:t>
              </a:r>
              <a:r>
                <a:rPr lang="en-US" sz="700"/>
                <a:t>)</a:t>
              </a:r>
            </a:p>
          </p:txBody>
        </p:sp>
        <p:sp>
          <p:nvSpPr>
            <p:cNvPr id="201" name="圆角矩形 200"/>
            <p:cNvSpPr/>
            <p:nvPr/>
          </p:nvSpPr>
          <p:spPr>
            <a:xfrm>
              <a:off x="34" y="1795"/>
              <a:ext cx="6750" cy="220"/>
            </a:xfrm>
            <a:prstGeom prst="roundRect">
              <a:avLst>
                <a:gd name="adj" fmla="val 46363"/>
              </a:avLst>
            </a:prstGeom>
            <a:solidFill>
              <a:srgbClr val="BDD5A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zh-CN" sz="900" b="1">
                  <a:solidFill>
                    <a:schemeClr val="tx1"/>
                  </a:solidFill>
                  <a:sym typeface="+mn-ea"/>
                </a:rPr>
                <a:t>Stage 2: </a:t>
              </a:r>
              <a:r>
                <a:rPr lang="en-US" altLang="zh-CN" sz="900" b="1">
                  <a:solidFill>
                    <a:schemeClr val="tx1"/>
                  </a:solidFill>
                </a:rPr>
                <a:t>Model configuration and inference mode</a:t>
              </a:r>
            </a:p>
          </p:txBody>
        </p:sp>
        <p:sp>
          <p:nvSpPr>
            <p:cNvPr id="244" name="圆角矩形 243"/>
            <p:cNvSpPr/>
            <p:nvPr/>
          </p:nvSpPr>
          <p:spPr>
            <a:xfrm>
              <a:off x="24" y="4596"/>
              <a:ext cx="6727" cy="1362"/>
            </a:xfrm>
            <a:prstGeom prst="roundRect">
              <a:avLst>
                <a:gd name="adj" fmla="val 5646"/>
              </a:avLst>
            </a:prstGeom>
            <a:solidFill>
              <a:srgbClr val="C9E8E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5" name="圆角矩形 244"/>
            <p:cNvSpPr/>
            <p:nvPr/>
          </p:nvSpPr>
          <p:spPr>
            <a:xfrm>
              <a:off x="24" y="4596"/>
              <a:ext cx="6729" cy="220"/>
            </a:xfrm>
            <a:prstGeom prst="roundRect">
              <a:avLst>
                <a:gd name="adj" fmla="val 46363"/>
              </a:avLst>
            </a:prstGeom>
            <a:solidFill>
              <a:srgbClr val="97D7D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zh-CN" sz="900" b="1">
                  <a:solidFill>
                    <a:schemeClr val="tx1"/>
                  </a:solidFill>
                  <a:sym typeface="+mn-ea"/>
                </a:rPr>
                <a:t>Stage 3: </a:t>
              </a:r>
              <a:r>
                <a:rPr lang="en-US" altLang="zh-CN" sz="900" b="1">
                  <a:solidFill>
                    <a:schemeClr val="tx1"/>
                  </a:solidFill>
                </a:rPr>
                <a:t>Repeated nested cross-validation and statistical inference</a:t>
              </a:r>
            </a:p>
          </p:txBody>
        </p:sp>
        <p:sp>
          <p:nvSpPr>
            <p:cNvPr id="246" name="圆角矩形 245"/>
            <p:cNvSpPr/>
            <p:nvPr/>
          </p:nvSpPr>
          <p:spPr>
            <a:xfrm>
              <a:off x="37" y="6122"/>
              <a:ext cx="6725" cy="1403"/>
            </a:xfrm>
            <a:prstGeom prst="roundRect">
              <a:avLst>
                <a:gd name="adj" fmla="val 5646"/>
              </a:avLst>
            </a:prstGeom>
            <a:solidFill>
              <a:srgbClr val="DBEBF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圆角矩形 246"/>
            <p:cNvSpPr/>
            <p:nvPr/>
          </p:nvSpPr>
          <p:spPr>
            <a:xfrm>
              <a:off x="24" y="6122"/>
              <a:ext cx="6728" cy="220"/>
            </a:xfrm>
            <a:prstGeom prst="roundRect">
              <a:avLst>
                <a:gd name="adj" fmla="val 46363"/>
              </a:avLst>
            </a:prstGeom>
            <a:solidFill>
              <a:srgbClr val="BED5E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zh-CN" sz="900" b="1">
                  <a:solidFill>
                    <a:schemeClr val="tx1"/>
                  </a:solidFill>
                  <a:sym typeface="+mn-ea"/>
                </a:rPr>
                <a:t>Stage 4: </a:t>
              </a:r>
              <a:r>
                <a:rPr lang="en-US" altLang="zh-CN" sz="900" b="1">
                  <a:solidFill>
                    <a:schemeClr val="tx1"/>
                  </a:solidFill>
                </a:rPr>
                <a:t>Feature ablation and sample efficiency analysis</a:t>
              </a:r>
            </a:p>
          </p:txBody>
        </p:sp>
        <p:sp>
          <p:nvSpPr>
            <p:cNvPr id="248" name="圆角矩形 247"/>
            <p:cNvSpPr/>
            <p:nvPr/>
          </p:nvSpPr>
          <p:spPr>
            <a:xfrm>
              <a:off x="34" y="7689"/>
              <a:ext cx="6717" cy="1381"/>
            </a:xfrm>
            <a:prstGeom prst="roundRect">
              <a:avLst>
                <a:gd name="adj" fmla="val 5646"/>
              </a:avLst>
            </a:prstGeom>
            <a:solidFill>
              <a:srgbClr val="EAD5E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9" name="圆角矩形 248"/>
            <p:cNvSpPr/>
            <p:nvPr/>
          </p:nvSpPr>
          <p:spPr>
            <a:xfrm>
              <a:off x="33" y="7689"/>
              <a:ext cx="6718" cy="220"/>
            </a:xfrm>
            <a:prstGeom prst="roundRect">
              <a:avLst>
                <a:gd name="adj" fmla="val 46363"/>
              </a:avLst>
            </a:prstGeom>
            <a:solidFill>
              <a:srgbClr val="D4A7C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zh-CN" sz="900" b="1">
                  <a:solidFill>
                    <a:schemeClr val="tx1"/>
                  </a:solidFill>
                  <a:sym typeface="+mn-ea"/>
                </a:rPr>
                <a:t>Stage 5: </a:t>
              </a:r>
              <a:r>
                <a:rPr lang="en-US" altLang="zh-CN" sz="900" b="1">
                  <a:solidFill>
                    <a:schemeClr val="tx1"/>
                  </a:solidFill>
                </a:rPr>
                <a:t>Uncertainty quantification, interpretability, and external validation</a:t>
              </a:r>
            </a:p>
          </p:txBody>
        </p:sp>
        <p:sp>
          <p:nvSpPr>
            <p:cNvPr id="250" name="下箭头 249"/>
            <p:cNvSpPr/>
            <p:nvPr>
              <p:custDataLst>
                <p:tags r:id="rId2"/>
              </p:custDataLst>
            </p:nvPr>
          </p:nvSpPr>
          <p:spPr>
            <a:xfrm flipH="1">
              <a:off x="3172" y="1637"/>
              <a:ext cx="233" cy="164"/>
            </a:xfrm>
            <a:prstGeom prst="downArrow">
              <a:avLst/>
            </a:prstGeom>
            <a:solidFill>
              <a:srgbClr val="6C6D6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1" name="文本框 250"/>
            <p:cNvSpPr txBox="1"/>
            <p:nvPr/>
          </p:nvSpPr>
          <p:spPr>
            <a:xfrm>
              <a:off x="416" y="2010"/>
              <a:ext cx="2852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800" b="1">
                  <a:sym typeface="+mn-ea"/>
                </a:rPr>
                <a:t>①</a:t>
              </a:r>
              <a:r>
                <a:rPr lang="en-US" altLang="zh-CN" sz="800" b="1">
                  <a:sym typeface="+mn-ea"/>
                </a:rPr>
                <a:t> </a:t>
              </a:r>
              <a:r>
                <a:rPr lang="en-US" sz="800" b="1"/>
                <a:t>Pre-trained </a:t>
              </a:r>
              <a:r>
                <a:rPr lang="en-US" altLang="zh-CN" sz="800" b="1"/>
                <a:t>foundation</a:t>
              </a:r>
              <a:r>
                <a:rPr lang="en-US" sz="800" b="1"/>
                <a:t> model</a:t>
              </a:r>
            </a:p>
          </p:txBody>
        </p:sp>
        <p:grpSp>
          <p:nvGrpSpPr>
            <p:cNvPr id="267" name="组合 266"/>
            <p:cNvGrpSpPr/>
            <p:nvPr/>
          </p:nvGrpSpPr>
          <p:grpSpPr>
            <a:xfrm>
              <a:off x="85" y="2318"/>
              <a:ext cx="3576" cy="1286"/>
              <a:chOff x="625" y="4186"/>
              <a:chExt cx="3576" cy="1286"/>
            </a:xfrm>
          </p:grpSpPr>
          <p:sp>
            <p:nvSpPr>
              <p:cNvPr id="252" name="圆角矩形 251"/>
              <p:cNvSpPr/>
              <p:nvPr/>
            </p:nvSpPr>
            <p:spPr>
              <a:xfrm>
                <a:off x="625" y="4327"/>
                <a:ext cx="3223" cy="1145"/>
              </a:xfrm>
              <a:prstGeom prst="roundRect">
                <a:avLst>
                  <a:gd name="adj" fmla="val 5646"/>
                </a:avLst>
              </a:prstGeom>
              <a:solidFill>
                <a:srgbClr val="E7EED8"/>
              </a:solidFill>
              <a:ln>
                <a:solidFill>
                  <a:srgbClr val="445E35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53" name="图片 252" descr="文件程序算法"/>
              <p:cNvPicPr>
                <a:picLocks noChangeAspect="1"/>
              </p:cNvPicPr>
              <p:nvPr>
                <p:custDataLst>
                  <p:tags r:id="rId14"/>
                </p:custDataLst>
              </p:nvPr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676" y="4432"/>
                <a:ext cx="955" cy="955"/>
              </a:xfrm>
              <a:prstGeom prst="rect">
                <a:avLst/>
              </a:prstGeom>
            </p:spPr>
          </p:pic>
          <p:sp>
            <p:nvSpPr>
              <p:cNvPr id="254" name="文本框 253"/>
              <p:cNvSpPr txBox="1"/>
              <p:nvPr/>
            </p:nvSpPr>
            <p:spPr>
              <a:xfrm>
                <a:off x="1761" y="4489"/>
                <a:ext cx="1790" cy="1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800"/>
                  <a:t>In-context inference</a:t>
                </a:r>
              </a:p>
            </p:txBody>
          </p:sp>
          <p:pic>
            <p:nvPicPr>
              <p:cNvPr id="255" name="图片 254" descr="灯泡"/>
              <p:cNvPicPr>
                <a:picLocks noChangeAspect="1"/>
              </p:cNvPicPr>
              <p:nvPr>
                <p:custDataLst>
                  <p:tags r:id="rId15"/>
                </p:custDataLst>
              </p:nvPr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1674" y="4538"/>
                <a:ext cx="219" cy="219"/>
              </a:xfrm>
              <a:prstGeom prst="rect">
                <a:avLst/>
              </a:prstGeom>
            </p:spPr>
          </p:pic>
          <p:sp>
            <p:nvSpPr>
              <p:cNvPr id="256" name="文本框 255"/>
              <p:cNvSpPr txBox="1"/>
              <p:nvPr/>
            </p:nvSpPr>
            <p:spPr>
              <a:xfrm>
                <a:off x="1761" y="4810"/>
                <a:ext cx="2440" cy="1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800"/>
                  <a:t>No hyperparameter tuning</a:t>
                </a:r>
              </a:p>
            </p:txBody>
          </p:sp>
          <p:sp>
            <p:nvSpPr>
              <p:cNvPr id="259" name="文本框 258"/>
              <p:cNvSpPr txBox="1"/>
              <p:nvPr/>
            </p:nvSpPr>
            <p:spPr>
              <a:xfrm>
                <a:off x="1761" y="5132"/>
                <a:ext cx="2184" cy="1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800"/>
                  <a:t>Prediction + Distribution</a:t>
                </a:r>
              </a:p>
            </p:txBody>
          </p:sp>
          <p:pic>
            <p:nvPicPr>
              <p:cNvPr id="262" name="图片 261" descr="正态分布"/>
              <p:cNvPicPr>
                <a:picLocks noChangeAspect="1"/>
              </p:cNvPicPr>
              <p:nvPr>
                <p:custDataLst>
                  <p:tags r:id="rId16"/>
                </p:custDataLst>
              </p:nvPr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1695" y="5211"/>
                <a:ext cx="176" cy="176"/>
              </a:xfrm>
              <a:prstGeom prst="rect">
                <a:avLst/>
              </a:prstGeom>
            </p:spPr>
          </p:pic>
          <p:pic>
            <p:nvPicPr>
              <p:cNvPr id="263" name="图片 262" descr="禁止"/>
              <p:cNvPicPr>
                <a:picLocks noChangeAspect="1"/>
              </p:cNvPicPr>
              <p:nvPr>
                <p:custDataLst>
                  <p:tags r:id="rId17"/>
                </p:custDataLst>
              </p:nvPr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1695" y="4899"/>
                <a:ext cx="176" cy="176"/>
              </a:xfrm>
              <a:prstGeom prst="rect">
                <a:avLst/>
              </a:prstGeom>
            </p:spPr>
          </p:pic>
          <p:sp>
            <p:nvSpPr>
              <p:cNvPr id="265" name="圆角矩形 264"/>
              <p:cNvSpPr/>
              <p:nvPr/>
            </p:nvSpPr>
            <p:spPr>
              <a:xfrm>
                <a:off x="1695" y="4186"/>
                <a:ext cx="1288" cy="285"/>
              </a:xfrm>
              <a:prstGeom prst="roundRect">
                <a:avLst>
                  <a:gd name="adj" fmla="val 11748"/>
                </a:avLst>
              </a:prstGeom>
              <a:solidFill>
                <a:srgbClr val="3A693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/>
                  <a:t>TabPFN-2.5</a:t>
                </a:r>
              </a:p>
            </p:txBody>
          </p:sp>
        </p:grpSp>
        <p:sp>
          <p:nvSpPr>
            <p:cNvPr id="319" name="圆角矩形 318"/>
            <p:cNvSpPr/>
            <p:nvPr/>
          </p:nvSpPr>
          <p:spPr>
            <a:xfrm>
              <a:off x="3510" y="2320"/>
              <a:ext cx="3252" cy="1674"/>
            </a:xfrm>
            <a:prstGeom prst="roundRect">
              <a:avLst>
                <a:gd name="adj" fmla="val 5646"/>
              </a:avLst>
            </a:prstGeom>
            <a:solidFill>
              <a:srgbClr val="E7EED8"/>
            </a:solidFill>
            <a:ln>
              <a:solidFill>
                <a:srgbClr val="445E35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8" name="图片 267" descr="尺子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3599" y="2450"/>
              <a:ext cx="433" cy="433"/>
            </a:xfrm>
            <a:prstGeom prst="rect">
              <a:avLst/>
            </a:prstGeom>
          </p:spPr>
        </p:pic>
        <p:pic>
          <p:nvPicPr>
            <p:cNvPr id="269" name="图片 268" descr="大脑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6136" y="2450"/>
              <a:ext cx="440" cy="440"/>
            </a:xfrm>
            <a:prstGeom prst="rect">
              <a:avLst/>
            </a:prstGeom>
          </p:spPr>
        </p:pic>
        <p:pic>
          <p:nvPicPr>
            <p:cNvPr id="270" name="图片 269" descr="浮尘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4650" y="2450"/>
              <a:ext cx="445" cy="445"/>
            </a:xfrm>
            <a:prstGeom prst="rect">
              <a:avLst/>
            </a:prstGeom>
          </p:spPr>
        </p:pic>
        <p:pic>
          <p:nvPicPr>
            <p:cNvPr id="271" name="图片 270" descr="神经网络2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5360" y="2450"/>
              <a:ext cx="446" cy="446"/>
            </a:xfrm>
            <a:prstGeom prst="rect">
              <a:avLst/>
            </a:prstGeom>
          </p:spPr>
        </p:pic>
        <p:sp>
          <p:nvSpPr>
            <p:cNvPr id="272" name="文本框 271"/>
            <p:cNvSpPr txBox="1"/>
            <p:nvPr/>
          </p:nvSpPr>
          <p:spPr>
            <a:xfrm>
              <a:off x="3449" y="2848"/>
              <a:ext cx="3568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700" b="1"/>
                <a:t>Linear  Kernel  Neighbor  Ensemble Neural net</a:t>
              </a:r>
            </a:p>
          </p:txBody>
        </p:sp>
        <p:sp>
          <p:nvSpPr>
            <p:cNvPr id="273" name="文本框 272"/>
            <p:cNvSpPr txBox="1"/>
            <p:nvPr/>
          </p:nvSpPr>
          <p:spPr>
            <a:xfrm>
              <a:off x="3449" y="3027"/>
              <a:ext cx="1306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700"/>
                <a:t>Ridge</a:t>
              </a:r>
            </a:p>
            <a:p>
              <a:r>
                <a:rPr lang="en-US" altLang="zh-CN" sz="700"/>
                <a:t>Lasso</a:t>
              </a:r>
            </a:p>
            <a:p>
              <a:r>
                <a:rPr lang="en-US" altLang="zh-CN" sz="700"/>
                <a:t>Elastic Net</a:t>
              </a:r>
            </a:p>
          </p:txBody>
        </p:sp>
        <p:sp>
          <p:nvSpPr>
            <p:cNvPr id="275" name="文本框 274"/>
            <p:cNvSpPr txBox="1"/>
            <p:nvPr/>
          </p:nvSpPr>
          <p:spPr>
            <a:xfrm>
              <a:off x="3874" y="3047"/>
              <a:ext cx="668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700"/>
                <a:t>  SVR</a:t>
              </a:r>
            </a:p>
          </p:txBody>
        </p:sp>
        <p:sp>
          <p:nvSpPr>
            <p:cNvPr id="276" name="文本框 275"/>
            <p:cNvSpPr txBox="1"/>
            <p:nvPr/>
          </p:nvSpPr>
          <p:spPr>
            <a:xfrm>
              <a:off x="4398" y="3045"/>
              <a:ext cx="1306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700"/>
                <a:t>  KNN</a:t>
              </a:r>
            </a:p>
          </p:txBody>
        </p:sp>
        <p:sp>
          <p:nvSpPr>
            <p:cNvPr id="277" name="文本框 276"/>
            <p:cNvSpPr txBox="1"/>
            <p:nvPr/>
          </p:nvSpPr>
          <p:spPr>
            <a:xfrm>
              <a:off x="5160" y="3047"/>
              <a:ext cx="1928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700"/>
                <a:t>RF</a:t>
              </a:r>
            </a:p>
            <a:p>
              <a:r>
                <a:rPr lang="en-US" altLang="zh-CN" sz="700"/>
                <a:t>Gradient Boosting      Regressor</a:t>
              </a:r>
            </a:p>
            <a:p>
              <a:r>
                <a:rPr lang="en-US" altLang="zh-CN" sz="700"/>
                <a:t>XGBoost</a:t>
              </a:r>
            </a:p>
            <a:p>
              <a:r>
                <a:rPr lang="en-US" altLang="zh-CN" sz="700"/>
                <a:t>AdaBoost</a:t>
              </a:r>
            </a:p>
          </p:txBody>
        </p:sp>
        <p:sp>
          <p:nvSpPr>
            <p:cNvPr id="296" name="文本框 295"/>
            <p:cNvSpPr txBox="1"/>
            <p:nvPr/>
          </p:nvSpPr>
          <p:spPr>
            <a:xfrm>
              <a:off x="5831" y="3045"/>
              <a:ext cx="1905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700"/>
                <a:t> MLP</a:t>
              </a:r>
            </a:p>
          </p:txBody>
        </p:sp>
        <p:pic>
          <p:nvPicPr>
            <p:cNvPr id="308" name="图片 307"/>
            <p:cNvPicPr>
              <a:picLocks noChangeAspect="1"/>
            </p:cNvPicPr>
            <p:nvPr/>
          </p:nvPicPr>
          <p:blipFill>
            <a:blip r:embed="rId30">
              <a:clrChange>
                <a:clrFrom>
                  <a:srgbClr val="D8E8EC">
                    <a:alpha val="100000"/>
                  </a:srgbClr>
                </a:clrFrom>
                <a:clrTo>
                  <a:srgbClr val="D8E8EC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004" y="2450"/>
              <a:ext cx="646" cy="433"/>
            </a:xfrm>
            <a:prstGeom prst="rect">
              <a:avLst/>
            </a:prstGeom>
          </p:spPr>
        </p:pic>
        <p:sp>
          <p:nvSpPr>
            <p:cNvPr id="320" name="圆角矩形 319"/>
            <p:cNvSpPr/>
            <p:nvPr/>
          </p:nvSpPr>
          <p:spPr>
            <a:xfrm>
              <a:off x="4021" y="2121"/>
              <a:ext cx="2294" cy="285"/>
            </a:xfrm>
            <a:prstGeom prst="roundRect">
              <a:avLst>
                <a:gd name="adj" fmla="val 11748"/>
              </a:avLst>
            </a:prstGeom>
            <a:solidFill>
              <a:srgbClr val="3A693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/>
                <a:t>Baseline models (</a:t>
              </a:r>
              <a:r>
                <a:rPr lang="zh-CN" altLang="en-US" sz="900"/>
                <a:t>×</a:t>
              </a:r>
              <a:r>
                <a:rPr lang="en-US" altLang="zh-CN" sz="900"/>
                <a:t>10)</a:t>
              </a:r>
            </a:p>
          </p:txBody>
        </p:sp>
        <p:sp>
          <p:nvSpPr>
            <p:cNvPr id="323" name="文本框 322"/>
            <p:cNvSpPr txBox="1"/>
            <p:nvPr/>
          </p:nvSpPr>
          <p:spPr>
            <a:xfrm>
              <a:off x="243" y="3934"/>
              <a:ext cx="1790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800"/>
                <a:t>No tuning needed</a:t>
              </a:r>
            </a:p>
          </p:txBody>
        </p:sp>
        <p:sp>
          <p:nvSpPr>
            <p:cNvPr id="324" name="文本框 323"/>
            <p:cNvSpPr txBox="1"/>
            <p:nvPr/>
          </p:nvSpPr>
          <p:spPr>
            <a:xfrm>
              <a:off x="2077" y="3934"/>
              <a:ext cx="5117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800" b="1">
                  <a:sym typeface="+mn-ea"/>
                </a:rPr>
                <a:t>Bayesian optimization</a:t>
              </a:r>
              <a:r>
                <a:rPr lang="en-US" altLang="zh-CN" sz="800">
                  <a:sym typeface="+mn-ea"/>
                </a:rPr>
                <a:t> (Optuna TPE, 30 trials, inner 3-fold CV)</a:t>
              </a:r>
              <a:endParaRPr lang="en-US" altLang="zh-CN" sz="800"/>
            </a:p>
          </p:txBody>
        </p:sp>
        <p:sp>
          <p:nvSpPr>
            <p:cNvPr id="325" name="文本框 324"/>
            <p:cNvSpPr txBox="1"/>
            <p:nvPr/>
          </p:nvSpPr>
          <p:spPr>
            <a:xfrm>
              <a:off x="2130" y="4186"/>
              <a:ext cx="5117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800">
                  <a:sym typeface="+mn-ea"/>
                </a:rPr>
                <a:t> Unified outer-fold evaluation</a:t>
              </a:r>
              <a:endParaRPr lang="en-US" altLang="zh-CN" sz="800"/>
            </a:p>
          </p:txBody>
        </p:sp>
        <p:sp>
          <p:nvSpPr>
            <p:cNvPr id="336" name="文本框 335"/>
            <p:cNvSpPr txBox="1"/>
            <p:nvPr/>
          </p:nvSpPr>
          <p:spPr>
            <a:xfrm>
              <a:off x="4850" y="4159"/>
              <a:ext cx="2166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800" b="1">
                  <a:sym typeface="+mn-ea"/>
                </a:rPr>
                <a:t>Hyperparameter search</a:t>
              </a:r>
              <a:endParaRPr lang="en-US" altLang="zh-CN" sz="800" b="1"/>
            </a:p>
          </p:txBody>
        </p:sp>
        <p:sp>
          <p:nvSpPr>
            <p:cNvPr id="342" name="下箭头 341"/>
            <p:cNvSpPr/>
            <p:nvPr>
              <p:custDataLst>
                <p:tags r:id="rId7"/>
              </p:custDataLst>
            </p:nvPr>
          </p:nvSpPr>
          <p:spPr>
            <a:xfrm flipH="1">
              <a:off x="3231" y="4443"/>
              <a:ext cx="233" cy="164"/>
            </a:xfrm>
            <a:prstGeom prst="downArrow">
              <a:avLst/>
            </a:prstGeom>
            <a:solidFill>
              <a:srgbClr val="6C6D6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357" name="直接箭头连接符 356"/>
            <p:cNvCxnSpPr/>
            <p:nvPr/>
          </p:nvCxnSpPr>
          <p:spPr>
            <a:xfrm>
              <a:off x="1697" y="3604"/>
              <a:ext cx="0" cy="100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58" name="直接箭头连接符 357"/>
            <p:cNvCxnSpPr/>
            <p:nvPr/>
          </p:nvCxnSpPr>
          <p:spPr>
            <a:xfrm>
              <a:off x="1687" y="4356"/>
              <a:ext cx="593" cy="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60" name="肘形连接符 359"/>
            <p:cNvCxnSpPr/>
            <p:nvPr/>
          </p:nvCxnSpPr>
          <p:spPr>
            <a:xfrm rot="10800000" flipV="1">
              <a:off x="4341" y="4196"/>
              <a:ext cx="587" cy="173"/>
            </a:xfrm>
            <a:prstGeom prst="bentConnector3">
              <a:avLst>
                <a:gd name="adj1" fmla="val 511"/>
              </a:avLst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61" name="图片 360" descr="齿轮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711" y="3794"/>
              <a:ext cx="501" cy="501"/>
            </a:xfrm>
            <a:prstGeom prst="rect">
              <a:avLst/>
            </a:prstGeom>
          </p:spPr>
        </p:pic>
        <p:sp>
          <p:nvSpPr>
            <p:cNvPr id="417" name="文本框 416"/>
            <p:cNvSpPr txBox="1"/>
            <p:nvPr/>
          </p:nvSpPr>
          <p:spPr>
            <a:xfrm>
              <a:off x="4138" y="4776"/>
              <a:ext cx="2117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800" b="1">
                  <a:sym typeface="+mn-ea"/>
                </a:rPr>
                <a:t>②</a:t>
              </a:r>
              <a:r>
                <a:rPr lang="en-US" altLang="zh-CN" sz="800" b="1">
                  <a:sym typeface="+mn-ea"/>
                </a:rPr>
                <a:t> </a:t>
              </a:r>
              <a:r>
                <a:rPr lang="en-US" altLang="zh-CN" sz="800" b="1"/>
                <a:t>Statistical inference</a:t>
              </a:r>
            </a:p>
          </p:txBody>
        </p:sp>
        <p:grpSp>
          <p:nvGrpSpPr>
            <p:cNvPr id="426" name="组合 425"/>
            <p:cNvGrpSpPr/>
            <p:nvPr/>
          </p:nvGrpSpPr>
          <p:grpSpPr>
            <a:xfrm>
              <a:off x="3551" y="4898"/>
              <a:ext cx="4149" cy="949"/>
              <a:chOff x="1230" y="6190"/>
              <a:chExt cx="4149" cy="949"/>
            </a:xfrm>
          </p:grpSpPr>
          <p:grpSp>
            <p:nvGrpSpPr>
              <p:cNvPr id="425" name="组合 424"/>
              <p:cNvGrpSpPr/>
              <p:nvPr/>
            </p:nvGrpSpPr>
            <p:grpSpPr>
              <a:xfrm>
                <a:off x="1230" y="6190"/>
                <a:ext cx="3276" cy="866"/>
                <a:chOff x="1230" y="6190"/>
                <a:chExt cx="3276" cy="866"/>
              </a:xfrm>
            </p:grpSpPr>
            <p:sp>
              <p:nvSpPr>
                <p:cNvPr id="418" name="文本框 417"/>
                <p:cNvSpPr txBox="1"/>
                <p:nvPr/>
              </p:nvSpPr>
              <p:spPr>
                <a:xfrm>
                  <a:off x="1874" y="6356"/>
                  <a:ext cx="2632" cy="1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700"/>
                    <a:t>R</a:t>
                  </a:r>
                  <a:r>
                    <a:rPr lang="en-US" altLang="en-US" sz="700"/>
                    <a:t>²</a:t>
                  </a:r>
                  <a:r>
                    <a:rPr lang="en-US" altLang="zh-CN" sz="700"/>
                    <a:t>, RMSE, MAE</a:t>
                  </a:r>
                </a:p>
                <a:p>
                  <a:r>
                    <a:rPr lang="en-US" altLang="zh-CN" sz="700"/>
                    <a:t>Paired Wilcoxon signed-rank</a:t>
                  </a:r>
                </a:p>
                <a:p>
                  <a:r>
                    <a:rPr lang="en-US" altLang="zh-CN" sz="700"/>
                    <a:t>Holm–Bonferroni correction</a:t>
                  </a:r>
                </a:p>
              </p:txBody>
            </p:sp>
            <p:sp>
              <p:nvSpPr>
                <p:cNvPr id="419" name="左大括号 418"/>
                <p:cNvSpPr/>
                <p:nvPr/>
              </p:nvSpPr>
              <p:spPr>
                <a:xfrm>
                  <a:off x="1649" y="6455"/>
                  <a:ext cx="119" cy="467"/>
                </a:xfrm>
                <a:prstGeom prst="leftBrac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20" name="文本框 419"/>
                <p:cNvSpPr txBox="1"/>
                <p:nvPr/>
              </p:nvSpPr>
              <p:spPr>
                <a:xfrm rot="10800000">
                  <a:off x="1230" y="6190"/>
                  <a:ext cx="509" cy="866"/>
                </a:xfrm>
                <a:prstGeom prst="rect">
                  <a:avLst/>
                </a:prstGeom>
                <a:noFill/>
              </p:spPr>
              <p:txBody>
                <a:bodyPr vert="eaVert" wrap="square" rtlCol="0">
                  <a:spAutoFit/>
                </a:bodyPr>
                <a:lstStyle/>
                <a:p>
                  <a:r>
                    <a:rPr lang="en-US" altLang="zh-CN" sz="900"/>
                    <a:t>Metrics</a:t>
                  </a:r>
                </a:p>
              </p:txBody>
            </p:sp>
            <p:pic>
              <p:nvPicPr>
                <p:cNvPr id="421" name="图片 420" descr="统计表"/>
                <p:cNvPicPr>
                  <a:picLocks noChangeAspect="1"/>
                </p:cNvPicPr>
                <p:nvPr>
                  <p:custDataLst>
                    <p:tags r:id="rId11"/>
                  </p:custDataLst>
                </p:nvPr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28" y="6615"/>
                  <a:ext cx="147" cy="147"/>
                </a:xfrm>
                <a:prstGeom prst="rect">
                  <a:avLst/>
                </a:prstGeom>
              </p:spPr>
            </p:pic>
            <p:pic>
              <p:nvPicPr>
                <p:cNvPr id="422" name="图片 421" descr="勋章"/>
                <p:cNvPicPr>
                  <a:picLocks noChangeAspect="1"/>
                </p:cNvPicPr>
                <p:nvPr>
                  <p:custDataLst>
                    <p:tags r:id="rId12"/>
                  </p:custDataLst>
                </p:nvPr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17" y="6441"/>
                  <a:ext cx="147" cy="147"/>
                </a:xfrm>
                <a:prstGeom prst="rect">
                  <a:avLst/>
                </a:prstGeom>
              </p:spPr>
            </p:pic>
            <p:pic>
              <p:nvPicPr>
                <p:cNvPr id="423" name="图片 422" descr="盾牌"/>
                <p:cNvPicPr>
                  <a:picLocks noChangeAspect="1"/>
                </p:cNvPicPr>
                <p:nvPr>
                  <p:custDataLst>
                    <p:tags r:id="rId13"/>
                  </p:custDataLst>
                </p:nvPr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28" y="6786"/>
                  <a:ext cx="156" cy="156"/>
                </a:xfrm>
                <a:prstGeom prst="rect">
                  <a:avLst/>
                </a:prstGeom>
              </p:spPr>
            </p:pic>
          </p:grpSp>
          <p:sp>
            <p:nvSpPr>
              <p:cNvPr id="424" name="文本框 423"/>
              <p:cNvSpPr txBox="1"/>
              <p:nvPr/>
            </p:nvSpPr>
            <p:spPr>
              <a:xfrm>
                <a:off x="1269" y="6942"/>
                <a:ext cx="4110" cy="1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700"/>
                  <a:t>Observation unit: repeat-level mean R</a:t>
                </a:r>
                <a:r>
                  <a:rPr lang="en-US" altLang="en-US" sz="700"/>
                  <a:t>²</a:t>
                </a:r>
                <a:r>
                  <a:rPr lang="en-US" altLang="zh-CN" sz="700"/>
                  <a:t> (n = 10)</a:t>
                </a:r>
              </a:p>
            </p:txBody>
          </p:sp>
        </p:grpSp>
        <p:sp>
          <p:nvSpPr>
            <p:cNvPr id="427" name="下箭头 426"/>
            <p:cNvSpPr/>
            <p:nvPr>
              <p:custDataLst>
                <p:tags r:id="rId9"/>
              </p:custDataLst>
            </p:nvPr>
          </p:nvSpPr>
          <p:spPr>
            <a:xfrm flipH="1">
              <a:off x="3231" y="5958"/>
              <a:ext cx="233" cy="164"/>
            </a:xfrm>
            <a:prstGeom prst="downArrow">
              <a:avLst/>
            </a:prstGeom>
            <a:solidFill>
              <a:srgbClr val="6C6D6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8" name="文本框 427"/>
            <p:cNvSpPr txBox="1"/>
            <p:nvPr/>
          </p:nvSpPr>
          <p:spPr>
            <a:xfrm>
              <a:off x="507" y="6287"/>
              <a:ext cx="3083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800" b="1">
                  <a:sym typeface="+mn-ea"/>
                </a:rPr>
                <a:t>①</a:t>
              </a:r>
              <a:r>
                <a:rPr lang="en-US" altLang="zh-CN" sz="800" b="1">
                  <a:sym typeface="+mn-ea"/>
                </a:rPr>
                <a:t> </a:t>
              </a:r>
              <a:r>
                <a:rPr lang="en-US" altLang="zh-CN" sz="800" b="1"/>
                <a:t>Cross-feature-set comparison</a:t>
              </a:r>
            </a:p>
          </p:txBody>
        </p:sp>
        <p:sp>
          <p:nvSpPr>
            <p:cNvPr id="429" name="文本框 428"/>
            <p:cNvSpPr txBox="1"/>
            <p:nvPr/>
          </p:nvSpPr>
          <p:spPr>
            <a:xfrm>
              <a:off x="4073" y="6287"/>
              <a:ext cx="2591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800" b="1">
                  <a:sym typeface="+mn-ea"/>
                </a:rPr>
                <a:t>②</a:t>
              </a:r>
              <a:r>
                <a:rPr lang="en-US" altLang="zh-CN" sz="800" b="1">
                  <a:sym typeface="+mn-ea"/>
                </a:rPr>
                <a:t> </a:t>
              </a:r>
              <a:r>
                <a:rPr lang="en-US" altLang="zh-CN" sz="800" b="1"/>
                <a:t>Learning curve analysis</a:t>
              </a:r>
            </a:p>
          </p:txBody>
        </p:sp>
        <p:sp>
          <p:nvSpPr>
            <p:cNvPr id="431" name="文本框 430"/>
            <p:cNvSpPr txBox="1"/>
            <p:nvPr/>
          </p:nvSpPr>
          <p:spPr>
            <a:xfrm>
              <a:off x="614" y="7093"/>
              <a:ext cx="3570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700"/>
                <a:t>ΔR</a:t>
              </a:r>
              <a:r>
                <a:rPr lang="en-US" altLang="en-US" sz="700"/>
                <a:t>²</a:t>
              </a:r>
              <a:r>
                <a:rPr lang="en-US" altLang="zh-CN" sz="700"/>
                <a:t> (Set A – Set B) per model</a:t>
              </a:r>
            </a:p>
            <a:p>
              <a:r>
                <a:rPr lang="en-US" altLang="zh-CN" sz="700"/>
                <a:t>Two-sided Wilcoxon signed-rank test</a:t>
              </a:r>
            </a:p>
          </p:txBody>
        </p:sp>
        <p:sp>
          <p:nvSpPr>
            <p:cNvPr id="432" name="文本框 431"/>
            <p:cNvSpPr txBox="1"/>
            <p:nvPr/>
          </p:nvSpPr>
          <p:spPr>
            <a:xfrm>
              <a:off x="109" y="7854"/>
              <a:ext cx="2113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800" b="1">
                  <a:sym typeface="+mn-ea"/>
                </a:rPr>
                <a:t>①</a:t>
              </a:r>
              <a:r>
                <a:rPr lang="en-US" altLang="zh-CN" sz="800" b="1">
                  <a:sym typeface="+mn-ea"/>
                </a:rPr>
                <a:t> </a:t>
              </a:r>
              <a:r>
                <a:rPr lang="en-US" altLang="zh-CN" sz="800" b="1"/>
                <a:t>Residual-based prediction intervals</a:t>
              </a:r>
            </a:p>
          </p:txBody>
        </p:sp>
        <p:sp>
          <p:nvSpPr>
            <p:cNvPr id="433" name="文本框 432"/>
            <p:cNvSpPr txBox="1"/>
            <p:nvPr/>
          </p:nvSpPr>
          <p:spPr>
            <a:xfrm>
              <a:off x="1878" y="8792"/>
              <a:ext cx="2784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800" b="1">
                  <a:sym typeface="+mn-ea"/>
                </a:rPr>
                <a:t>②</a:t>
              </a:r>
              <a:r>
                <a:rPr lang="en-US" altLang="zh-CN" sz="800" b="1">
                  <a:sym typeface="+mn-ea"/>
                </a:rPr>
                <a:t> </a:t>
              </a:r>
              <a:r>
                <a:rPr lang="en-US" altLang="zh-CN" sz="800" b="1"/>
                <a:t>SHAP-based interpretability</a:t>
              </a:r>
            </a:p>
          </p:txBody>
        </p:sp>
        <p:sp>
          <p:nvSpPr>
            <p:cNvPr id="434" name="文本框 433"/>
            <p:cNvSpPr txBox="1"/>
            <p:nvPr/>
          </p:nvSpPr>
          <p:spPr>
            <a:xfrm>
              <a:off x="3855" y="7854"/>
              <a:ext cx="3110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800" b="1">
                  <a:sym typeface="+mn-ea"/>
                </a:rPr>
                <a:t>③</a:t>
              </a:r>
              <a:r>
                <a:rPr lang="en-US" altLang="zh-CN" sz="800" b="1">
                  <a:sym typeface="+mn-ea"/>
                </a:rPr>
                <a:t> </a:t>
              </a:r>
              <a:r>
                <a:rPr lang="en-US" altLang="zh-CN" sz="800" b="1"/>
                <a:t>Independent external benchmark</a:t>
              </a:r>
            </a:p>
          </p:txBody>
        </p:sp>
        <p:sp>
          <p:nvSpPr>
            <p:cNvPr id="436" name="下箭头 435"/>
            <p:cNvSpPr/>
            <p:nvPr>
              <p:custDataLst>
                <p:tags r:id="rId10"/>
              </p:custDataLst>
            </p:nvPr>
          </p:nvSpPr>
          <p:spPr>
            <a:xfrm flipH="1">
              <a:off x="3231" y="7525"/>
              <a:ext cx="233" cy="164"/>
            </a:xfrm>
            <a:prstGeom prst="downArrow">
              <a:avLst/>
            </a:prstGeom>
            <a:solidFill>
              <a:srgbClr val="6C6D6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437" name="图片 436"/>
            <p:cNvPicPr>
              <a:picLocks noChangeAspect="1"/>
            </p:cNvPicPr>
            <p:nvPr/>
          </p:nvPicPr>
          <p:blipFill>
            <a:blip r:embed="rId35">
              <a:clrChange>
                <a:clrFrom>
                  <a:srgbClr val="F2E2C4">
                    <a:alpha val="100000"/>
                  </a:srgbClr>
                </a:clrFrom>
                <a:clrTo>
                  <a:srgbClr val="F2E2C4">
                    <a:alpha val="100000"/>
                    <a:alpha val="0"/>
                  </a:srgbClr>
                </a:clrTo>
              </a:clrChange>
            </a:blip>
            <a:srcRect b="16195"/>
            <a:stretch>
              <a:fillRect/>
            </a:stretch>
          </p:blipFill>
          <p:spPr>
            <a:xfrm>
              <a:off x="3815" y="6574"/>
              <a:ext cx="1534" cy="92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38" name="文本框 437"/>
            <p:cNvSpPr txBox="1"/>
            <p:nvPr/>
          </p:nvSpPr>
          <p:spPr>
            <a:xfrm>
              <a:off x="4899" y="7093"/>
              <a:ext cx="1953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700" i="1"/>
                <a:t>n</a:t>
              </a:r>
              <a:r>
                <a:rPr lang="en-US" altLang="zh-CN" sz="700" baseline="-25000"/>
                <a:t>train</a:t>
              </a:r>
              <a:r>
                <a:rPr lang="en-US" altLang="zh-CN" sz="700"/>
                <a:t> ∈ {10, 15, 20, ..., 48}</a:t>
              </a:r>
            </a:p>
          </p:txBody>
        </p:sp>
        <p:pic>
          <p:nvPicPr>
            <p:cNvPr id="439" name="图片 438"/>
            <p:cNvPicPr>
              <a:picLocks noChangeAspect="1"/>
            </p:cNvPicPr>
            <p:nvPr/>
          </p:nvPicPr>
          <p:blipFill>
            <a:blip r:embed="rId36">
              <a:clrChange>
                <a:clrFrom>
                  <a:srgbClr val="F5E8D0">
                    <a:alpha val="100000"/>
                  </a:srgbClr>
                </a:clrFrom>
                <a:clrTo>
                  <a:srgbClr val="F5E8D0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16" y="6574"/>
              <a:ext cx="2365" cy="58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40" name="图片 439"/>
            <p:cNvPicPr>
              <a:picLocks noChangeAspect="1"/>
            </p:cNvPicPr>
            <p:nvPr/>
          </p:nvPicPr>
          <p:blipFill>
            <a:blip r:embed="rId37">
              <a:clrChange>
                <a:clrFrom>
                  <a:srgbClr val="F0E8F5">
                    <a:alpha val="100000"/>
                  </a:srgbClr>
                </a:clrFrom>
                <a:clrTo>
                  <a:srgbClr val="F0E8F5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49" y="8226"/>
              <a:ext cx="1408" cy="82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41" name="图片 440"/>
            <p:cNvPicPr>
              <a:picLocks noChangeAspect="1"/>
            </p:cNvPicPr>
            <p:nvPr/>
          </p:nvPicPr>
          <p:blipFill>
            <a:blip r:embed="rId38">
              <a:clrChange>
                <a:clrFrom>
                  <a:srgbClr val="F5E5EF">
                    <a:alpha val="100000"/>
                  </a:srgbClr>
                </a:clrFrom>
                <a:clrTo>
                  <a:srgbClr val="F5E5E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595" y="7962"/>
              <a:ext cx="1220" cy="91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42" name="文本框 441"/>
            <p:cNvSpPr txBox="1"/>
            <p:nvPr/>
          </p:nvSpPr>
          <p:spPr>
            <a:xfrm rot="10800000">
              <a:off x="2232" y="7854"/>
              <a:ext cx="509" cy="86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900"/>
                <a:t>SHAP</a:t>
              </a:r>
            </a:p>
          </p:txBody>
        </p:sp>
        <p:sp>
          <p:nvSpPr>
            <p:cNvPr id="444" name="圆角矩形 443"/>
            <p:cNvSpPr/>
            <p:nvPr/>
          </p:nvSpPr>
          <p:spPr>
            <a:xfrm>
              <a:off x="412" y="5037"/>
              <a:ext cx="2819" cy="863"/>
            </a:xfrm>
            <a:prstGeom prst="roundRect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16" name="组合 415"/>
            <p:cNvGrpSpPr/>
            <p:nvPr/>
          </p:nvGrpSpPr>
          <p:grpSpPr>
            <a:xfrm>
              <a:off x="349" y="4973"/>
              <a:ext cx="3506" cy="872"/>
              <a:chOff x="1000" y="6477"/>
              <a:chExt cx="3506" cy="872"/>
            </a:xfrm>
          </p:grpSpPr>
          <p:grpSp>
            <p:nvGrpSpPr>
              <p:cNvPr id="408" name="组合 407"/>
              <p:cNvGrpSpPr/>
              <p:nvPr/>
            </p:nvGrpSpPr>
            <p:grpSpPr>
              <a:xfrm>
                <a:off x="1065" y="7106"/>
                <a:ext cx="1039" cy="242"/>
                <a:chOff x="1064" y="7030"/>
                <a:chExt cx="1039" cy="242"/>
              </a:xfrm>
            </p:grpSpPr>
            <p:grpSp>
              <p:nvGrpSpPr>
                <p:cNvPr id="382" name="组合 381"/>
                <p:cNvGrpSpPr/>
                <p:nvPr/>
              </p:nvGrpSpPr>
              <p:grpSpPr>
                <a:xfrm>
                  <a:off x="1064" y="7030"/>
                  <a:ext cx="608" cy="243"/>
                  <a:chOff x="1064" y="6698"/>
                  <a:chExt cx="608" cy="243"/>
                </a:xfrm>
              </p:grpSpPr>
              <p:sp>
                <p:nvSpPr>
                  <p:cNvPr id="383" name="圆角矩形 382"/>
                  <p:cNvSpPr/>
                  <p:nvPr/>
                </p:nvSpPr>
                <p:spPr>
                  <a:xfrm>
                    <a:off x="1156" y="6745"/>
                    <a:ext cx="425" cy="197"/>
                  </a:xfrm>
                  <a:prstGeom prst="roundRect">
                    <a:avLst/>
                  </a:prstGeom>
                  <a:solidFill>
                    <a:srgbClr val="BAD69A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300"/>
                  </a:p>
                </p:txBody>
              </p:sp>
              <p:sp>
                <p:nvSpPr>
                  <p:cNvPr id="385" name="文本框 384"/>
                  <p:cNvSpPr txBox="1"/>
                  <p:nvPr/>
                </p:nvSpPr>
                <p:spPr>
                  <a:xfrm>
                    <a:off x="1064" y="6698"/>
                    <a:ext cx="609" cy="1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r>
                      <a:rPr lang="en-US" altLang="zh-CN" sz="700"/>
                      <a:t>Train</a:t>
                    </a:r>
                  </a:p>
                </p:txBody>
              </p:sp>
            </p:grpSp>
            <p:grpSp>
              <p:nvGrpSpPr>
                <p:cNvPr id="386" name="组合 385"/>
                <p:cNvGrpSpPr/>
                <p:nvPr/>
              </p:nvGrpSpPr>
              <p:grpSpPr>
                <a:xfrm>
                  <a:off x="1495" y="7030"/>
                  <a:ext cx="608" cy="243"/>
                  <a:chOff x="1064" y="6698"/>
                  <a:chExt cx="608" cy="243"/>
                </a:xfrm>
              </p:grpSpPr>
              <p:sp>
                <p:nvSpPr>
                  <p:cNvPr id="393" name="圆角矩形 392"/>
                  <p:cNvSpPr/>
                  <p:nvPr/>
                </p:nvSpPr>
                <p:spPr>
                  <a:xfrm>
                    <a:off x="1156" y="6745"/>
                    <a:ext cx="425" cy="197"/>
                  </a:xfrm>
                  <a:prstGeom prst="roundRect">
                    <a:avLst/>
                  </a:prstGeom>
                  <a:solidFill>
                    <a:srgbClr val="BAD69A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300"/>
                  </a:p>
                </p:txBody>
              </p:sp>
              <p:sp>
                <p:nvSpPr>
                  <p:cNvPr id="398" name="文本框 397"/>
                  <p:cNvSpPr txBox="1"/>
                  <p:nvPr/>
                </p:nvSpPr>
                <p:spPr>
                  <a:xfrm>
                    <a:off x="1064" y="6698"/>
                    <a:ext cx="609" cy="1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r>
                      <a:rPr lang="en-US" altLang="zh-CN" sz="700"/>
                      <a:t>Train</a:t>
                    </a:r>
                  </a:p>
                </p:txBody>
              </p:sp>
            </p:grpSp>
          </p:grpSp>
          <p:grpSp>
            <p:nvGrpSpPr>
              <p:cNvPr id="365" name="组合 364"/>
              <p:cNvGrpSpPr/>
              <p:nvPr/>
            </p:nvGrpSpPr>
            <p:grpSpPr>
              <a:xfrm>
                <a:off x="1064" y="6698"/>
                <a:ext cx="608" cy="243"/>
                <a:chOff x="1064" y="6698"/>
                <a:chExt cx="608" cy="243"/>
              </a:xfrm>
            </p:grpSpPr>
            <p:sp>
              <p:nvSpPr>
                <p:cNvPr id="363" name="圆角矩形 362"/>
                <p:cNvSpPr/>
                <p:nvPr/>
              </p:nvSpPr>
              <p:spPr>
                <a:xfrm>
                  <a:off x="1156" y="6745"/>
                  <a:ext cx="425" cy="197"/>
                </a:xfrm>
                <a:prstGeom prst="roundRect">
                  <a:avLst/>
                </a:prstGeom>
                <a:solidFill>
                  <a:srgbClr val="BAD69A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300"/>
                </a:p>
              </p:txBody>
            </p:sp>
            <p:sp>
              <p:nvSpPr>
                <p:cNvPr id="364" name="文本框 363"/>
                <p:cNvSpPr txBox="1"/>
                <p:nvPr/>
              </p:nvSpPr>
              <p:spPr>
                <a:xfrm>
                  <a:off x="1064" y="6698"/>
                  <a:ext cx="609" cy="1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700"/>
                    <a:t>Train</a:t>
                  </a:r>
                </a:p>
              </p:txBody>
            </p:sp>
          </p:grpSp>
          <p:grpSp>
            <p:nvGrpSpPr>
              <p:cNvPr id="366" name="组合 365"/>
              <p:cNvGrpSpPr/>
              <p:nvPr/>
            </p:nvGrpSpPr>
            <p:grpSpPr>
              <a:xfrm>
                <a:off x="1495" y="6698"/>
                <a:ext cx="608" cy="243"/>
                <a:chOff x="1064" y="6698"/>
                <a:chExt cx="608" cy="243"/>
              </a:xfrm>
            </p:grpSpPr>
            <p:sp>
              <p:nvSpPr>
                <p:cNvPr id="367" name="圆角矩形 366"/>
                <p:cNvSpPr/>
                <p:nvPr/>
              </p:nvSpPr>
              <p:spPr>
                <a:xfrm>
                  <a:off x="1156" y="6745"/>
                  <a:ext cx="425" cy="197"/>
                </a:xfrm>
                <a:prstGeom prst="roundRect">
                  <a:avLst/>
                </a:prstGeom>
                <a:solidFill>
                  <a:srgbClr val="BAD69A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300"/>
                </a:p>
              </p:txBody>
            </p:sp>
            <p:sp>
              <p:nvSpPr>
                <p:cNvPr id="368" name="文本框 367"/>
                <p:cNvSpPr txBox="1"/>
                <p:nvPr/>
              </p:nvSpPr>
              <p:spPr>
                <a:xfrm>
                  <a:off x="1064" y="6698"/>
                  <a:ext cx="609" cy="1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700"/>
                    <a:t>Train</a:t>
                  </a:r>
                </a:p>
              </p:txBody>
            </p:sp>
          </p:grpSp>
          <p:grpSp>
            <p:nvGrpSpPr>
              <p:cNvPr id="370" name="组合 369"/>
              <p:cNvGrpSpPr/>
              <p:nvPr/>
            </p:nvGrpSpPr>
            <p:grpSpPr>
              <a:xfrm>
                <a:off x="1920" y="6698"/>
                <a:ext cx="608" cy="243"/>
                <a:chOff x="1064" y="6698"/>
                <a:chExt cx="608" cy="243"/>
              </a:xfrm>
            </p:grpSpPr>
            <p:sp>
              <p:nvSpPr>
                <p:cNvPr id="371" name="圆角矩形 370"/>
                <p:cNvSpPr/>
                <p:nvPr/>
              </p:nvSpPr>
              <p:spPr>
                <a:xfrm>
                  <a:off x="1156" y="6745"/>
                  <a:ext cx="425" cy="197"/>
                </a:xfrm>
                <a:prstGeom prst="roundRect">
                  <a:avLst/>
                </a:prstGeom>
                <a:solidFill>
                  <a:srgbClr val="BAD69A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300"/>
                </a:p>
              </p:txBody>
            </p:sp>
            <p:sp>
              <p:nvSpPr>
                <p:cNvPr id="372" name="文本框 371"/>
                <p:cNvSpPr txBox="1"/>
                <p:nvPr/>
              </p:nvSpPr>
              <p:spPr>
                <a:xfrm>
                  <a:off x="1064" y="6698"/>
                  <a:ext cx="609" cy="1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700"/>
                    <a:t>Train</a:t>
                  </a:r>
                </a:p>
              </p:txBody>
            </p:sp>
          </p:grpSp>
          <p:grpSp>
            <p:nvGrpSpPr>
              <p:cNvPr id="379" name="组合 378"/>
              <p:cNvGrpSpPr/>
              <p:nvPr/>
            </p:nvGrpSpPr>
            <p:grpSpPr>
              <a:xfrm>
                <a:off x="2351" y="6698"/>
                <a:ext cx="608" cy="243"/>
                <a:chOff x="1064" y="6698"/>
                <a:chExt cx="608" cy="243"/>
              </a:xfrm>
            </p:grpSpPr>
            <p:sp>
              <p:nvSpPr>
                <p:cNvPr id="380" name="圆角矩形 379"/>
                <p:cNvSpPr/>
                <p:nvPr/>
              </p:nvSpPr>
              <p:spPr>
                <a:xfrm>
                  <a:off x="1156" y="6745"/>
                  <a:ext cx="425" cy="197"/>
                </a:xfrm>
                <a:prstGeom prst="roundRect">
                  <a:avLst/>
                </a:prstGeom>
                <a:solidFill>
                  <a:srgbClr val="BAD69A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300"/>
                </a:p>
              </p:txBody>
            </p:sp>
            <p:sp>
              <p:nvSpPr>
                <p:cNvPr id="381" name="文本框 380"/>
                <p:cNvSpPr txBox="1"/>
                <p:nvPr/>
              </p:nvSpPr>
              <p:spPr>
                <a:xfrm>
                  <a:off x="1064" y="6698"/>
                  <a:ext cx="609" cy="1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700"/>
                    <a:t>Train</a:t>
                  </a:r>
                </a:p>
              </p:txBody>
            </p:sp>
          </p:grpSp>
          <p:sp>
            <p:nvSpPr>
              <p:cNvPr id="405" name="圆角矩形 404"/>
              <p:cNvSpPr/>
              <p:nvPr/>
            </p:nvSpPr>
            <p:spPr>
              <a:xfrm>
                <a:off x="2873" y="6749"/>
                <a:ext cx="425" cy="197"/>
              </a:xfrm>
              <a:prstGeom prst="roundRect">
                <a:avLst/>
              </a:prstGeom>
              <a:solidFill>
                <a:srgbClr val="32643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300"/>
              </a:p>
            </p:txBody>
          </p:sp>
          <p:sp>
            <p:nvSpPr>
              <p:cNvPr id="406" name="文本框 405"/>
              <p:cNvSpPr txBox="1"/>
              <p:nvPr/>
            </p:nvSpPr>
            <p:spPr>
              <a:xfrm>
                <a:off x="2795" y="6702"/>
                <a:ext cx="595" cy="18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700">
                    <a:solidFill>
                      <a:schemeClr val="bg1"/>
                    </a:solidFill>
                  </a:rPr>
                  <a:t>Test</a:t>
                </a:r>
              </a:p>
            </p:txBody>
          </p:sp>
          <p:sp>
            <p:nvSpPr>
              <p:cNvPr id="409" name="文本框 408"/>
              <p:cNvSpPr txBox="1"/>
              <p:nvPr/>
            </p:nvSpPr>
            <p:spPr>
              <a:xfrm>
                <a:off x="1000" y="6477"/>
                <a:ext cx="3506" cy="1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700" b="1"/>
                  <a:t>Outer loop: </a:t>
                </a:r>
                <a:r>
                  <a:rPr lang="en-US" altLang="zh-CN" sz="700"/>
                  <a:t>10 </a:t>
                </a:r>
                <a:r>
                  <a:rPr lang="en-US" altLang="en-US" sz="700"/>
                  <a:t>×</a:t>
                </a:r>
                <a:r>
                  <a:rPr lang="en-US" altLang="zh-CN" sz="700"/>
                  <a:t> 5-fold CV </a:t>
                </a:r>
                <a:r>
                  <a:rPr lang="en-US" altLang="en-US" sz="700"/>
                  <a:t>→</a:t>
                </a:r>
                <a:r>
                  <a:rPr lang="en-US" altLang="zh-CN" sz="700"/>
                  <a:t> 50 test folds</a:t>
                </a:r>
              </a:p>
            </p:txBody>
          </p:sp>
          <p:sp>
            <p:nvSpPr>
              <p:cNvPr id="410" name="文本框 409"/>
              <p:cNvSpPr txBox="1"/>
              <p:nvPr/>
            </p:nvSpPr>
            <p:spPr>
              <a:xfrm>
                <a:off x="1000" y="6907"/>
                <a:ext cx="2632" cy="1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700" b="1"/>
                  <a:t>Inner loop: </a:t>
                </a:r>
                <a:r>
                  <a:rPr lang="en-US" altLang="zh-CN" sz="700"/>
                  <a:t>3-fold CV (baselines only)</a:t>
                </a:r>
              </a:p>
            </p:txBody>
          </p:sp>
          <p:sp>
            <p:nvSpPr>
              <p:cNvPr id="411" name="圆角矩形 410"/>
              <p:cNvSpPr/>
              <p:nvPr/>
            </p:nvSpPr>
            <p:spPr>
              <a:xfrm>
                <a:off x="2018" y="7153"/>
                <a:ext cx="425" cy="197"/>
              </a:xfrm>
              <a:prstGeom prst="roundRect">
                <a:avLst/>
              </a:prstGeom>
              <a:solidFill>
                <a:srgbClr val="C3BCB7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300"/>
              </a:p>
            </p:txBody>
          </p:sp>
          <p:sp>
            <p:nvSpPr>
              <p:cNvPr id="412" name="文本框 411"/>
              <p:cNvSpPr txBox="1"/>
              <p:nvPr/>
            </p:nvSpPr>
            <p:spPr>
              <a:xfrm>
                <a:off x="1989" y="7106"/>
                <a:ext cx="595" cy="18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700"/>
                  <a:t>Val</a:t>
                </a:r>
              </a:p>
            </p:txBody>
          </p:sp>
        </p:grpSp>
        <p:sp>
          <p:nvSpPr>
            <p:cNvPr id="415" name="文本框 414"/>
            <p:cNvSpPr txBox="1"/>
            <p:nvPr/>
          </p:nvSpPr>
          <p:spPr>
            <a:xfrm>
              <a:off x="735" y="4746"/>
              <a:ext cx="2438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800" b="1">
                  <a:sym typeface="+mn-ea"/>
                </a:rPr>
                <a:t>①</a:t>
              </a:r>
              <a:r>
                <a:rPr lang="en-US" altLang="zh-CN" sz="800" b="1">
                  <a:sym typeface="+mn-ea"/>
                </a:rPr>
                <a:t>  </a:t>
              </a:r>
              <a:r>
                <a:rPr lang="en-US" altLang="zh-CN" sz="800" b="1"/>
                <a:t>Nested CV architecture</a:t>
              </a:r>
            </a:p>
          </p:txBody>
        </p:sp>
        <p:sp>
          <p:nvSpPr>
            <p:cNvPr id="445" name="圆角矩形 444"/>
            <p:cNvSpPr/>
            <p:nvPr/>
          </p:nvSpPr>
          <p:spPr>
            <a:xfrm>
              <a:off x="3661" y="5064"/>
              <a:ext cx="3048" cy="863"/>
            </a:xfrm>
            <a:prstGeom prst="roundRect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6" name="圆角矩形 445"/>
            <p:cNvSpPr/>
            <p:nvPr/>
          </p:nvSpPr>
          <p:spPr>
            <a:xfrm>
              <a:off x="417" y="6574"/>
              <a:ext cx="2814" cy="924"/>
            </a:xfrm>
            <a:prstGeom prst="round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7" name="圆角矩形 446"/>
            <p:cNvSpPr/>
            <p:nvPr/>
          </p:nvSpPr>
          <p:spPr>
            <a:xfrm>
              <a:off x="3669" y="6573"/>
              <a:ext cx="3041" cy="924"/>
            </a:xfrm>
            <a:prstGeom prst="round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49" name="图片 448"/>
            <p:cNvPicPr>
              <a:picLocks noChangeAspect="1"/>
            </p:cNvPicPr>
            <p:nvPr/>
          </p:nvPicPr>
          <p:blipFill>
            <a:blip r:embed="rId39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658" y="8068"/>
              <a:ext cx="1805" cy="91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50" name="文本框 449"/>
            <p:cNvSpPr txBox="1"/>
            <p:nvPr/>
          </p:nvSpPr>
          <p:spPr>
            <a:xfrm>
              <a:off x="5407" y="8792"/>
              <a:ext cx="1344" cy="23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700"/>
                <a:t>Lee et al. (2021)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组合 450"/>
          <p:cNvGrpSpPr/>
          <p:nvPr/>
        </p:nvGrpSpPr>
        <p:grpSpPr>
          <a:xfrm>
            <a:off x="2388564" y="549279"/>
            <a:ext cx="4935855" cy="5759451"/>
            <a:chOff x="-37" y="0"/>
            <a:chExt cx="7773" cy="9070"/>
          </a:xfrm>
        </p:grpSpPr>
        <p:sp>
          <p:nvSpPr>
            <p:cNvPr id="243" name="圆角矩形 242"/>
            <p:cNvSpPr/>
            <p:nvPr/>
          </p:nvSpPr>
          <p:spPr>
            <a:xfrm>
              <a:off x="34" y="1795"/>
              <a:ext cx="6749" cy="2666"/>
            </a:xfrm>
            <a:prstGeom prst="roundRect">
              <a:avLst>
                <a:gd name="adj" fmla="val 564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圆角矩形 103"/>
            <p:cNvSpPr/>
            <p:nvPr/>
          </p:nvSpPr>
          <p:spPr>
            <a:xfrm>
              <a:off x="34" y="0"/>
              <a:ext cx="6749" cy="1645"/>
            </a:xfrm>
            <a:prstGeom prst="roundRect">
              <a:avLst>
                <a:gd name="adj" fmla="val 564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圆角矩形 108"/>
            <p:cNvSpPr/>
            <p:nvPr/>
          </p:nvSpPr>
          <p:spPr>
            <a:xfrm>
              <a:off x="35" y="0"/>
              <a:ext cx="6749" cy="220"/>
            </a:xfrm>
            <a:prstGeom prst="roundRect">
              <a:avLst>
                <a:gd name="adj" fmla="val 46363"/>
              </a:avLst>
            </a:prstGeom>
            <a:solidFill>
              <a:srgbClr val="BED5E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zh-CN" sz="900" b="1">
                  <a:solidFill>
                    <a:schemeClr val="tx1"/>
                  </a:solidFill>
                </a:rPr>
                <a:t>Stage 1: Data preprocessing and target definition</a:t>
              </a:r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24" y="220"/>
              <a:ext cx="1715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800" b="1"/>
                <a:t>①</a:t>
              </a:r>
              <a:r>
                <a:rPr lang="en-US" altLang="zh-CN" sz="800"/>
                <a:t> </a:t>
              </a:r>
              <a:r>
                <a:rPr lang="en-US" altLang="zh-CN" sz="800" b="1"/>
                <a:t>Primary dataset</a:t>
              </a:r>
            </a:p>
          </p:txBody>
        </p:sp>
        <p:sp>
          <p:nvSpPr>
            <p:cNvPr id="113" name="文本框 112"/>
            <p:cNvSpPr txBox="1"/>
            <p:nvPr/>
          </p:nvSpPr>
          <p:spPr>
            <a:xfrm>
              <a:off x="-37" y="1213"/>
              <a:ext cx="2866" cy="51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700"/>
                <a:t>Longmenshan Fault Zone</a:t>
              </a:r>
              <a:r>
                <a:rPr lang="zh-CN" altLang="en-US" sz="700"/>
                <a:t>，</a:t>
              </a:r>
            </a:p>
            <a:p>
              <a:r>
                <a:rPr lang="en-US" altLang="zh-CN" sz="700" i="1"/>
                <a:t>n</a:t>
              </a:r>
              <a:r>
                <a:rPr lang="en-US" altLang="zh-CN" sz="700"/>
                <a:t>=60, 6 predictors + 1 response</a:t>
              </a:r>
            </a:p>
          </p:txBody>
        </p:sp>
        <p:sp>
          <p:nvSpPr>
            <p:cNvPr id="121" name="文本框 120"/>
            <p:cNvSpPr txBox="1"/>
            <p:nvPr/>
          </p:nvSpPr>
          <p:spPr>
            <a:xfrm>
              <a:off x="1900" y="220"/>
              <a:ext cx="2201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800" b="1"/>
                <a:t>②</a:t>
              </a:r>
              <a:r>
                <a:rPr lang="en-US" altLang="zh-CN" sz="800"/>
                <a:t> </a:t>
              </a:r>
              <a:r>
                <a:rPr lang="en-US" altLang="zh-CN" sz="800" b="1"/>
                <a:t>Target transformation</a:t>
              </a:r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4249" y="220"/>
              <a:ext cx="2513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800" b="1"/>
                <a:t>③</a:t>
              </a:r>
              <a:r>
                <a:rPr lang="en-US" altLang="zh-CN" sz="800"/>
                <a:t> </a:t>
              </a:r>
              <a:r>
                <a:rPr lang="en-US" altLang="zh-CN" sz="800" b="1"/>
                <a:t> Dual feature set design</a:t>
              </a:r>
            </a:p>
          </p:txBody>
        </p:sp>
        <p:grpSp>
          <p:nvGrpSpPr>
            <p:cNvPr id="177" name="组合 176"/>
            <p:cNvGrpSpPr/>
            <p:nvPr/>
          </p:nvGrpSpPr>
          <p:grpSpPr>
            <a:xfrm>
              <a:off x="4354" y="417"/>
              <a:ext cx="2767" cy="991"/>
              <a:chOff x="1889" y="3350"/>
              <a:chExt cx="2767" cy="991"/>
            </a:xfrm>
          </p:grpSpPr>
          <p:sp>
            <p:nvSpPr>
              <p:cNvPr id="124" name="矩形 123"/>
              <p:cNvSpPr/>
              <p:nvPr/>
            </p:nvSpPr>
            <p:spPr>
              <a:xfrm>
                <a:off x="1896" y="3631"/>
                <a:ext cx="1643" cy="197"/>
              </a:xfrm>
              <a:prstGeom prst="rect">
                <a:avLst/>
              </a:prstGeom>
              <a:solidFill>
                <a:srgbClr val="B5D0E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700" i="1">
                    <a:solidFill>
                      <a:schemeClr val="tx1"/>
                    </a:solidFill>
                  </a:rPr>
                  <a:t>A</a:t>
                </a:r>
                <a:r>
                  <a:rPr lang="en-US" altLang="zh-CN" sz="700">
                    <a:solidFill>
                      <a:schemeClr val="tx1"/>
                    </a:solidFill>
                  </a:rPr>
                  <a:t> , </a:t>
                </a:r>
                <a:r>
                  <a:rPr lang="en-US" altLang="zh-CN" sz="700" i="1">
                    <a:solidFill>
                      <a:schemeClr val="tx1"/>
                    </a:solidFill>
                  </a:rPr>
                  <a:t>H</a:t>
                </a:r>
                <a:r>
                  <a:rPr lang="en-US" altLang="zh-CN" sz="700">
                    <a:solidFill>
                      <a:schemeClr val="tx1"/>
                    </a:solidFill>
                  </a:rPr>
                  <a:t>, </a:t>
                </a:r>
                <a:r>
                  <a:rPr lang="en-US" altLang="zh-CN" sz="700" i="1">
                    <a:solidFill>
                      <a:schemeClr val="tx1"/>
                    </a:solidFill>
                  </a:rPr>
                  <a:t>L</a:t>
                </a:r>
                <a:r>
                  <a:rPr lang="en-US" altLang="zh-CN" sz="700">
                    <a:solidFill>
                      <a:schemeClr val="tx1"/>
                    </a:solidFill>
                  </a:rPr>
                  <a:t>, </a:t>
                </a:r>
                <a:r>
                  <a:rPr lang="en-US" altLang="zh-CN" sz="700" i="1">
                    <a:solidFill>
                      <a:schemeClr val="tx1"/>
                    </a:solidFill>
                  </a:rPr>
                  <a:t>D</a:t>
                </a:r>
                <a:r>
                  <a:rPr lang="en-US" altLang="zh-CN" sz="700">
                    <a:solidFill>
                      <a:schemeClr val="tx1"/>
                    </a:solidFill>
                  </a:rPr>
                  <a:t>, </a:t>
                </a:r>
                <a:r>
                  <a:rPr lang="en-US" altLang="zh-CN" sz="700" i="1">
                    <a:solidFill>
                      <a:schemeClr val="tx1"/>
                    </a:solidFill>
                  </a:rPr>
                  <a:t>J</a:t>
                </a:r>
                <a:r>
                  <a:rPr lang="en-US" altLang="zh-CN" sz="700">
                    <a:solidFill>
                      <a:schemeClr val="tx1"/>
                    </a:solidFill>
                  </a:rPr>
                  <a:t> ,</a:t>
                </a:r>
                <a:r>
                  <a:rPr lang="en-US" altLang="zh-CN" sz="700" i="1">
                    <a:solidFill>
                      <a:schemeClr val="tx1"/>
                    </a:solidFill>
                  </a:rPr>
                  <a:t>V</a:t>
                </a:r>
                <a:r>
                  <a:rPr lang="en-US" altLang="zh-CN" sz="700" baseline="-25000">
                    <a:solidFill>
                      <a:schemeClr val="tx1"/>
                    </a:solidFill>
                  </a:rPr>
                  <a:t>landslide</a:t>
                </a:r>
              </a:p>
            </p:txBody>
          </p:sp>
          <p:sp>
            <p:nvSpPr>
              <p:cNvPr id="125" name="矩形 124"/>
              <p:cNvSpPr/>
              <p:nvPr/>
            </p:nvSpPr>
            <p:spPr>
              <a:xfrm>
                <a:off x="1896" y="4144"/>
                <a:ext cx="1644" cy="197"/>
              </a:xfrm>
              <a:prstGeom prst="rect">
                <a:avLst/>
              </a:prstGeom>
              <a:solidFill>
                <a:srgbClr val="B5D0E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700" i="1">
                    <a:solidFill>
                      <a:schemeClr val="tx1"/>
                    </a:solidFill>
                    <a:sym typeface="+mn-ea"/>
                  </a:rPr>
                  <a:t>A</a:t>
                </a:r>
                <a:r>
                  <a:rPr lang="en-US" altLang="zh-CN" sz="700">
                    <a:solidFill>
                      <a:schemeClr val="tx1"/>
                    </a:solidFill>
                    <a:sym typeface="+mn-ea"/>
                  </a:rPr>
                  <a:t> , </a:t>
                </a:r>
                <a:r>
                  <a:rPr lang="en-US" altLang="zh-CN" sz="700" i="1">
                    <a:solidFill>
                      <a:schemeClr val="tx1"/>
                    </a:solidFill>
                    <a:sym typeface="+mn-ea"/>
                  </a:rPr>
                  <a:t>H</a:t>
                </a:r>
                <a:r>
                  <a:rPr lang="en-US" altLang="zh-CN" sz="700">
                    <a:solidFill>
                      <a:schemeClr val="tx1"/>
                    </a:solidFill>
                    <a:sym typeface="+mn-ea"/>
                  </a:rPr>
                  <a:t>, </a:t>
                </a:r>
                <a:r>
                  <a:rPr lang="en-US" altLang="zh-CN" sz="700" i="1">
                    <a:solidFill>
                      <a:schemeClr val="tx1"/>
                    </a:solidFill>
                    <a:sym typeface="+mn-ea"/>
                  </a:rPr>
                  <a:t>L</a:t>
                </a:r>
                <a:r>
                  <a:rPr lang="en-US" altLang="zh-CN" sz="700">
                    <a:solidFill>
                      <a:schemeClr val="tx1"/>
                    </a:solidFill>
                    <a:sym typeface="+mn-ea"/>
                  </a:rPr>
                  <a:t>, </a:t>
                </a:r>
                <a:r>
                  <a:rPr lang="en-US" altLang="zh-CN" sz="700" i="1">
                    <a:solidFill>
                      <a:schemeClr val="tx1"/>
                    </a:solidFill>
                    <a:sym typeface="+mn-ea"/>
                  </a:rPr>
                  <a:t>D</a:t>
                </a:r>
                <a:r>
                  <a:rPr lang="en-US" altLang="zh-CN" sz="700">
                    <a:solidFill>
                      <a:schemeClr val="tx1"/>
                    </a:solidFill>
                    <a:sym typeface="+mn-ea"/>
                  </a:rPr>
                  <a:t>, </a:t>
                </a:r>
                <a:r>
                  <a:rPr lang="en-US" altLang="zh-CN" sz="700" i="1">
                    <a:solidFill>
                      <a:schemeClr val="tx1"/>
                    </a:solidFill>
                    <a:sym typeface="+mn-ea"/>
                  </a:rPr>
                  <a:t>J</a:t>
                </a:r>
                <a:r>
                  <a:rPr lang="en-US" altLang="zh-CN" sz="700">
                    <a:solidFill>
                      <a:schemeClr val="tx1"/>
                    </a:solidFill>
                    <a:sym typeface="+mn-ea"/>
                  </a:rPr>
                  <a:t> </a:t>
                </a:r>
                <a:endParaRPr lang="en-US" altLang="zh-CN" sz="700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文本框 125"/>
              <p:cNvSpPr txBox="1"/>
              <p:nvPr/>
            </p:nvSpPr>
            <p:spPr>
              <a:xfrm>
                <a:off x="2272" y="3350"/>
                <a:ext cx="1243" cy="31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sz="700"/>
                  <a:t>Set A (6 vars)</a:t>
                </a:r>
              </a:p>
            </p:txBody>
          </p:sp>
          <p:sp>
            <p:nvSpPr>
              <p:cNvPr id="127" name="文本框 126"/>
              <p:cNvSpPr txBox="1"/>
              <p:nvPr/>
            </p:nvSpPr>
            <p:spPr>
              <a:xfrm>
                <a:off x="2250" y="3898"/>
                <a:ext cx="1243" cy="31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sz="700"/>
                  <a:t>Set B (5 vars)</a:t>
                </a:r>
              </a:p>
            </p:txBody>
          </p:sp>
          <p:cxnSp>
            <p:nvCxnSpPr>
              <p:cNvPr id="156" name="肘形连接符 155"/>
              <p:cNvCxnSpPr>
                <a:stCxn id="124" idx="3"/>
                <a:endCxn id="125" idx="3"/>
              </p:cNvCxnSpPr>
              <p:nvPr/>
            </p:nvCxnSpPr>
            <p:spPr>
              <a:xfrm>
                <a:off x="3539" y="3730"/>
                <a:ext cx="1" cy="513"/>
              </a:xfrm>
              <a:prstGeom prst="bentConnector3">
                <a:avLst>
                  <a:gd name="adj1" fmla="val 1160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65" name="文本框 164"/>
              <p:cNvSpPr txBox="1"/>
              <p:nvPr/>
            </p:nvSpPr>
            <p:spPr>
              <a:xfrm>
                <a:off x="3586" y="3698"/>
                <a:ext cx="1070" cy="51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sz="700"/>
                  <a:t>Ablation:</a:t>
                </a:r>
              </a:p>
              <a:p>
                <a:r>
                  <a:rPr lang="zh-CN" altLang="en-US" sz="700"/>
                  <a:t>±</a:t>
                </a:r>
                <a:r>
                  <a:rPr lang="en-US" altLang="zh-CN" sz="700" i="1">
                    <a:sym typeface="+mn-ea"/>
                  </a:rPr>
                  <a:t>V</a:t>
                </a:r>
                <a:r>
                  <a:rPr lang="en-US" altLang="zh-CN" sz="700" baseline="-25000">
                    <a:sym typeface="+mn-ea"/>
                  </a:rPr>
                  <a:t>landslide</a:t>
                </a:r>
              </a:p>
            </p:txBody>
          </p:sp>
          <p:cxnSp>
            <p:nvCxnSpPr>
              <p:cNvPr id="167" name="直接连接符 166"/>
              <p:cNvCxnSpPr/>
              <p:nvPr/>
            </p:nvCxnSpPr>
            <p:spPr>
              <a:xfrm>
                <a:off x="1889" y="3922"/>
                <a:ext cx="164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pic>
          <p:nvPicPr>
            <p:cNvPr id="180" name="图片 179"/>
            <p:cNvPicPr>
              <a:picLocks noChangeAspect="1"/>
            </p:cNvPicPr>
            <p:nvPr/>
          </p:nvPicPr>
          <p:blipFill>
            <a:blip r:embed="rId20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49" y="417"/>
              <a:ext cx="807" cy="796"/>
            </a:xfrm>
            <a:prstGeom prst="rect">
              <a:avLst/>
            </a:prstGeom>
          </p:spPr>
        </p:pic>
        <p:pic>
          <p:nvPicPr>
            <p:cNvPr id="181" name="图片 180"/>
            <p:cNvPicPr>
              <a:picLocks noChangeAspect="1"/>
            </p:cNvPicPr>
            <p:nvPr/>
          </p:nvPicPr>
          <p:blipFill>
            <a:blip r:embed="rId2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b="22760"/>
            <a:stretch>
              <a:fillRect/>
            </a:stretch>
          </p:blipFill>
          <p:spPr>
            <a:xfrm>
              <a:off x="1826" y="528"/>
              <a:ext cx="2680" cy="638"/>
            </a:xfrm>
            <a:prstGeom prst="rect">
              <a:avLst/>
            </a:prstGeom>
          </p:spPr>
        </p:pic>
        <p:sp>
          <p:nvSpPr>
            <p:cNvPr id="184" name="文本框 183"/>
            <p:cNvSpPr txBox="1"/>
            <p:nvPr/>
          </p:nvSpPr>
          <p:spPr>
            <a:xfrm>
              <a:off x="1826" y="1166"/>
              <a:ext cx="1026" cy="2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sz="700" i="1"/>
                <a:t>V</a:t>
              </a:r>
              <a:r>
                <a:rPr lang="en-US" sz="700" baseline="-25000"/>
                <a:t>0</a:t>
              </a:r>
              <a:r>
                <a:rPr lang="en-US" sz="700"/>
                <a:t> (</a:t>
              </a:r>
              <a:r>
                <a:rPr lang="zh-CN" altLang="en-US" sz="700"/>
                <a:t>×</a:t>
              </a:r>
              <a:r>
                <a:rPr lang="en-US" altLang="zh-CN" sz="700"/>
                <a:t>10</a:t>
              </a:r>
              <a:r>
                <a:rPr lang="en-US" altLang="zh-CN" sz="700" baseline="30000"/>
                <a:t>4</a:t>
              </a:r>
              <a:r>
                <a:rPr lang="en-US" altLang="zh-CN" sz="700"/>
                <a:t>m</a:t>
              </a:r>
              <a:r>
                <a:rPr lang="en-US" altLang="zh-CN" sz="700" baseline="30000"/>
                <a:t>3</a:t>
              </a:r>
              <a:r>
                <a:rPr lang="en-US" sz="700"/>
                <a:t>)</a:t>
              </a:r>
            </a:p>
          </p:txBody>
        </p:sp>
        <p:sp>
          <p:nvSpPr>
            <p:cNvPr id="189" name="文本框 188"/>
            <p:cNvSpPr txBox="1"/>
            <p:nvPr/>
          </p:nvSpPr>
          <p:spPr>
            <a:xfrm>
              <a:off x="3405" y="1166"/>
              <a:ext cx="779" cy="2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sz="700"/>
                <a:t>log</a:t>
              </a:r>
              <a:r>
                <a:rPr lang="en-US" sz="700" baseline="-25000"/>
                <a:t>10</a:t>
              </a:r>
              <a:r>
                <a:rPr lang="en-US" sz="700" i="1"/>
                <a:t>(V</a:t>
              </a:r>
              <a:r>
                <a:rPr lang="en-US" sz="700" baseline="-25000"/>
                <a:t>0</a:t>
              </a:r>
              <a:r>
                <a:rPr lang="en-US" sz="700"/>
                <a:t>)</a:t>
              </a:r>
            </a:p>
          </p:txBody>
        </p:sp>
        <p:sp>
          <p:nvSpPr>
            <p:cNvPr id="201" name="圆角矩形 200"/>
            <p:cNvSpPr/>
            <p:nvPr/>
          </p:nvSpPr>
          <p:spPr>
            <a:xfrm>
              <a:off x="34" y="1795"/>
              <a:ext cx="6750" cy="220"/>
            </a:xfrm>
            <a:prstGeom prst="roundRect">
              <a:avLst>
                <a:gd name="adj" fmla="val 46363"/>
              </a:avLst>
            </a:prstGeom>
            <a:solidFill>
              <a:srgbClr val="BDD5A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zh-CN" sz="900" b="1">
                  <a:solidFill>
                    <a:schemeClr val="tx1"/>
                  </a:solidFill>
                  <a:sym typeface="+mn-ea"/>
                </a:rPr>
                <a:t>Stage 2: </a:t>
              </a:r>
              <a:r>
                <a:rPr lang="en-US" altLang="zh-CN" sz="900" b="1">
                  <a:solidFill>
                    <a:schemeClr val="tx1"/>
                  </a:solidFill>
                </a:rPr>
                <a:t>Model configuration and inference mode</a:t>
              </a:r>
            </a:p>
          </p:txBody>
        </p:sp>
        <p:sp>
          <p:nvSpPr>
            <p:cNvPr id="244" name="圆角矩形 243"/>
            <p:cNvSpPr/>
            <p:nvPr/>
          </p:nvSpPr>
          <p:spPr>
            <a:xfrm>
              <a:off x="24" y="4596"/>
              <a:ext cx="6727" cy="1362"/>
            </a:xfrm>
            <a:prstGeom prst="roundRect">
              <a:avLst>
                <a:gd name="adj" fmla="val 564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5" name="圆角矩形 244"/>
            <p:cNvSpPr/>
            <p:nvPr/>
          </p:nvSpPr>
          <p:spPr>
            <a:xfrm>
              <a:off x="24" y="4596"/>
              <a:ext cx="6729" cy="220"/>
            </a:xfrm>
            <a:prstGeom prst="roundRect">
              <a:avLst>
                <a:gd name="adj" fmla="val 46363"/>
              </a:avLst>
            </a:prstGeom>
            <a:solidFill>
              <a:srgbClr val="97D7D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zh-CN" sz="900" b="1">
                  <a:solidFill>
                    <a:schemeClr val="tx1"/>
                  </a:solidFill>
                  <a:sym typeface="+mn-ea"/>
                </a:rPr>
                <a:t>Stage 3: </a:t>
              </a:r>
              <a:r>
                <a:rPr lang="en-US" altLang="zh-CN" sz="900" b="1">
                  <a:solidFill>
                    <a:schemeClr val="tx1"/>
                  </a:solidFill>
                </a:rPr>
                <a:t>Repeated nested cross-validation and statistical inference</a:t>
              </a:r>
            </a:p>
          </p:txBody>
        </p:sp>
        <p:sp>
          <p:nvSpPr>
            <p:cNvPr id="246" name="圆角矩形 245"/>
            <p:cNvSpPr/>
            <p:nvPr/>
          </p:nvSpPr>
          <p:spPr>
            <a:xfrm>
              <a:off x="37" y="6122"/>
              <a:ext cx="6725" cy="1403"/>
            </a:xfrm>
            <a:prstGeom prst="roundRect">
              <a:avLst>
                <a:gd name="adj" fmla="val 564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圆角矩形 246"/>
            <p:cNvSpPr/>
            <p:nvPr/>
          </p:nvSpPr>
          <p:spPr>
            <a:xfrm>
              <a:off x="24" y="6122"/>
              <a:ext cx="6728" cy="220"/>
            </a:xfrm>
            <a:prstGeom prst="roundRect">
              <a:avLst>
                <a:gd name="adj" fmla="val 46363"/>
              </a:avLst>
            </a:prstGeom>
            <a:solidFill>
              <a:srgbClr val="BED5E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zh-CN" sz="900" b="1">
                  <a:solidFill>
                    <a:schemeClr val="tx1"/>
                  </a:solidFill>
                  <a:sym typeface="+mn-ea"/>
                </a:rPr>
                <a:t>Stage 4: </a:t>
              </a:r>
              <a:r>
                <a:rPr lang="en-US" altLang="zh-CN" sz="900" b="1">
                  <a:solidFill>
                    <a:schemeClr val="tx1"/>
                  </a:solidFill>
                </a:rPr>
                <a:t>Feature ablation and sample efficiency analysis</a:t>
              </a:r>
            </a:p>
          </p:txBody>
        </p:sp>
        <p:sp>
          <p:nvSpPr>
            <p:cNvPr id="248" name="圆角矩形 247"/>
            <p:cNvSpPr/>
            <p:nvPr/>
          </p:nvSpPr>
          <p:spPr>
            <a:xfrm>
              <a:off x="34" y="7689"/>
              <a:ext cx="6717" cy="1381"/>
            </a:xfrm>
            <a:prstGeom prst="roundRect">
              <a:avLst>
                <a:gd name="adj" fmla="val 564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9" name="圆角矩形 248"/>
            <p:cNvSpPr/>
            <p:nvPr/>
          </p:nvSpPr>
          <p:spPr>
            <a:xfrm>
              <a:off x="33" y="7689"/>
              <a:ext cx="6718" cy="220"/>
            </a:xfrm>
            <a:prstGeom prst="roundRect">
              <a:avLst>
                <a:gd name="adj" fmla="val 46363"/>
              </a:avLst>
            </a:prstGeom>
            <a:solidFill>
              <a:srgbClr val="D4A7C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zh-CN" sz="900" b="1">
                  <a:solidFill>
                    <a:schemeClr val="tx1"/>
                  </a:solidFill>
                  <a:sym typeface="+mn-ea"/>
                </a:rPr>
                <a:t>Stage 5: </a:t>
              </a:r>
              <a:r>
                <a:rPr lang="en-US" altLang="zh-CN" sz="900" b="1">
                  <a:solidFill>
                    <a:schemeClr val="tx1"/>
                  </a:solidFill>
                </a:rPr>
                <a:t>Uncertainty quantification, interpretability, and external validation</a:t>
              </a:r>
            </a:p>
          </p:txBody>
        </p:sp>
        <p:sp>
          <p:nvSpPr>
            <p:cNvPr id="250" name="下箭头 249"/>
            <p:cNvSpPr/>
            <p:nvPr>
              <p:custDataLst>
                <p:tags r:id="rId2"/>
              </p:custDataLst>
            </p:nvPr>
          </p:nvSpPr>
          <p:spPr>
            <a:xfrm flipH="1">
              <a:off x="3172" y="1637"/>
              <a:ext cx="233" cy="164"/>
            </a:xfrm>
            <a:prstGeom prst="downArrow">
              <a:avLst/>
            </a:prstGeom>
            <a:solidFill>
              <a:srgbClr val="6C6D6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1" name="文本框 250"/>
            <p:cNvSpPr txBox="1"/>
            <p:nvPr/>
          </p:nvSpPr>
          <p:spPr>
            <a:xfrm>
              <a:off x="416" y="2010"/>
              <a:ext cx="2852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800" b="1">
                  <a:sym typeface="+mn-ea"/>
                </a:rPr>
                <a:t>①</a:t>
              </a:r>
              <a:r>
                <a:rPr lang="en-US" altLang="zh-CN" sz="800" b="1">
                  <a:sym typeface="+mn-ea"/>
                </a:rPr>
                <a:t> </a:t>
              </a:r>
              <a:r>
                <a:rPr lang="en-US" sz="800" b="1"/>
                <a:t>Pre-trained </a:t>
              </a:r>
              <a:r>
                <a:rPr lang="en-US" altLang="zh-CN" sz="800" b="1"/>
                <a:t>foundation</a:t>
              </a:r>
              <a:r>
                <a:rPr lang="en-US" sz="800" b="1"/>
                <a:t> model</a:t>
              </a:r>
            </a:p>
          </p:txBody>
        </p:sp>
        <p:grpSp>
          <p:nvGrpSpPr>
            <p:cNvPr id="267" name="组合 266"/>
            <p:cNvGrpSpPr/>
            <p:nvPr/>
          </p:nvGrpSpPr>
          <p:grpSpPr>
            <a:xfrm>
              <a:off x="85" y="2318"/>
              <a:ext cx="3576" cy="1286"/>
              <a:chOff x="625" y="4186"/>
              <a:chExt cx="3576" cy="1286"/>
            </a:xfrm>
          </p:grpSpPr>
          <p:sp>
            <p:nvSpPr>
              <p:cNvPr id="252" name="圆角矩形 251"/>
              <p:cNvSpPr/>
              <p:nvPr/>
            </p:nvSpPr>
            <p:spPr>
              <a:xfrm>
                <a:off x="625" y="4327"/>
                <a:ext cx="3223" cy="1145"/>
              </a:xfrm>
              <a:prstGeom prst="roundRect">
                <a:avLst>
                  <a:gd name="adj" fmla="val 5646"/>
                </a:avLst>
              </a:prstGeom>
              <a:solidFill>
                <a:srgbClr val="E7EED8"/>
              </a:solidFill>
              <a:ln>
                <a:solidFill>
                  <a:srgbClr val="445E35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53" name="图片 252" descr="文件程序算法"/>
              <p:cNvPicPr>
                <a:picLocks noChangeAspect="1"/>
              </p:cNvPicPr>
              <p:nvPr>
                <p:custDataLst>
                  <p:tags r:id="rId14"/>
                </p:custDataLst>
              </p:nvPr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676" y="4432"/>
                <a:ext cx="955" cy="955"/>
              </a:xfrm>
              <a:prstGeom prst="rect">
                <a:avLst/>
              </a:prstGeom>
            </p:spPr>
          </p:pic>
          <p:sp>
            <p:nvSpPr>
              <p:cNvPr id="254" name="文本框 253"/>
              <p:cNvSpPr txBox="1"/>
              <p:nvPr/>
            </p:nvSpPr>
            <p:spPr>
              <a:xfrm>
                <a:off x="1761" y="4489"/>
                <a:ext cx="1790" cy="1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800"/>
                  <a:t>In-context inference</a:t>
                </a:r>
              </a:p>
            </p:txBody>
          </p:sp>
          <p:pic>
            <p:nvPicPr>
              <p:cNvPr id="255" name="图片 254" descr="灯泡"/>
              <p:cNvPicPr>
                <a:picLocks noChangeAspect="1"/>
              </p:cNvPicPr>
              <p:nvPr>
                <p:custDataLst>
                  <p:tags r:id="rId15"/>
                </p:custDataLst>
              </p:nvPr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1674" y="4538"/>
                <a:ext cx="219" cy="219"/>
              </a:xfrm>
              <a:prstGeom prst="rect">
                <a:avLst/>
              </a:prstGeom>
            </p:spPr>
          </p:pic>
          <p:sp>
            <p:nvSpPr>
              <p:cNvPr id="256" name="文本框 255"/>
              <p:cNvSpPr txBox="1"/>
              <p:nvPr/>
            </p:nvSpPr>
            <p:spPr>
              <a:xfrm>
                <a:off x="1761" y="4810"/>
                <a:ext cx="2440" cy="1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800"/>
                  <a:t>No hyperparameter tuning</a:t>
                </a:r>
              </a:p>
            </p:txBody>
          </p:sp>
          <p:sp>
            <p:nvSpPr>
              <p:cNvPr id="259" name="文本框 258"/>
              <p:cNvSpPr txBox="1"/>
              <p:nvPr/>
            </p:nvSpPr>
            <p:spPr>
              <a:xfrm>
                <a:off x="1761" y="5132"/>
                <a:ext cx="2184" cy="1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800"/>
                  <a:t>Prediction + Distribution</a:t>
                </a:r>
              </a:p>
            </p:txBody>
          </p:sp>
          <p:pic>
            <p:nvPicPr>
              <p:cNvPr id="262" name="图片 261" descr="正态分布"/>
              <p:cNvPicPr>
                <a:picLocks noChangeAspect="1"/>
              </p:cNvPicPr>
              <p:nvPr>
                <p:custDataLst>
                  <p:tags r:id="rId16"/>
                </p:custDataLst>
              </p:nvPr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1695" y="5211"/>
                <a:ext cx="176" cy="176"/>
              </a:xfrm>
              <a:prstGeom prst="rect">
                <a:avLst/>
              </a:prstGeom>
            </p:spPr>
          </p:pic>
          <p:pic>
            <p:nvPicPr>
              <p:cNvPr id="263" name="图片 262" descr="禁止"/>
              <p:cNvPicPr>
                <a:picLocks noChangeAspect="1"/>
              </p:cNvPicPr>
              <p:nvPr>
                <p:custDataLst>
                  <p:tags r:id="rId17"/>
                </p:custDataLst>
              </p:nvPr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1695" y="4899"/>
                <a:ext cx="176" cy="176"/>
              </a:xfrm>
              <a:prstGeom prst="rect">
                <a:avLst/>
              </a:prstGeom>
            </p:spPr>
          </p:pic>
          <p:sp>
            <p:nvSpPr>
              <p:cNvPr id="265" name="圆角矩形 264"/>
              <p:cNvSpPr/>
              <p:nvPr/>
            </p:nvSpPr>
            <p:spPr>
              <a:xfrm>
                <a:off x="1695" y="4186"/>
                <a:ext cx="1288" cy="285"/>
              </a:xfrm>
              <a:prstGeom prst="roundRect">
                <a:avLst>
                  <a:gd name="adj" fmla="val 11748"/>
                </a:avLst>
              </a:prstGeom>
              <a:solidFill>
                <a:srgbClr val="3A693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/>
                  <a:t>TabPFN-2.5</a:t>
                </a:r>
              </a:p>
            </p:txBody>
          </p:sp>
        </p:grpSp>
        <p:sp>
          <p:nvSpPr>
            <p:cNvPr id="319" name="圆角矩形 318"/>
            <p:cNvSpPr/>
            <p:nvPr/>
          </p:nvSpPr>
          <p:spPr>
            <a:xfrm>
              <a:off x="3510" y="2320"/>
              <a:ext cx="3252" cy="1674"/>
            </a:xfrm>
            <a:prstGeom prst="roundRect">
              <a:avLst>
                <a:gd name="adj" fmla="val 5646"/>
              </a:avLst>
            </a:prstGeom>
            <a:solidFill>
              <a:srgbClr val="E7EED8"/>
            </a:solidFill>
            <a:ln>
              <a:solidFill>
                <a:srgbClr val="445E35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68" name="图片 267" descr="尺子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3599" y="2450"/>
              <a:ext cx="433" cy="433"/>
            </a:xfrm>
            <a:prstGeom prst="rect">
              <a:avLst/>
            </a:prstGeom>
          </p:spPr>
        </p:pic>
        <p:pic>
          <p:nvPicPr>
            <p:cNvPr id="269" name="图片 268" descr="大脑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6136" y="2450"/>
              <a:ext cx="440" cy="440"/>
            </a:xfrm>
            <a:prstGeom prst="rect">
              <a:avLst/>
            </a:prstGeom>
          </p:spPr>
        </p:pic>
        <p:pic>
          <p:nvPicPr>
            <p:cNvPr id="270" name="图片 269" descr="浮尘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4650" y="2450"/>
              <a:ext cx="445" cy="445"/>
            </a:xfrm>
            <a:prstGeom prst="rect">
              <a:avLst/>
            </a:prstGeom>
          </p:spPr>
        </p:pic>
        <p:pic>
          <p:nvPicPr>
            <p:cNvPr id="271" name="图片 270" descr="神经网络2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5360" y="2450"/>
              <a:ext cx="446" cy="446"/>
            </a:xfrm>
            <a:prstGeom prst="rect">
              <a:avLst/>
            </a:prstGeom>
          </p:spPr>
        </p:pic>
        <p:sp>
          <p:nvSpPr>
            <p:cNvPr id="272" name="文本框 271"/>
            <p:cNvSpPr txBox="1"/>
            <p:nvPr/>
          </p:nvSpPr>
          <p:spPr>
            <a:xfrm>
              <a:off x="3449" y="2848"/>
              <a:ext cx="3568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700" b="1"/>
                <a:t>Linear  Kernel  Neighbor  Ensemble Neural net</a:t>
              </a:r>
            </a:p>
          </p:txBody>
        </p:sp>
        <p:sp>
          <p:nvSpPr>
            <p:cNvPr id="273" name="文本框 272"/>
            <p:cNvSpPr txBox="1"/>
            <p:nvPr/>
          </p:nvSpPr>
          <p:spPr>
            <a:xfrm>
              <a:off x="3449" y="3027"/>
              <a:ext cx="1306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700"/>
                <a:t>Ridge</a:t>
              </a:r>
            </a:p>
            <a:p>
              <a:r>
                <a:rPr lang="en-US" altLang="zh-CN" sz="700"/>
                <a:t>Lasso</a:t>
              </a:r>
            </a:p>
            <a:p>
              <a:r>
                <a:rPr lang="en-US" altLang="zh-CN" sz="700"/>
                <a:t>Elastic Net</a:t>
              </a:r>
            </a:p>
          </p:txBody>
        </p:sp>
        <p:sp>
          <p:nvSpPr>
            <p:cNvPr id="275" name="文本框 274"/>
            <p:cNvSpPr txBox="1"/>
            <p:nvPr/>
          </p:nvSpPr>
          <p:spPr>
            <a:xfrm>
              <a:off x="3874" y="3047"/>
              <a:ext cx="668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700"/>
                <a:t>  SVR</a:t>
              </a:r>
            </a:p>
          </p:txBody>
        </p:sp>
        <p:sp>
          <p:nvSpPr>
            <p:cNvPr id="276" name="文本框 275"/>
            <p:cNvSpPr txBox="1"/>
            <p:nvPr/>
          </p:nvSpPr>
          <p:spPr>
            <a:xfrm>
              <a:off x="4398" y="3045"/>
              <a:ext cx="1306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700"/>
                <a:t>  KNN</a:t>
              </a:r>
            </a:p>
          </p:txBody>
        </p:sp>
        <p:sp>
          <p:nvSpPr>
            <p:cNvPr id="277" name="文本框 276"/>
            <p:cNvSpPr txBox="1"/>
            <p:nvPr/>
          </p:nvSpPr>
          <p:spPr>
            <a:xfrm>
              <a:off x="5160" y="3047"/>
              <a:ext cx="1928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700"/>
                <a:t>RF</a:t>
              </a:r>
            </a:p>
            <a:p>
              <a:r>
                <a:rPr lang="en-US" altLang="zh-CN" sz="700"/>
                <a:t>Gradient Boosting      Regressor</a:t>
              </a:r>
            </a:p>
            <a:p>
              <a:r>
                <a:rPr lang="en-US" altLang="zh-CN" sz="700"/>
                <a:t>XGBoost</a:t>
              </a:r>
            </a:p>
            <a:p>
              <a:r>
                <a:rPr lang="en-US" altLang="zh-CN" sz="700"/>
                <a:t>AdaBoost</a:t>
              </a:r>
            </a:p>
          </p:txBody>
        </p:sp>
        <p:sp>
          <p:nvSpPr>
            <p:cNvPr id="296" name="文本框 295"/>
            <p:cNvSpPr txBox="1"/>
            <p:nvPr/>
          </p:nvSpPr>
          <p:spPr>
            <a:xfrm>
              <a:off x="5831" y="3045"/>
              <a:ext cx="1905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700"/>
                <a:t> MLP</a:t>
              </a:r>
            </a:p>
          </p:txBody>
        </p:sp>
        <p:pic>
          <p:nvPicPr>
            <p:cNvPr id="308" name="图片 307"/>
            <p:cNvPicPr>
              <a:picLocks noChangeAspect="1"/>
            </p:cNvPicPr>
            <p:nvPr/>
          </p:nvPicPr>
          <p:blipFill>
            <a:blip r:embed="rId30">
              <a:clrChange>
                <a:clrFrom>
                  <a:srgbClr val="D8E8EC">
                    <a:alpha val="100000"/>
                  </a:srgbClr>
                </a:clrFrom>
                <a:clrTo>
                  <a:srgbClr val="D8E8EC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004" y="2450"/>
              <a:ext cx="646" cy="433"/>
            </a:xfrm>
            <a:prstGeom prst="rect">
              <a:avLst/>
            </a:prstGeom>
          </p:spPr>
        </p:pic>
        <p:sp>
          <p:nvSpPr>
            <p:cNvPr id="320" name="圆角矩形 319"/>
            <p:cNvSpPr/>
            <p:nvPr/>
          </p:nvSpPr>
          <p:spPr>
            <a:xfrm>
              <a:off x="4021" y="2121"/>
              <a:ext cx="2294" cy="285"/>
            </a:xfrm>
            <a:prstGeom prst="roundRect">
              <a:avLst>
                <a:gd name="adj" fmla="val 11748"/>
              </a:avLst>
            </a:prstGeom>
            <a:solidFill>
              <a:srgbClr val="3A693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/>
                <a:t>Baseline models (</a:t>
              </a:r>
              <a:r>
                <a:rPr lang="zh-CN" altLang="en-US" sz="900"/>
                <a:t>×</a:t>
              </a:r>
              <a:r>
                <a:rPr lang="en-US" altLang="zh-CN" sz="900"/>
                <a:t>10)</a:t>
              </a:r>
            </a:p>
          </p:txBody>
        </p:sp>
        <p:sp>
          <p:nvSpPr>
            <p:cNvPr id="323" name="文本框 322"/>
            <p:cNvSpPr txBox="1"/>
            <p:nvPr/>
          </p:nvSpPr>
          <p:spPr>
            <a:xfrm>
              <a:off x="243" y="3934"/>
              <a:ext cx="1790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800"/>
                <a:t>No tuning needed</a:t>
              </a:r>
            </a:p>
          </p:txBody>
        </p:sp>
        <p:sp>
          <p:nvSpPr>
            <p:cNvPr id="324" name="文本框 323"/>
            <p:cNvSpPr txBox="1"/>
            <p:nvPr/>
          </p:nvSpPr>
          <p:spPr>
            <a:xfrm>
              <a:off x="2077" y="3934"/>
              <a:ext cx="5117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800" b="1">
                  <a:sym typeface="+mn-ea"/>
                </a:rPr>
                <a:t>Bayesian optimization</a:t>
              </a:r>
              <a:r>
                <a:rPr lang="en-US" altLang="zh-CN" sz="800">
                  <a:sym typeface="+mn-ea"/>
                </a:rPr>
                <a:t> (Optuna TPE, 30 trials, inner 3-fold CV)</a:t>
              </a:r>
              <a:endParaRPr lang="en-US" altLang="zh-CN" sz="800"/>
            </a:p>
          </p:txBody>
        </p:sp>
        <p:sp>
          <p:nvSpPr>
            <p:cNvPr id="325" name="文本框 324"/>
            <p:cNvSpPr txBox="1"/>
            <p:nvPr/>
          </p:nvSpPr>
          <p:spPr>
            <a:xfrm>
              <a:off x="2130" y="4186"/>
              <a:ext cx="5117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800">
                  <a:sym typeface="+mn-ea"/>
                </a:rPr>
                <a:t> Unified outer-fold evaluation</a:t>
              </a:r>
              <a:endParaRPr lang="en-US" altLang="zh-CN" sz="800"/>
            </a:p>
          </p:txBody>
        </p:sp>
        <p:sp>
          <p:nvSpPr>
            <p:cNvPr id="336" name="文本框 335"/>
            <p:cNvSpPr txBox="1"/>
            <p:nvPr/>
          </p:nvSpPr>
          <p:spPr>
            <a:xfrm>
              <a:off x="4850" y="4159"/>
              <a:ext cx="2166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800" b="1">
                  <a:sym typeface="+mn-ea"/>
                </a:rPr>
                <a:t>Hyperparameter search</a:t>
              </a:r>
              <a:endParaRPr lang="en-US" altLang="zh-CN" sz="800" b="1"/>
            </a:p>
          </p:txBody>
        </p:sp>
        <p:sp>
          <p:nvSpPr>
            <p:cNvPr id="342" name="下箭头 341"/>
            <p:cNvSpPr/>
            <p:nvPr>
              <p:custDataLst>
                <p:tags r:id="rId7"/>
              </p:custDataLst>
            </p:nvPr>
          </p:nvSpPr>
          <p:spPr>
            <a:xfrm flipH="1">
              <a:off x="3231" y="4443"/>
              <a:ext cx="233" cy="164"/>
            </a:xfrm>
            <a:prstGeom prst="downArrow">
              <a:avLst/>
            </a:prstGeom>
            <a:solidFill>
              <a:srgbClr val="6C6D6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357" name="直接箭头连接符 356"/>
            <p:cNvCxnSpPr/>
            <p:nvPr/>
          </p:nvCxnSpPr>
          <p:spPr>
            <a:xfrm>
              <a:off x="1697" y="3604"/>
              <a:ext cx="0" cy="100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58" name="直接箭头连接符 357"/>
            <p:cNvCxnSpPr/>
            <p:nvPr/>
          </p:nvCxnSpPr>
          <p:spPr>
            <a:xfrm>
              <a:off x="1687" y="4356"/>
              <a:ext cx="593" cy="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60" name="肘形连接符 359"/>
            <p:cNvCxnSpPr/>
            <p:nvPr/>
          </p:nvCxnSpPr>
          <p:spPr>
            <a:xfrm rot="10800000" flipV="1">
              <a:off x="4341" y="4196"/>
              <a:ext cx="587" cy="173"/>
            </a:xfrm>
            <a:prstGeom prst="bentConnector3">
              <a:avLst>
                <a:gd name="adj1" fmla="val 511"/>
              </a:avLst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61" name="图片 360" descr="齿轮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711" y="3794"/>
              <a:ext cx="501" cy="501"/>
            </a:xfrm>
            <a:prstGeom prst="rect">
              <a:avLst/>
            </a:prstGeom>
          </p:spPr>
        </p:pic>
        <p:sp>
          <p:nvSpPr>
            <p:cNvPr id="417" name="文本框 416"/>
            <p:cNvSpPr txBox="1"/>
            <p:nvPr/>
          </p:nvSpPr>
          <p:spPr>
            <a:xfrm>
              <a:off x="4138" y="4776"/>
              <a:ext cx="2117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800" b="1">
                  <a:sym typeface="+mn-ea"/>
                </a:rPr>
                <a:t>②</a:t>
              </a:r>
              <a:r>
                <a:rPr lang="en-US" altLang="zh-CN" sz="800" b="1">
                  <a:sym typeface="+mn-ea"/>
                </a:rPr>
                <a:t> </a:t>
              </a:r>
              <a:r>
                <a:rPr lang="en-US" altLang="zh-CN" sz="800" b="1"/>
                <a:t>Statistical inference</a:t>
              </a:r>
            </a:p>
          </p:txBody>
        </p:sp>
        <p:grpSp>
          <p:nvGrpSpPr>
            <p:cNvPr id="426" name="组合 425"/>
            <p:cNvGrpSpPr/>
            <p:nvPr/>
          </p:nvGrpSpPr>
          <p:grpSpPr>
            <a:xfrm>
              <a:off x="3551" y="4898"/>
              <a:ext cx="4149" cy="949"/>
              <a:chOff x="1230" y="6190"/>
              <a:chExt cx="4149" cy="949"/>
            </a:xfrm>
          </p:grpSpPr>
          <p:grpSp>
            <p:nvGrpSpPr>
              <p:cNvPr id="425" name="组合 424"/>
              <p:cNvGrpSpPr/>
              <p:nvPr/>
            </p:nvGrpSpPr>
            <p:grpSpPr>
              <a:xfrm>
                <a:off x="1230" y="6190"/>
                <a:ext cx="3276" cy="866"/>
                <a:chOff x="1230" y="6190"/>
                <a:chExt cx="3276" cy="866"/>
              </a:xfrm>
            </p:grpSpPr>
            <p:sp>
              <p:nvSpPr>
                <p:cNvPr id="418" name="文本框 417"/>
                <p:cNvSpPr txBox="1"/>
                <p:nvPr/>
              </p:nvSpPr>
              <p:spPr>
                <a:xfrm>
                  <a:off x="1874" y="6356"/>
                  <a:ext cx="2632" cy="1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700"/>
                    <a:t>R</a:t>
                  </a:r>
                  <a:r>
                    <a:rPr lang="en-US" altLang="en-US" sz="700"/>
                    <a:t>²</a:t>
                  </a:r>
                  <a:r>
                    <a:rPr lang="en-US" altLang="zh-CN" sz="700"/>
                    <a:t>, RMSE, MAE</a:t>
                  </a:r>
                </a:p>
                <a:p>
                  <a:r>
                    <a:rPr lang="en-US" altLang="zh-CN" sz="700"/>
                    <a:t>Paired Wilcoxon signed-rank</a:t>
                  </a:r>
                </a:p>
                <a:p>
                  <a:r>
                    <a:rPr lang="en-US" altLang="zh-CN" sz="700"/>
                    <a:t>Holm–Bonferroni correction</a:t>
                  </a:r>
                </a:p>
              </p:txBody>
            </p:sp>
            <p:sp>
              <p:nvSpPr>
                <p:cNvPr id="419" name="左大括号 418"/>
                <p:cNvSpPr/>
                <p:nvPr/>
              </p:nvSpPr>
              <p:spPr>
                <a:xfrm>
                  <a:off x="1649" y="6455"/>
                  <a:ext cx="119" cy="467"/>
                </a:xfrm>
                <a:prstGeom prst="leftBrac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20" name="文本框 419"/>
                <p:cNvSpPr txBox="1"/>
                <p:nvPr/>
              </p:nvSpPr>
              <p:spPr>
                <a:xfrm rot="10800000">
                  <a:off x="1230" y="6190"/>
                  <a:ext cx="509" cy="866"/>
                </a:xfrm>
                <a:prstGeom prst="rect">
                  <a:avLst/>
                </a:prstGeom>
                <a:noFill/>
              </p:spPr>
              <p:txBody>
                <a:bodyPr vert="eaVert" wrap="square" rtlCol="0">
                  <a:spAutoFit/>
                </a:bodyPr>
                <a:lstStyle/>
                <a:p>
                  <a:r>
                    <a:rPr lang="en-US" altLang="zh-CN" sz="900"/>
                    <a:t>Metrics</a:t>
                  </a:r>
                </a:p>
              </p:txBody>
            </p:sp>
            <p:pic>
              <p:nvPicPr>
                <p:cNvPr id="421" name="图片 420" descr="统计表"/>
                <p:cNvPicPr>
                  <a:picLocks noChangeAspect="1"/>
                </p:cNvPicPr>
                <p:nvPr>
                  <p:custDataLst>
                    <p:tags r:id="rId11"/>
                  </p:custDataLst>
                </p:nvPr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28" y="6615"/>
                  <a:ext cx="147" cy="147"/>
                </a:xfrm>
                <a:prstGeom prst="rect">
                  <a:avLst/>
                </a:prstGeom>
              </p:spPr>
            </p:pic>
            <p:pic>
              <p:nvPicPr>
                <p:cNvPr id="422" name="图片 421" descr="勋章"/>
                <p:cNvPicPr>
                  <a:picLocks noChangeAspect="1"/>
                </p:cNvPicPr>
                <p:nvPr>
                  <p:custDataLst>
                    <p:tags r:id="rId12"/>
                  </p:custDataLst>
                </p:nvPr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17" y="6441"/>
                  <a:ext cx="147" cy="147"/>
                </a:xfrm>
                <a:prstGeom prst="rect">
                  <a:avLst/>
                </a:prstGeom>
              </p:spPr>
            </p:pic>
            <p:pic>
              <p:nvPicPr>
                <p:cNvPr id="423" name="图片 422" descr="盾牌"/>
                <p:cNvPicPr>
                  <a:picLocks noChangeAspect="1"/>
                </p:cNvPicPr>
                <p:nvPr>
                  <p:custDataLst>
                    <p:tags r:id="rId13"/>
                  </p:custDataLst>
                </p:nvPr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28" y="6786"/>
                  <a:ext cx="156" cy="156"/>
                </a:xfrm>
                <a:prstGeom prst="rect">
                  <a:avLst/>
                </a:prstGeom>
              </p:spPr>
            </p:pic>
          </p:grpSp>
          <p:sp>
            <p:nvSpPr>
              <p:cNvPr id="424" name="文本框 423"/>
              <p:cNvSpPr txBox="1"/>
              <p:nvPr/>
            </p:nvSpPr>
            <p:spPr>
              <a:xfrm>
                <a:off x="1269" y="6942"/>
                <a:ext cx="4110" cy="1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700"/>
                  <a:t>Observation unit: repeat-level mean R</a:t>
                </a:r>
                <a:r>
                  <a:rPr lang="en-US" altLang="en-US" sz="700"/>
                  <a:t>²</a:t>
                </a:r>
                <a:r>
                  <a:rPr lang="en-US" altLang="zh-CN" sz="700"/>
                  <a:t> (n = 10)</a:t>
                </a:r>
              </a:p>
            </p:txBody>
          </p:sp>
        </p:grpSp>
        <p:sp>
          <p:nvSpPr>
            <p:cNvPr id="427" name="下箭头 426"/>
            <p:cNvSpPr/>
            <p:nvPr>
              <p:custDataLst>
                <p:tags r:id="rId9"/>
              </p:custDataLst>
            </p:nvPr>
          </p:nvSpPr>
          <p:spPr>
            <a:xfrm flipH="1">
              <a:off x="3231" y="5958"/>
              <a:ext cx="233" cy="164"/>
            </a:xfrm>
            <a:prstGeom prst="downArrow">
              <a:avLst/>
            </a:prstGeom>
            <a:solidFill>
              <a:srgbClr val="6C6D6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8" name="文本框 427"/>
            <p:cNvSpPr txBox="1"/>
            <p:nvPr/>
          </p:nvSpPr>
          <p:spPr>
            <a:xfrm>
              <a:off x="507" y="6287"/>
              <a:ext cx="3083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800" b="1">
                  <a:sym typeface="+mn-ea"/>
                </a:rPr>
                <a:t>①</a:t>
              </a:r>
              <a:r>
                <a:rPr lang="en-US" altLang="zh-CN" sz="800" b="1">
                  <a:sym typeface="+mn-ea"/>
                </a:rPr>
                <a:t> </a:t>
              </a:r>
              <a:r>
                <a:rPr lang="en-US" altLang="zh-CN" sz="800" b="1"/>
                <a:t>Cross-feature-set comparison</a:t>
              </a:r>
            </a:p>
          </p:txBody>
        </p:sp>
        <p:sp>
          <p:nvSpPr>
            <p:cNvPr id="429" name="文本框 428"/>
            <p:cNvSpPr txBox="1"/>
            <p:nvPr/>
          </p:nvSpPr>
          <p:spPr>
            <a:xfrm>
              <a:off x="4073" y="6287"/>
              <a:ext cx="2591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800" b="1">
                  <a:sym typeface="+mn-ea"/>
                </a:rPr>
                <a:t>②</a:t>
              </a:r>
              <a:r>
                <a:rPr lang="en-US" altLang="zh-CN" sz="800" b="1">
                  <a:sym typeface="+mn-ea"/>
                </a:rPr>
                <a:t> </a:t>
              </a:r>
              <a:r>
                <a:rPr lang="en-US" altLang="zh-CN" sz="800" b="1"/>
                <a:t>Learning curve analysis</a:t>
              </a:r>
            </a:p>
          </p:txBody>
        </p:sp>
        <p:sp>
          <p:nvSpPr>
            <p:cNvPr id="431" name="文本框 430"/>
            <p:cNvSpPr txBox="1"/>
            <p:nvPr/>
          </p:nvSpPr>
          <p:spPr>
            <a:xfrm>
              <a:off x="614" y="7093"/>
              <a:ext cx="3570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700"/>
                <a:t>ΔR</a:t>
              </a:r>
              <a:r>
                <a:rPr lang="en-US" altLang="en-US" sz="700"/>
                <a:t>²</a:t>
              </a:r>
              <a:r>
                <a:rPr lang="en-US" altLang="zh-CN" sz="700"/>
                <a:t> (Set A – Set B) per model</a:t>
              </a:r>
            </a:p>
            <a:p>
              <a:r>
                <a:rPr lang="en-US" altLang="zh-CN" sz="700"/>
                <a:t>Two-sided Wilcoxon signed-rank test</a:t>
              </a:r>
            </a:p>
          </p:txBody>
        </p:sp>
        <p:sp>
          <p:nvSpPr>
            <p:cNvPr id="432" name="文本框 431"/>
            <p:cNvSpPr txBox="1"/>
            <p:nvPr/>
          </p:nvSpPr>
          <p:spPr>
            <a:xfrm>
              <a:off x="109" y="7854"/>
              <a:ext cx="2113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800" b="1">
                  <a:sym typeface="+mn-ea"/>
                </a:rPr>
                <a:t>①</a:t>
              </a:r>
              <a:r>
                <a:rPr lang="en-US" altLang="zh-CN" sz="800" b="1">
                  <a:sym typeface="+mn-ea"/>
                </a:rPr>
                <a:t> </a:t>
              </a:r>
              <a:r>
                <a:rPr lang="en-US" altLang="zh-CN" sz="800" b="1"/>
                <a:t>Residual-based prediction intervals</a:t>
              </a:r>
            </a:p>
          </p:txBody>
        </p:sp>
        <p:sp>
          <p:nvSpPr>
            <p:cNvPr id="433" name="文本框 432"/>
            <p:cNvSpPr txBox="1"/>
            <p:nvPr/>
          </p:nvSpPr>
          <p:spPr>
            <a:xfrm>
              <a:off x="1878" y="8792"/>
              <a:ext cx="2784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800" b="1">
                  <a:sym typeface="+mn-ea"/>
                </a:rPr>
                <a:t>②</a:t>
              </a:r>
              <a:r>
                <a:rPr lang="en-US" altLang="zh-CN" sz="800" b="1">
                  <a:sym typeface="+mn-ea"/>
                </a:rPr>
                <a:t> </a:t>
              </a:r>
              <a:r>
                <a:rPr lang="en-US" altLang="zh-CN" sz="800" b="1"/>
                <a:t>SHAP-based interpretability</a:t>
              </a:r>
            </a:p>
          </p:txBody>
        </p:sp>
        <p:sp>
          <p:nvSpPr>
            <p:cNvPr id="434" name="文本框 433"/>
            <p:cNvSpPr txBox="1"/>
            <p:nvPr/>
          </p:nvSpPr>
          <p:spPr>
            <a:xfrm>
              <a:off x="3855" y="7854"/>
              <a:ext cx="3110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800" b="1">
                  <a:sym typeface="+mn-ea"/>
                </a:rPr>
                <a:t>③</a:t>
              </a:r>
              <a:r>
                <a:rPr lang="en-US" altLang="zh-CN" sz="800" b="1">
                  <a:sym typeface="+mn-ea"/>
                </a:rPr>
                <a:t> </a:t>
              </a:r>
              <a:r>
                <a:rPr lang="en-US" altLang="zh-CN" sz="800" b="1"/>
                <a:t>Independent external benchmark</a:t>
              </a:r>
            </a:p>
          </p:txBody>
        </p:sp>
        <p:sp>
          <p:nvSpPr>
            <p:cNvPr id="436" name="下箭头 435"/>
            <p:cNvSpPr/>
            <p:nvPr>
              <p:custDataLst>
                <p:tags r:id="rId10"/>
              </p:custDataLst>
            </p:nvPr>
          </p:nvSpPr>
          <p:spPr>
            <a:xfrm flipH="1">
              <a:off x="3231" y="7525"/>
              <a:ext cx="233" cy="164"/>
            </a:xfrm>
            <a:prstGeom prst="downArrow">
              <a:avLst/>
            </a:prstGeom>
            <a:solidFill>
              <a:srgbClr val="6C6D6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437" name="图片 436"/>
            <p:cNvPicPr>
              <a:picLocks noChangeAspect="1"/>
            </p:cNvPicPr>
            <p:nvPr/>
          </p:nvPicPr>
          <p:blipFill>
            <a:blip r:embed="rId35">
              <a:clrChange>
                <a:clrFrom>
                  <a:srgbClr val="F2E2C4">
                    <a:alpha val="100000"/>
                  </a:srgbClr>
                </a:clrFrom>
                <a:clrTo>
                  <a:srgbClr val="F2E2C4">
                    <a:alpha val="100000"/>
                    <a:alpha val="0"/>
                  </a:srgbClr>
                </a:clrTo>
              </a:clrChange>
            </a:blip>
            <a:srcRect b="16195"/>
            <a:stretch>
              <a:fillRect/>
            </a:stretch>
          </p:blipFill>
          <p:spPr>
            <a:xfrm>
              <a:off x="3815" y="6574"/>
              <a:ext cx="1534" cy="92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38" name="文本框 437"/>
            <p:cNvSpPr txBox="1"/>
            <p:nvPr/>
          </p:nvSpPr>
          <p:spPr>
            <a:xfrm>
              <a:off x="4899" y="7093"/>
              <a:ext cx="1953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700" i="1"/>
                <a:t>n</a:t>
              </a:r>
              <a:r>
                <a:rPr lang="en-US" altLang="zh-CN" sz="700" baseline="-25000"/>
                <a:t>train</a:t>
              </a:r>
              <a:r>
                <a:rPr lang="en-US" altLang="zh-CN" sz="700"/>
                <a:t> ∈ {10, 15, 20, ..., 48}</a:t>
              </a:r>
            </a:p>
          </p:txBody>
        </p:sp>
        <p:pic>
          <p:nvPicPr>
            <p:cNvPr id="439" name="图片 438"/>
            <p:cNvPicPr>
              <a:picLocks noChangeAspect="1"/>
            </p:cNvPicPr>
            <p:nvPr/>
          </p:nvPicPr>
          <p:blipFill>
            <a:blip r:embed="rId36">
              <a:clrChange>
                <a:clrFrom>
                  <a:srgbClr val="F5E8D0">
                    <a:alpha val="100000"/>
                  </a:srgbClr>
                </a:clrFrom>
                <a:clrTo>
                  <a:srgbClr val="F5E8D0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16" y="6574"/>
              <a:ext cx="2365" cy="58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40" name="图片 439"/>
            <p:cNvPicPr>
              <a:picLocks noChangeAspect="1"/>
            </p:cNvPicPr>
            <p:nvPr/>
          </p:nvPicPr>
          <p:blipFill>
            <a:blip r:embed="rId37">
              <a:clrChange>
                <a:clrFrom>
                  <a:srgbClr val="F0E8F5">
                    <a:alpha val="100000"/>
                  </a:srgbClr>
                </a:clrFrom>
                <a:clrTo>
                  <a:srgbClr val="F0E8F5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49" y="8226"/>
              <a:ext cx="1408" cy="82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41" name="图片 440"/>
            <p:cNvPicPr>
              <a:picLocks noChangeAspect="1"/>
            </p:cNvPicPr>
            <p:nvPr/>
          </p:nvPicPr>
          <p:blipFill>
            <a:blip r:embed="rId38">
              <a:clrChange>
                <a:clrFrom>
                  <a:srgbClr val="F5E5EF">
                    <a:alpha val="100000"/>
                  </a:srgbClr>
                </a:clrFrom>
                <a:clrTo>
                  <a:srgbClr val="F5E5E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595" y="7962"/>
              <a:ext cx="1220" cy="91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42" name="文本框 441"/>
            <p:cNvSpPr txBox="1"/>
            <p:nvPr/>
          </p:nvSpPr>
          <p:spPr>
            <a:xfrm rot="10800000">
              <a:off x="2232" y="7854"/>
              <a:ext cx="509" cy="86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900"/>
                <a:t>SHAP</a:t>
              </a:r>
            </a:p>
          </p:txBody>
        </p:sp>
        <p:sp>
          <p:nvSpPr>
            <p:cNvPr id="444" name="圆角矩形 443"/>
            <p:cNvSpPr/>
            <p:nvPr/>
          </p:nvSpPr>
          <p:spPr>
            <a:xfrm>
              <a:off x="412" y="5037"/>
              <a:ext cx="2819" cy="863"/>
            </a:xfrm>
            <a:prstGeom prst="roundRect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16" name="组合 415"/>
            <p:cNvGrpSpPr/>
            <p:nvPr/>
          </p:nvGrpSpPr>
          <p:grpSpPr>
            <a:xfrm>
              <a:off x="349" y="4973"/>
              <a:ext cx="3506" cy="872"/>
              <a:chOff x="1000" y="6477"/>
              <a:chExt cx="3506" cy="872"/>
            </a:xfrm>
          </p:grpSpPr>
          <p:grpSp>
            <p:nvGrpSpPr>
              <p:cNvPr id="408" name="组合 407"/>
              <p:cNvGrpSpPr/>
              <p:nvPr/>
            </p:nvGrpSpPr>
            <p:grpSpPr>
              <a:xfrm>
                <a:off x="1065" y="7106"/>
                <a:ext cx="1039" cy="242"/>
                <a:chOff x="1064" y="7030"/>
                <a:chExt cx="1039" cy="242"/>
              </a:xfrm>
            </p:grpSpPr>
            <p:grpSp>
              <p:nvGrpSpPr>
                <p:cNvPr id="382" name="组合 381"/>
                <p:cNvGrpSpPr/>
                <p:nvPr/>
              </p:nvGrpSpPr>
              <p:grpSpPr>
                <a:xfrm>
                  <a:off x="1064" y="7030"/>
                  <a:ext cx="608" cy="243"/>
                  <a:chOff x="1064" y="6698"/>
                  <a:chExt cx="608" cy="243"/>
                </a:xfrm>
              </p:grpSpPr>
              <p:sp>
                <p:nvSpPr>
                  <p:cNvPr id="383" name="圆角矩形 382"/>
                  <p:cNvSpPr/>
                  <p:nvPr/>
                </p:nvSpPr>
                <p:spPr>
                  <a:xfrm>
                    <a:off x="1156" y="6745"/>
                    <a:ext cx="425" cy="197"/>
                  </a:xfrm>
                  <a:prstGeom prst="roundRect">
                    <a:avLst/>
                  </a:prstGeom>
                  <a:solidFill>
                    <a:srgbClr val="BAD69A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300"/>
                  </a:p>
                </p:txBody>
              </p:sp>
              <p:sp>
                <p:nvSpPr>
                  <p:cNvPr id="385" name="文本框 384"/>
                  <p:cNvSpPr txBox="1"/>
                  <p:nvPr/>
                </p:nvSpPr>
                <p:spPr>
                  <a:xfrm>
                    <a:off x="1064" y="6698"/>
                    <a:ext cx="609" cy="1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r>
                      <a:rPr lang="en-US" altLang="zh-CN" sz="700"/>
                      <a:t>Train</a:t>
                    </a:r>
                  </a:p>
                </p:txBody>
              </p:sp>
            </p:grpSp>
            <p:grpSp>
              <p:nvGrpSpPr>
                <p:cNvPr id="386" name="组合 385"/>
                <p:cNvGrpSpPr/>
                <p:nvPr/>
              </p:nvGrpSpPr>
              <p:grpSpPr>
                <a:xfrm>
                  <a:off x="1495" y="7030"/>
                  <a:ext cx="608" cy="243"/>
                  <a:chOff x="1064" y="6698"/>
                  <a:chExt cx="608" cy="243"/>
                </a:xfrm>
              </p:grpSpPr>
              <p:sp>
                <p:nvSpPr>
                  <p:cNvPr id="393" name="圆角矩形 392"/>
                  <p:cNvSpPr/>
                  <p:nvPr/>
                </p:nvSpPr>
                <p:spPr>
                  <a:xfrm>
                    <a:off x="1156" y="6745"/>
                    <a:ext cx="425" cy="197"/>
                  </a:xfrm>
                  <a:prstGeom prst="roundRect">
                    <a:avLst/>
                  </a:prstGeom>
                  <a:solidFill>
                    <a:srgbClr val="BAD69A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300"/>
                  </a:p>
                </p:txBody>
              </p:sp>
              <p:sp>
                <p:nvSpPr>
                  <p:cNvPr id="398" name="文本框 397"/>
                  <p:cNvSpPr txBox="1"/>
                  <p:nvPr/>
                </p:nvSpPr>
                <p:spPr>
                  <a:xfrm>
                    <a:off x="1064" y="6698"/>
                    <a:ext cx="609" cy="1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r>
                      <a:rPr lang="en-US" altLang="zh-CN" sz="700"/>
                      <a:t>Train</a:t>
                    </a:r>
                  </a:p>
                </p:txBody>
              </p:sp>
            </p:grpSp>
          </p:grpSp>
          <p:grpSp>
            <p:nvGrpSpPr>
              <p:cNvPr id="365" name="组合 364"/>
              <p:cNvGrpSpPr/>
              <p:nvPr/>
            </p:nvGrpSpPr>
            <p:grpSpPr>
              <a:xfrm>
                <a:off x="1064" y="6698"/>
                <a:ext cx="608" cy="243"/>
                <a:chOff x="1064" y="6698"/>
                <a:chExt cx="608" cy="243"/>
              </a:xfrm>
            </p:grpSpPr>
            <p:sp>
              <p:nvSpPr>
                <p:cNvPr id="363" name="圆角矩形 362"/>
                <p:cNvSpPr/>
                <p:nvPr/>
              </p:nvSpPr>
              <p:spPr>
                <a:xfrm>
                  <a:off x="1156" y="6745"/>
                  <a:ext cx="425" cy="197"/>
                </a:xfrm>
                <a:prstGeom prst="roundRect">
                  <a:avLst/>
                </a:prstGeom>
                <a:solidFill>
                  <a:srgbClr val="BAD69A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300"/>
                </a:p>
              </p:txBody>
            </p:sp>
            <p:sp>
              <p:nvSpPr>
                <p:cNvPr id="364" name="文本框 363"/>
                <p:cNvSpPr txBox="1"/>
                <p:nvPr/>
              </p:nvSpPr>
              <p:spPr>
                <a:xfrm>
                  <a:off x="1064" y="6698"/>
                  <a:ext cx="609" cy="1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700"/>
                    <a:t>Train</a:t>
                  </a:r>
                </a:p>
              </p:txBody>
            </p:sp>
          </p:grpSp>
          <p:grpSp>
            <p:nvGrpSpPr>
              <p:cNvPr id="366" name="组合 365"/>
              <p:cNvGrpSpPr/>
              <p:nvPr/>
            </p:nvGrpSpPr>
            <p:grpSpPr>
              <a:xfrm>
                <a:off x="1495" y="6698"/>
                <a:ext cx="608" cy="243"/>
                <a:chOff x="1064" y="6698"/>
                <a:chExt cx="608" cy="243"/>
              </a:xfrm>
            </p:grpSpPr>
            <p:sp>
              <p:nvSpPr>
                <p:cNvPr id="367" name="圆角矩形 366"/>
                <p:cNvSpPr/>
                <p:nvPr/>
              </p:nvSpPr>
              <p:spPr>
                <a:xfrm>
                  <a:off x="1156" y="6745"/>
                  <a:ext cx="425" cy="197"/>
                </a:xfrm>
                <a:prstGeom prst="roundRect">
                  <a:avLst/>
                </a:prstGeom>
                <a:solidFill>
                  <a:srgbClr val="BAD69A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300"/>
                </a:p>
              </p:txBody>
            </p:sp>
            <p:sp>
              <p:nvSpPr>
                <p:cNvPr id="368" name="文本框 367"/>
                <p:cNvSpPr txBox="1"/>
                <p:nvPr/>
              </p:nvSpPr>
              <p:spPr>
                <a:xfrm>
                  <a:off x="1064" y="6698"/>
                  <a:ext cx="609" cy="1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700"/>
                    <a:t>Train</a:t>
                  </a:r>
                </a:p>
              </p:txBody>
            </p:sp>
          </p:grpSp>
          <p:grpSp>
            <p:nvGrpSpPr>
              <p:cNvPr id="370" name="组合 369"/>
              <p:cNvGrpSpPr/>
              <p:nvPr/>
            </p:nvGrpSpPr>
            <p:grpSpPr>
              <a:xfrm>
                <a:off x="1920" y="6698"/>
                <a:ext cx="608" cy="243"/>
                <a:chOff x="1064" y="6698"/>
                <a:chExt cx="608" cy="243"/>
              </a:xfrm>
            </p:grpSpPr>
            <p:sp>
              <p:nvSpPr>
                <p:cNvPr id="371" name="圆角矩形 370"/>
                <p:cNvSpPr/>
                <p:nvPr/>
              </p:nvSpPr>
              <p:spPr>
                <a:xfrm>
                  <a:off x="1156" y="6745"/>
                  <a:ext cx="425" cy="197"/>
                </a:xfrm>
                <a:prstGeom prst="roundRect">
                  <a:avLst/>
                </a:prstGeom>
                <a:solidFill>
                  <a:srgbClr val="BAD69A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300"/>
                </a:p>
              </p:txBody>
            </p:sp>
            <p:sp>
              <p:nvSpPr>
                <p:cNvPr id="372" name="文本框 371"/>
                <p:cNvSpPr txBox="1"/>
                <p:nvPr/>
              </p:nvSpPr>
              <p:spPr>
                <a:xfrm>
                  <a:off x="1064" y="6698"/>
                  <a:ext cx="609" cy="1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700"/>
                    <a:t>Train</a:t>
                  </a:r>
                </a:p>
              </p:txBody>
            </p:sp>
          </p:grpSp>
          <p:grpSp>
            <p:nvGrpSpPr>
              <p:cNvPr id="379" name="组合 378"/>
              <p:cNvGrpSpPr/>
              <p:nvPr/>
            </p:nvGrpSpPr>
            <p:grpSpPr>
              <a:xfrm>
                <a:off x="2351" y="6698"/>
                <a:ext cx="608" cy="243"/>
                <a:chOff x="1064" y="6698"/>
                <a:chExt cx="608" cy="243"/>
              </a:xfrm>
            </p:grpSpPr>
            <p:sp>
              <p:nvSpPr>
                <p:cNvPr id="380" name="圆角矩形 379"/>
                <p:cNvSpPr/>
                <p:nvPr/>
              </p:nvSpPr>
              <p:spPr>
                <a:xfrm>
                  <a:off x="1156" y="6745"/>
                  <a:ext cx="425" cy="197"/>
                </a:xfrm>
                <a:prstGeom prst="roundRect">
                  <a:avLst/>
                </a:prstGeom>
                <a:solidFill>
                  <a:srgbClr val="BAD69A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300"/>
                </a:p>
              </p:txBody>
            </p:sp>
            <p:sp>
              <p:nvSpPr>
                <p:cNvPr id="381" name="文本框 380"/>
                <p:cNvSpPr txBox="1"/>
                <p:nvPr/>
              </p:nvSpPr>
              <p:spPr>
                <a:xfrm>
                  <a:off x="1064" y="6698"/>
                  <a:ext cx="609" cy="1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700"/>
                    <a:t>Train</a:t>
                  </a:r>
                </a:p>
              </p:txBody>
            </p:sp>
          </p:grpSp>
          <p:sp>
            <p:nvSpPr>
              <p:cNvPr id="405" name="圆角矩形 404"/>
              <p:cNvSpPr/>
              <p:nvPr/>
            </p:nvSpPr>
            <p:spPr>
              <a:xfrm>
                <a:off x="2873" y="6749"/>
                <a:ext cx="425" cy="197"/>
              </a:xfrm>
              <a:prstGeom prst="roundRect">
                <a:avLst/>
              </a:prstGeom>
              <a:solidFill>
                <a:srgbClr val="32643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300"/>
              </a:p>
            </p:txBody>
          </p:sp>
          <p:sp>
            <p:nvSpPr>
              <p:cNvPr id="406" name="文本框 405"/>
              <p:cNvSpPr txBox="1"/>
              <p:nvPr/>
            </p:nvSpPr>
            <p:spPr>
              <a:xfrm>
                <a:off x="2795" y="6702"/>
                <a:ext cx="595" cy="18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700">
                    <a:solidFill>
                      <a:schemeClr val="bg1"/>
                    </a:solidFill>
                  </a:rPr>
                  <a:t>Test</a:t>
                </a:r>
              </a:p>
            </p:txBody>
          </p:sp>
          <p:sp>
            <p:nvSpPr>
              <p:cNvPr id="409" name="文本框 408"/>
              <p:cNvSpPr txBox="1"/>
              <p:nvPr/>
            </p:nvSpPr>
            <p:spPr>
              <a:xfrm>
                <a:off x="1000" y="6477"/>
                <a:ext cx="3506" cy="1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700" b="1"/>
                  <a:t>Outer loop: </a:t>
                </a:r>
                <a:r>
                  <a:rPr lang="en-US" altLang="zh-CN" sz="700"/>
                  <a:t>10 </a:t>
                </a:r>
                <a:r>
                  <a:rPr lang="en-US" altLang="en-US" sz="700"/>
                  <a:t>×</a:t>
                </a:r>
                <a:r>
                  <a:rPr lang="en-US" altLang="zh-CN" sz="700"/>
                  <a:t> 5-fold CV </a:t>
                </a:r>
                <a:r>
                  <a:rPr lang="en-US" altLang="en-US" sz="700"/>
                  <a:t>→</a:t>
                </a:r>
                <a:r>
                  <a:rPr lang="en-US" altLang="zh-CN" sz="700"/>
                  <a:t> 50 test folds</a:t>
                </a:r>
              </a:p>
            </p:txBody>
          </p:sp>
          <p:sp>
            <p:nvSpPr>
              <p:cNvPr id="410" name="文本框 409"/>
              <p:cNvSpPr txBox="1"/>
              <p:nvPr/>
            </p:nvSpPr>
            <p:spPr>
              <a:xfrm>
                <a:off x="1000" y="6907"/>
                <a:ext cx="2632" cy="1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700" b="1"/>
                  <a:t>Inner loop: </a:t>
                </a:r>
                <a:r>
                  <a:rPr lang="en-US" altLang="zh-CN" sz="700"/>
                  <a:t>3-fold CV (baselines only)</a:t>
                </a:r>
              </a:p>
            </p:txBody>
          </p:sp>
          <p:sp>
            <p:nvSpPr>
              <p:cNvPr id="411" name="圆角矩形 410"/>
              <p:cNvSpPr/>
              <p:nvPr/>
            </p:nvSpPr>
            <p:spPr>
              <a:xfrm>
                <a:off x="2018" y="7153"/>
                <a:ext cx="425" cy="197"/>
              </a:xfrm>
              <a:prstGeom prst="roundRect">
                <a:avLst/>
              </a:prstGeom>
              <a:solidFill>
                <a:srgbClr val="C3BCB7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300"/>
              </a:p>
            </p:txBody>
          </p:sp>
          <p:sp>
            <p:nvSpPr>
              <p:cNvPr id="412" name="文本框 411"/>
              <p:cNvSpPr txBox="1"/>
              <p:nvPr/>
            </p:nvSpPr>
            <p:spPr>
              <a:xfrm>
                <a:off x="1989" y="7106"/>
                <a:ext cx="595" cy="18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700"/>
                  <a:t>Val</a:t>
                </a:r>
              </a:p>
            </p:txBody>
          </p:sp>
        </p:grpSp>
        <p:sp>
          <p:nvSpPr>
            <p:cNvPr id="415" name="文本框 414"/>
            <p:cNvSpPr txBox="1"/>
            <p:nvPr/>
          </p:nvSpPr>
          <p:spPr>
            <a:xfrm>
              <a:off x="735" y="4746"/>
              <a:ext cx="2438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800" b="1">
                  <a:sym typeface="+mn-ea"/>
                </a:rPr>
                <a:t>①</a:t>
              </a:r>
              <a:r>
                <a:rPr lang="en-US" altLang="zh-CN" sz="800" b="1">
                  <a:sym typeface="+mn-ea"/>
                </a:rPr>
                <a:t>  </a:t>
              </a:r>
              <a:r>
                <a:rPr lang="en-US" altLang="zh-CN" sz="800" b="1"/>
                <a:t>Nested CV architecture</a:t>
              </a:r>
            </a:p>
          </p:txBody>
        </p:sp>
        <p:sp>
          <p:nvSpPr>
            <p:cNvPr id="445" name="圆角矩形 444"/>
            <p:cNvSpPr/>
            <p:nvPr/>
          </p:nvSpPr>
          <p:spPr>
            <a:xfrm>
              <a:off x="3661" y="5064"/>
              <a:ext cx="3048" cy="863"/>
            </a:xfrm>
            <a:prstGeom prst="roundRect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6" name="圆角矩形 445"/>
            <p:cNvSpPr/>
            <p:nvPr/>
          </p:nvSpPr>
          <p:spPr>
            <a:xfrm>
              <a:off x="417" y="6574"/>
              <a:ext cx="2814" cy="924"/>
            </a:xfrm>
            <a:prstGeom prst="round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7" name="圆角矩形 446"/>
            <p:cNvSpPr/>
            <p:nvPr/>
          </p:nvSpPr>
          <p:spPr>
            <a:xfrm>
              <a:off x="3669" y="6573"/>
              <a:ext cx="3041" cy="924"/>
            </a:xfrm>
            <a:prstGeom prst="round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49" name="图片 448"/>
            <p:cNvPicPr>
              <a:picLocks noChangeAspect="1"/>
            </p:cNvPicPr>
            <p:nvPr/>
          </p:nvPicPr>
          <p:blipFill>
            <a:blip r:embed="rId39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658" y="8068"/>
              <a:ext cx="1805" cy="91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50" name="文本框 449"/>
            <p:cNvSpPr txBox="1"/>
            <p:nvPr/>
          </p:nvSpPr>
          <p:spPr>
            <a:xfrm>
              <a:off x="5407" y="8792"/>
              <a:ext cx="1344" cy="23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700"/>
                <a:t>Lee et al. (2021)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矩形 198"/>
          <p:cNvSpPr/>
          <p:nvPr/>
        </p:nvSpPr>
        <p:spPr>
          <a:xfrm>
            <a:off x="9526" y="1331605"/>
            <a:ext cx="9144000" cy="2998471"/>
          </a:xfrm>
          <a:prstGeom prst="rect">
            <a:avLst/>
          </a:prstGeom>
          <a:solidFill>
            <a:srgbClr val="E8E8E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9" name="直接连接符 218"/>
          <p:cNvCxnSpPr/>
          <p:nvPr/>
        </p:nvCxnSpPr>
        <p:spPr>
          <a:xfrm flipV="1">
            <a:off x="6203315" y="1313825"/>
            <a:ext cx="0" cy="301371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8" name="直接连接符 217"/>
          <p:cNvCxnSpPr/>
          <p:nvPr/>
        </p:nvCxnSpPr>
        <p:spPr>
          <a:xfrm flipV="1">
            <a:off x="2823845" y="1315730"/>
            <a:ext cx="0" cy="301371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5" name="圆角矩形 214"/>
          <p:cNvSpPr/>
          <p:nvPr/>
        </p:nvSpPr>
        <p:spPr>
          <a:xfrm>
            <a:off x="7816219" y="1840874"/>
            <a:ext cx="1289685" cy="194311"/>
          </a:xfrm>
          <a:prstGeom prst="roundRect">
            <a:avLst>
              <a:gd name="adj" fmla="val 5646"/>
            </a:avLst>
          </a:prstGeom>
          <a:solidFill>
            <a:srgbClr val="D8DDE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圆角矩形 212"/>
          <p:cNvSpPr/>
          <p:nvPr/>
        </p:nvSpPr>
        <p:spPr>
          <a:xfrm>
            <a:off x="6296669" y="1840874"/>
            <a:ext cx="1450976" cy="194311"/>
          </a:xfrm>
          <a:prstGeom prst="roundRect">
            <a:avLst>
              <a:gd name="adj" fmla="val 5646"/>
            </a:avLst>
          </a:prstGeom>
          <a:solidFill>
            <a:srgbClr val="D8DDE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圆角矩形 211"/>
          <p:cNvSpPr/>
          <p:nvPr/>
        </p:nvSpPr>
        <p:spPr>
          <a:xfrm>
            <a:off x="7816219" y="2993398"/>
            <a:ext cx="1289051" cy="194311"/>
          </a:xfrm>
          <a:prstGeom prst="roundRect">
            <a:avLst>
              <a:gd name="adj" fmla="val 5646"/>
            </a:avLst>
          </a:prstGeom>
          <a:solidFill>
            <a:srgbClr val="D8DDE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圆角矩形 210"/>
          <p:cNvSpPr/>
          <p:nvPr/>
        </p:nvSpPr>
        <p:spPr>
          <a:xfrm>
            <a:off x="6315711" y="2993398"/>
            <a:ext cx="1432560" cy="194311"/>
          </a:xfrm>
          <a:prstGeom prst="roundRect">
            <a:avLst>
              <a:gd name="adj" fmla="val 5646"/>
            </a:avLst>
          </a:prstGeom>
          <a:solidFill>
            <a:srgbClr val="D8DDE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1" name="图片 190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16226" y="3152782"/>
            <a:ext cx="1327785" cy="998220"/>
          </a:xfrm>
          <a:prstGeom prst="rect">
            <a:avLst/>
          </a:prstGeom>
        </p:spPr>
      </p:pic>
      <p:pic>
        <p:nvPicPr>
          <p:cNvPr id="190" name="图片 189"/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92863" y="3173737"/>
            <a:ext cx="1349375" cy="979805"/>
          </a:xfrm>
          <a:prstGeom prst="rect">
            <a:avLst/>
          </a:prstGeom>
        </p:spPr>
      </p:pic>
      <p:grpSp>
        <p:nvGrpSpPr>
          <p:cNvPr id="87" name="组合 86"/>
          <p:cNvGrpSpPr/>
          <p:nvPr/>
        </p:nvGrpSpPr>
        <p:grpSpPr>
          <a:xfrm>
            <a:off x="8843" y="1678311"/>
            <a:ext cx="2771199" cy="1871981"/>
            <a:chOff x="309" y="2753"/>
            <a:chExt cx="5021" cy="3299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10" y="2815"/>
              <a:ext cx="5020" cy="3237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>
              <a:off x="3808" y="2753"/>
              <a:ext cx="1521" cy="421"/>
            </a:xfrm>
            <a:prstGeom prst="rect">
              <a:avLst/>
            </a:prstGeom>
            <a:solidFill>
              <a:srgbClr val="E7E8E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309" y="5715"/>
              <a:ext cx="1423" cy="337"/>
            </a:xfrm>
            <a:prstGeom prst="rect">
              <a:avLst/>
            </a:prstGeom>
            <a:solidFill>
              <a:srgbClr val="E5E2D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 rot="5400000">
              <a:off x="4473" y="3528"/>
              <a:ext cx="1355" cy="358"/>
            </a:xfrm>
            <a:prstGeom prst="rect">
              <a:avLst/>
            </a:prstGeom>
            <a:solidFill>
              <a:srgbClr val="E7E8E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9" name="组合 148"/>
          <p:cNvGrpSpPr/>
          <p:nvPr/>
        </p:nvGrpSpPr>
        <p:grpSpPr>
          <a:xfrm>
            <a:off x="2904495" y="1952628"/>
            <a:ext cx="1123315" cy="1497331"/>
            <a:chOff x="5727" y="3030"/>
            <a:chExt cx="1769" cy="2358"/>
          </a:xfrm>
        </p:grpSpPr>
        <p:grpSp>
          <p:nvGrpSpPr>
            <p:cNvPr id="102" name="组合 101"/>
            <p:cNvGrpSpPr/>
            <p:nvPr/>
          </p:nvGrpSpPr>
          <p:grpSpPr>
            <a:xfrm>
              <a:off x="6109" y="3030"/>
              <a:ext cx="1286" cy="355"/>
              <a:chOff x="8190" y="3355"/>
              <a:chExt cx="1286" cy="355"/>
            </a:xfrm>
          </p:grpSpPr>
          <p:pic>
            <p:nvPicPr>
              <p:cNvPr id="82" name="图片 81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190" y="3372"/>
                <a:ext cx="703" cy="338"/>
              </a:xfrm>
              <a:prstGeom prst="rect">
                <a:avLst/>
              </a:prstGeom>
            </p:spPr>
          </p:pic>
          <p:sp>
            <p:nvSpPr>
              <p:cNvPr id="83" name="文本框 82"/>
              <p:cNvSpPr txBox="1"/>
              <p:nvPr/>
            </p:nvSpPr>
            <p:spPr>
              <a:xfrm>
                <a:off x="8766" y="3355"/>
                <a:ext cx="710" cy="1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1000" i="1"/>
                  <a:t>D</a:t>
                </a:r>
                <a:r>
                  <a:rPr lang="en-US" altLang="zh-CN" sz="1000" baseline="-25000"/>
                  <a:t>train</a:t>
                </a:r>
              </a:p>
            </p:txBody>
          </p:sp>
        </p:grpSp>
        <p:grpSp>
          <p:nvGrpSpPr>
            <p:cNvPr id="99" name="组合 98"/>
            <p:cNvGrpSpPr/>
            <p:nvPr/>
          </p:nvGrpSpPr>
          <p:grpSpPr>
            <a:xfrm>
              <a:off x="5727" y="3439"/>
              <a:ext cx="1769" cy="1949"/>
              <a:chOff x="7438" y="3450"/>
              <a:chExt cx="1769" cy="1949"/>
            </a:xfrm>
          </p:grpSpPr>
          <p:sp>
            <p:nvSpPr>
              <p:cNvPr id="94" name="圆角矩形 93"/>
              <p:cNvSpPr/>
              <p:nvPr/>
            </p:nvSpPr>
            <p:spPr>
              <a:xfrm>
                <a:off x="7438" y="3450"/>
                <a:ext cx="1769" cy="1949"/>
              </a:xfrm>
              <a:prstGeom prst="roundRect">
                <a:avLst>
                  <a:gd name="adj" fmla="val 15110"/>
                </a:avLst>
              </a:prstGeom>
              <a:solidFill>
                <a:srgbClr val="D8DDE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1400"/>
              </a:p>
            </p:txBody>
          </p:sp>
          <p:sp>
            <p:nvSpPr>
              <p:cNvPr id="89" name="圆角矩形 88"/>
              <p:cNvSpPr/>
              <p:nvPr/>
            </p:nvSpPr>
            <p:spPr>
              <a:xfrm>
                <a:off x="7559" y="3564"/>
                <a:ext cx="1494" cy="312"/>
              </a:xfrm>
              <a:prstGeom prst="roundRect">
                <a:avLst>
                  <a:gd name="adj" fmla="val 15110"/>
                </a:avLst>
              </a:prstGeom>
              <a:solidFill>
                <a:srgbClr val="3A7B7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/>
                  <a:t>F-Attn</a:t>
                </a:r>
              </a:p>
            </p:txBody>
          </p:sp>
          <p:sp>
            <p:nvSpPr>
              <p:cNvPr id="90" name="圆角矩形 89"/>
              <p:cNvSpPr/>
              <p:nvPr/>
            </p:nvSpPr>
            <p:spPr>
              <a:xfrm>
                <a:off x="7559" y="4044"/>
                <a:ext cx="1494" cy="312"/>
              </a:xfrm>
              <a:prstGeom prst="roundRect">
                <a:avLst>
                  <a:gd name="adj" fmla="val 15110"/>
                </a:avLst>
              </a:prstGeom>
              <a:solidFill>
                <a:srgbClr val="3A7B7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/>
                  <a:t>S-Attn</a:t>
                </a:r>
              </a:p>
            </p:txBody>
          </p:sp>
          <p:sp>
            <p:nvSpPr>
              <p:cNvPr id="91" name="圆角矩形 90"/>
              <p:cNvSpPr/>
              <p:nvPr/>
            </p:nvSpPr>
            <p:spPr>
              <a:xfrm>
                <a:off x="7559" y="4524"/>
                <a:ext cx="1494" cy="312"/>
              </a:xfrm>
              <a:prstGeom prst="roundRect">
                <a:avLst>
                  <a:gd name="adj" fmla="val 15110"/>
                </a:avLst>
              </a:prstGeom>
              <a:solidFill>
                <a:srgbClr val="3A7B7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/>
                  <a:t>F-Attn</a:t>
                </a:r>
              </a:p>
            </p:txBody>
          </p:sp>
          <p:sp>
            <p:nvSpPr>
              <p:cNvPr id="92" name="圆角矩形 91"/>
              <p:cNvSpPr/>
              <p:nvPr/>
            </p:nvSpPr>
            <p:spPr>
              <a:xfrm>
                <a:off x="7559" y="4990"/>
                <a:ext cx="1494" cy="312"/>
              </a:xfrm>
              <a:prstGeom prst="roundRect">
                <a:avLst>
                  <a:gd name="adj" fmla="val 15110"/>
                </a:avLst>
              </a:prstGeom>
              <a:solidFill>
                <a:srgbClr val="3A7B7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/>
                  <a:t>S-Attn</a:t>
                </a:r>
              </a:p>
            </p:txBody>
          </p:sp>
          <p:cxnSp>
            <p:nvCxnSpPr>
              <p:cNvPr id="96" name="直接箭头连接符 95"/>
              <p:cNvCxnSpPr>
                <a:stCxn id="89" idx="2"/>
                <a:endCxn id="90" idx="0"/>
              </p:cNvCxnSpPr>
              <p:nvPr/>
            </p:nvCxnSpPr>
            <p:spPr>
              <a:xfrm>
                <a:off x="8306" y="3876"/>
                <a:ext cx="0" cy="168"/>
              </a:xfrm>
              <a:prstGeom prst="straightConnector1">
                <a:avLst/>
              </a:prstGeom>
              <a:ln>
                <a:solidFill>
                  <a:srgbClr val="3A7B79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7" name="直接箭头连接符 96"/>
              <p:cNvCxnSpPr>
                <a:stCxn id="90" idx="2"/>
              </p:cNvCxnSpPr>
              <p:nvPr/>
            </p:nvCxnSpPr>
            <p:spPr>
              <a:xfrm>
                <a:off x="8306" y="4356"/>
                <a:ext cx="0" cy="186"/>
              </a:xfrm>
              <a:prstGeom prst="straightConnector1">
                <a:avLst/>
              </a:prstGeom>
              <a:ln>
                <a:solidFill>
                  <a:srgbClr val="3A7B79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8" name="直接箭头连接符 97"/>
              <p:cNvCxnSpPr>
                <a:stCxn id="91" idx="2"/>
              </p:cNvCxnSpPr>
              <p:nvPr/>
            </p:nvCxnSpPr>
            <p:spPr>
              <a:xfrm>
                <a:off x="8306" y="4836"/>
                <a:ext cx="0" cy="177"/>
              </a:xfrm>
              <a:prstGeom prst="straightConnector1">
                <a:avLst/>
              </a:prstGeom>
              <a:ln>
                <a:solidFill>
                  <a:srgbClr val="3A7B79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101" name="直接箭头连接符 100"/>
            <p:cNvCxnSpPr/>
            <p:nvPr/>
          </p:nvCxnSpPr>
          <p:spPr>
            <a:xfrm>
              <a:off x="6595" y="3385"/>
              <a:ext cx="0" cy="168"/>
            </a:xfrm>
            <a:prstGeom prst="straightConnector1">
              <a:avLst/>
            </a:prstGeom>
            <a:ln>
              <a:solidFill>
                <a:srgbClr val="3A7B79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11" name="组合 110"/>
          <p:cNvGrpSpPr/>
          <p:nvPr/>
        </p:nvGrpSpPr>
        <p:grpSpPr>
          <a:xfrm>
            <a:off x="2823852" y="3869697"/>
            <a:ext cx="1687195" cy="210820"/>
            <a:chOff x="5461" y="6050"/>
            <a:chExt cx="2657" cy="332"/>
          </a:xfrm>
        </p:grpSpPr>
        <p:sp>
          <p:nvSpPr>
            <p:cNvPr id="72" name="文本框 71"/>
            <p:cNvSpPr txBox="1"/>
            <p:nvPr/>
          </p:nvSpPr>
          <p:spPr>
            <a:xfrm>
              <a:off x="5461" y="6050"/>
              <a:ext cx="2657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000"/>
                <a:t>Zero-shot inference</a:t>
              </a:r>
            </a:p>
          </p:txBody>
        </p:sp>
        <p:sp>
          <p:nvSpPr>
            <p:cNvPr id="105" name="圆角矩形 104"/>
            <p:cNvSpPr/>
            <p:nvPr/>
          </p:nvSpPr>
          <p:spPr>
            <a:xfrm>
              <a:off x="5542" y="6102"/>
              <a:ext cx="2450" cy="280"/>
            </a:xfrm>
            <a:prstGeom prst="roundRect">
              <a:avLst>
                <a:gd name="adj" fmla="val 47142"/>
              </a:avLst>
            </a:prstGeom>
            <a:noFill/>
            <a:ln>
              <a:solidFill>
                <a:srgbClr val="3A7B79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2832739" y="4095761"/>
            <a:ext cx="1974851" cy="215265"/>
            <a:chOff x="5541" y="6467"/>
            <a:chExt cx="3110" cy="339"/>
          </a:xfrm>
        </p:grpSpPr>
        <p:sp>
          <p:nvSpPr>
            <p:cNvPr id="77" name="文本框 76"/>
            <p:cNvSpPr txBox="1"/>
            <p:nvPr/>
          </p:nvSpPr>
          <p:spPr>
            <a:xfrm>
              <a:off x="5541" y="6467"/>
              <a:ext cx="3110" cy="1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000"/>
                <a:t>No hyperparameter tuning</a:t>
              </a:r>
            </a:p>
          </p:txBody>
        </p:sp>
        <p:sp>
          <p:nvSpPr>
            <p:cNvPr id="107" name="圆角矩形 106"/>
            <p:cNvSpPr/>
            <p:nvPr/>
          </p:nvSpPr>
          <p:spPr>
            <a:xfrm>
              <a:off x="5608" y="6526"/>
              <a:ext cx="2453" cy="280"/>
            </a:xfrm>
            <a:prstGeom prst="roundRect">
              <a:avLst>
                <a:gd name="adj" fmla="val 47142"/>
              </a:avLst>
            </a:prstGeom>
            <a:noFill/>
            <a:ln>
              <a:solidFill>
                <a:srgbClr val="3A7B79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2873387" y="3495686"/>
            <a:ext cx="2101215" cy="337185"/>
            <a:chOff x="5608" y="6810"/>
            <a:chExt cx="3309" cy="531"/>
          </a:xfrm>
        </p:grpSpPr>
        <p:sp>
          <p:nvSpPr>
            <p:cNvPr id="78" name="文本框 77"/>
            <p:cNvSpPr txBox="1"/>
            <p:nvPr/>
          </p:nvSpPr>
          <p:spPr>
            <a:xfrm>
              <a:off x="5608" y="7017"/>
              <a:ext cx="3309" cy="1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000">
                  <a:sym typeface="+mn-ea"/>
                </a:rPr>
                <a:t>Prediction + Distribution</a:t>
              </a:r>
              <a:endParaRPr lang="en-US" altLang="zh-CN" sz="1000"/>
            </a:p>
            <a:p>
              <a:endParaRPr lang="en-US" altLang="zh-CN" sz="1000"/>
            </a:p>
          </p:txBody>
        </p:sp>
        <p:sp>
          <p:nvSpPr>
            <p:cNvPr id="108" name="圆角矩形 107"/>
            <p:cNvSpPr/>
            <p:nvPr/>
          </p:nvSpPr>
          <p:spPr>
            <a:xfrm>
              <a:off x="5608" y="6810"/>
              <a:ext cx="2453" cy="531"/>
            </a:xfrm>
            <a:prstGeom prst="roundRect">
              <a:avLst>
                <a:gd name="adj" fmla="val 47142"/>
              </a:avLst>
            </a:prstGeom>
            <a:noFill/>
            <a:ln>
              <a:solidFill>
                <a:srgbClr val="3A7B79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3" name="文本框 142"/>
          <p:cNvSpPr txBox="1"/>
          <p:nvPr/>
        </p:nvSpPr>
        <p:spPr>
          <a:xfrm>
            <a:off x="518799" y="1346842"/>
            <a:ext cx="174180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2000" b="1">
                <a:sym typeface="+mn-ea"/>
              </a:rPr>
              <a:t>Background </a:t>
            </a:r>
          </a:p>
        </p:txBody>
      </p:sp>
      <p:grpSp>
        <p:nvGrpSpPr>
          <p:cNvPr id="151" name="组合 150"/>
          <p:cNvGrpSpPr/>
          <p:nvPr/>
        </p:nvGrpSpPr>
        <p:grpSpPr>
          <a:xfrm>
            <a:off x="4470404" y="3711584"/>
            <a:ext cx="1822451" cy="311151"/>
            <a:chOff x="7379" y="5539"/>
            <a:chExt cx="2870" cy="490"/>
          </a:xfrm>
        </p:grpSpPr>
        <p:pic>
          <p:nvPicPr>
            <p:cNvPr id="145" name="图片 144" descr="齿轮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379" y="5539"/>
              <a:ext cx="491" cy="491"/>
            </a:xfrm>
            <a:prstGeom prst="rect">
              <a:avLst/>
            </a:prstGeom>
          </p:spPr>
        </p:pic>
        <p:sp>
          <p:nvSpPr>
            <p:cNvPr id="146" name="文本框 145"/>
            <p:cNvSpPr txBox="1"/>
            <p:nvPr/>
          </p:nvSpPr>
          <p:spPr>
            <a:xfrm>
              <a:off x="7593" y="5730"/>
              <a:ext cx="2656" cy="1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000" b="1">
                  <a:sym typeface="+mn-ea"/>
                </a:rPr>
                <a:t>Bayesian optimization</a:t>
              </a:r>
            </a:p>
          </p:txBody>
        </p:sp>
      </p:grpSp>
      <p:pic>
        <p:nvPicPr>
          <p:cNvPr id="150" name="图片 149"/>
          <p:cNvPicPr>
            <a:picLocks noChangeAspect="1"/>
          </p:cNvPicPr>
          <p:nvPr/>
        </p:nvPicPr>
        <p:blipFill>
          <a:blip r:embed="rId14">
            <a:clrChange>
              <a:clrFrom>
                <a:srgbClr val="F5F3EF">
                  <a:alpha val="100000"/>
                </a:srgbClr>
              </a:clrFrom>
              <a:clrTo>
                <a:srgbClr val="F5F3E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23698" y="1729740"/>
            <a:ext cx="2070101" cy="2103121"/>
          </a:xfrm>
          <a:prstGeom prst="rect">
            <a:avLst/>
          </a:prstGeom>
        </p:spPr>
      </p:pic>
      <p:sp>
        <p:nvSpPr>
          <p:cNvPr id="152" name="文本框 151"/>
          <p:cNvSpPr txBox="1"/>
          <p:nvPr/>
        </p:nvSpPr>
        <p:spPr>
          <a:xfrm>
            <a:off x="2875292" y="1629998"/>
            <a:ext cx="1387845" cy="2705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baseline="-25000" dirty="0">
                <a:solidFill>
                  <a:srgbClr val="3A7B79"/>
                </a:solidFill>
              </a:rPr>
              <a:t>TabPFN-2.5</a:t>
            </a:r>
          </a:p>
        </p:txBody>
      </p:sp>
      <p:sp>
        <p:nvSpPr>
          <p:cNvPr id="153" name="文本框 152"/>
          <p:cNvSpPr txBox="1"/>
          <p:nvPr/>
        </p:nvSpPr>
        <p:spPr>
          <a:xfrm>
            <a:off x="4027809" y="1331601"/>
            <a:ext cx="1467486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2000" b="1">
                <a:sym typeface="+mn-ea"/>
              </a:rPr>
              <a:t>Methods</a:t>
            </a:r>
          </a:p>
        </p:txBody>
      </p:sp>
      <p:sp>
        <p:nvSpPr>
          <p:cNvPr id="157" name="文本框 156"/>
          <p:cNvSpPr txBox="1"/>
          <p:nvPr/>
        </p:nvSpPr>
        <p:spPr>
          <a:xfrm>
            <a:off x="6936746" y="1346842"/>
            <a:ext cx="233108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2000" b="1">
                <a:sym typeface="+mn-ea"/>
              </a:rPr>
              <a:t>Key Findings</a:t>
            </a:r>
          </a:p>
        </p:txBody>
      </p:sp>
      <p:sp>
        <p:nvSpPr>
          <p:cNvPr id="158" name="文本框 157"/>
          <p:cNvSpPr txBox="1"/>
          <p:nvPr/>
        </p:nvSpPr>
        <p:spPr>
          <a:xfrm>
            <a:off x="4451989" y="3994791"/>
            <a:ext cx="1593851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000"/>
              <a:t>    10</a:t>
            </a:r>
            <a:r>
              <a:rPr lang="en-US" altLang="en-US" sz="1000"/>
              <a:t>×</a:t>
            </a:r>
            <a:r>
              <a:rPr lang="en-US" altLang="zh-CN" sz="1000"/>
              <a:t>5-fold nested CV</a:t>
            </a:r>
          </a:p>
          <a:p>
            <a:r>
              <a:rPr lang="en-US" altLang="en-US" sz="1000"/>
              <a:t>→ </a:t>
            </a:r>
            <a:r>
              <a:rPr lang="en-US" altLang="zh-CN" sz="1000"/>
              <a:t>50 test folds</a:t>
            </a:r>
          </a:p>
        </p:txBody>
      </p:sp>
      <p:cxnSp>
        <p:nvCxnSpPr>
          <p:cNvPr id="159" name="直接箭头连接符 158"/>
          <p:cNvCxnSpPr/>
          <p:nvPr/>
        </p:nvCxnSpPr>
        <p:spPr>
          <a:xfrm>
            <a:off x="3467100" y="3388995"/>
            <a:ext cx="0" cy="106680"/>
          </a:xfrm>
          <a:prstGeom prst="straightConnector1">
            <a:avLst/>
          </a:prstGeom>
          <a:ln>
            <a:solidFill>
              <a:srgbClr val="3A7B79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0" name="椭圆 159"/>
          <p:cNvSpPr/>
          <p:nvPr/>
        </p:nvSpPr>
        <p:spPr>
          <a:xfrm>
            <a:off x="3229611" y="3550285"/>
            <a:ext cx="91440" cy="91440"/>
          </a:xfrm>
          <a:prstGeom prst="ellipse">
            <a:avLst/>
          </a:prstGeom>
          <a:solidFill>
            <a:srgbClr val="3A7B7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6" name="组合 165"/>
          <p:cNvGrpSpPr/>
          <p:nvPr/>
        </p:nvGrpSpPr>
        <p:grpSpPr>
          <a:xfrm>
            <a:off x="6203319" y="1989462"/>
            <a:ext cx="1822451" cy="962660"/>
            <a:chOff x="10041" y="2663"/>
            <a:chExt cx="2943" cy="1516"/>
          </a:xfrm>
        </p:grpSpPr>
        <p:pic>
          <p:nvPicPr>
            <p:cNvPr id="148" name="图片 147"/>
            <p:cNvPicPr>
              <a:picLocks noChangeAspect="1"/>
            </p:cNvPicPr>
            <p:nvPr/>
          </p:nvPicPr>
          <p:blipFill>
            <a:blip r:embed="rId15">
              <a:clrChange>
                <a:clrFrom>
                  <a:srgbClr val="F0EDE8">
                    <a:alpha val="100000"/>
                  </a:srgbClr>
                </a:clrFrom>
                <a:clrTo>
                  <a:srgbClr val="F0EDE8">
                    <a:alpha val="100000"/>
                    <a:alpha val="0"/>
                  </a:srgbClr>
                </a:clrTo>
              </a:clrChange>
            </a:blip>
            <a:srcRect l="6529" t="8360" b="29207"/>
            <a:stretch>
              <a:fillRect/>
            </a:stretch>
          </p:blipFill>
          <p:spPr>
            <a:xfrm>
              <a:off x="10451" y="3000"/>
              <a:ext cx="1622" cy="736"/>
            </a:xfrm>
            <a:prstGeom prst="rect">
              <a:avLst/>
            </a:prstGeom>
          </p:spPr>
        </p:pic>
        <p:sp>
          <p:nvSpPr>
            <p:cNvPr id="161" name="下箭头 160"/>
            <p:cNvSpPr/>
            <p:nvPr>
              <p:custDataLst>
                <p:tags r:id="rId5"/>
              </p:custDataLst>
            </p:nvPr>
          </p:nvSpPr>
          <p:spPr>
            <a:xfrm flipH="1">
              <a:off x="11145" y="3607"/>
              <a:ext cx="233" cy="164"/>
            </a:xfrm>
            <a:prstGeom prst="downArrow">
              <a:avLst/>
            </a:prstGeom>
            <a:solidFill>
              <a:srgbClr val="6C6D6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2" name="文本框 161"/>
            <p:cNvSpPr txBox="1"/>
            <p:nvPr/>
          </p:nvSpPr>
          <p:spPr>
            <a:xfrm>
              <a:off x="10267" y="3791"/>
              <a:ext cx="2597" cy="38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en-US" altLang="zh-CN" sz="1000" b="1">
                  <a:gradFill>
                    <a:gsLst>
                      <a:gs pos="50000">
                        <a:schemeClr val="accent2"/>
                      </a:gs>
                      <a:gs pos="0">
                        <a:schemeClr val="accent2">
                          <a:lumMod val="25000"/>
                          <a:lumOff val="75000"/>
                        </a:schemeClr>
                      </a:gs>
                      <a:gs pos="100000">
                        <a:schemeClr val="accent2">
                          <a:lumMod val="85000"/>
                        </a:schemeClr>
                      </a:gs>
                    </a:gsLst>
                    <a:lin ang="5400000" scaled="1"/>
                  </a:gradFill>
                  <a:sym typeface="+mn-ea"/>
                </a:rPr>
                <a:t>R</a:t>
              </a:r>
              <a:r>
                <a:rPr lang="en-US" altLang="zh-CN" sz="1000" b="1" baseline="30000">
                  <a:gradFill>
                    <a:gsLst>
                      <a:gs pos="50000">
                        <a:schemeClr val="accent2"/>
                      </a:gs>
                      <a:gs pos="0">
                        <a:schemeClr val="accent2">
                          <a:lumMod val="25000"/>
                          <a:lumOff val="75000"/>
                        </a:schemeClr>
                      </a:gs>
                      <a:gs pos="100000">
                        <a:schemeClr val="accent2">
                          <a:lumMod val="85000"/>
                        </a:schemeClr>
                      </a:gs>
                    </a:gsLst>
                    <a:lin ang="5400000" scaled="1"/>
                  </a:gradFill>
                  <a:sym typeface="+mn-ea"/>
                </a:rPr>
                <a:t>2</a:t>
              </a:r>
              <a:r>
                <a:rPr lang="en-US" altLang="zh-CN" sz="1000" b="1">
                  <a:gradFill>
                    <a:gsLst>
                      <a:gs pos="50000">
                        <a:schemeClr val="accent2"/>
                      </a:gs>
                      <a:gs pos="0">
                        <a:schemeClr val="accent2">
                          <a:lumMod val="25000"/>
                          <a:lumOff val="75000"/>
                        </a:schemeClr>
                      </a:gs>
                      <a:gs pos="100000">
                        <a:schemeClr val="accent2">
                          <a:lumMod val="85000"/>
                        </a:schemeClr>
                      </a:gs>
                    </a:gsLst>
                    <a:lin ang="5400000" scaled="1"/>
                  </a:gradFill>
                  <a:sym typeface="+mn-ea"/>
                </a:rPr>
                <a:t>=0.92    </a:t>
              </a:r>
              <a:r>
                <a:rPr lang="en-US" altLang="zh-CN" sz="1000" b="1">
                  <a:solidFill>
                    <a:schemeClr val="bg1">
                      <a:lumMod val="50000"/>
                    </a:schemeClr>
                  </a:solidFill>
                  <a:sym typeface="+mn-ea"/>
                </a:rPr>
                <a:t>R</a:t>
              </a:r>
              <a:r>
                <a:rPr lang="en-US" altLang="zh-CN" sz="1000" b="1" baseline="30000">
                  <a:solidFill>
                    <a:schemeClr val="bg1">
                      <a:lumMod val="50000"/>
                    </a:schemeClr>
                  </a:solidFill>
                  <a:sym typeface="+mn-ea"/>
                </a:rPr>
                <a:t>2</a:t>
              </a:r>
              <a:r>
                <a:rPr lang="en-US" altLang="zh-CN" sz="1000" b="1">
                  <a:solidFill>
                    <a:schemeClr val="bg1">
                      <a:lumMod val="50000"/>
                    </a:schemeClr>
                  </a:solidFill>
                  <a:sym typeface="+mn-ea"/>
                </a:rPr>
                <a:t>=0.67</a:t>
              </a:r>
            </a:p>
          </p:txBody>
        </p:sp>
        <p:sp>
          <p:nvSpPr>
            <p:cNvPr id="163" name="文本框 162"/>
            <p:cNvSpPr txBox="1"/>
            <p:nvPr/>
          </p:nvSpPr>
          <p:spPr>
            <a:xfrm>
              <a:off x="10041" y="2663"/>
              <a:ext cx="1337" cy="33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en-US" altLang="zh-CN" sz="800" b="1">
                  <a:sym typeface="+mn-ea"/>
                </a:rPr>
                <a:t>With </a:t>
              </a:r>
              <a:r>
                <a:rPr lang="en-US" altLang="zh-CN" sz="800" b="1" i="1">
                  <a:sym typeface="+mn-ea"/>
                </a:rPr>
                <a:t>V</a:t>
              </a:r>
              <a:r>
                <a:rPr lang="en-US" altLang="zh-CN" sz="800" b="1" baseline="-25000">
                  <a:sym typeface="+mn-ea"/>
                </a:rPr>
                <a:t>landslide</a:t>
              </a:r>
            </a:p>
          </p:txBody>
        </p:sp>
        <p:sp>
          <p:nvSpPr>
            <p:cNvPr id="164" name="文本框 163"/>
            <p:cNvSpPr txBox="1"/>
            <p:nvPr/>
          </p:nvSpPr>
          <p:spPr>
            <a:xfrm>
              <a:off x="11145" y="2663"/>
              <a:ext cx="1839" cy="33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en-US" altLang="zh-CN" sz="800" b="1">
                  <a:sym typeface="+mn-ea"/>
                </a:rPr>
                <a:t>Without </a:t>
              </a:r>
              <a:r>
                <a:rPr lang="en-US" altLang="zh-CN" sz="800" b="1" i="1">
                  <a:sym typeface="+mn-ea"/>
                </a:rPr>
                <a:t>V</a:t>
              </a:r>
              <a:r>
                <a:rPr lang="en-US" altLang="zh-CN" sz="800" b="1" baseline="-25000">
                  <a:sym typeface="+mn-ea"/>
                </a:rPr>
                <a:t>landslide</a:t>
              </a:r>
            </a:p>
          </p:txBody>
        </p:sp>
      </p:grpSp>
      <p:sp>
        <p:nvSpPr>
          <p:cNvPr id="175" name="文本框 174"/>
          <p:cNvSpPr txBox="1"/>
          <p:nvPr/>
        </p:nvSpPr>
        <p:spPr>
          <a:xfrm>
            <a:off x="6268086" y="2974987"/>
            <a:ext cx="1686560" cy="125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 b="1">
                <a:solidFill>
                  <a:srgbClr val="3A7B79"/>
                </a:solidFill>
                <a:sym typeface="+mn-ea"/>
              </a:rPr>
              <a:t>Conformal Calibration</a:t>
            </a:r>
          </a:p>
          <a:p>
            <a:endParaRPr lang="en-US" altLang="zh-CN" sz="1000" b="1">
              <a:solidFill>
                <a:srgbClr val="3A7B79"/>
              </a:solidFill>
              <a:sym typeface="+mn-ea"/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7747635" y="2974987"/>
            <a:ext cx="1686560" cy="125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 b="1">
                <a:solidFill>
                  <a:srgbClr val="3A7B79"/>
                </a:solidFill>
                <a:sym typeface="+mn-ea"/>
              </a:rPr>
              <a:t>External Benchmark</a:t>
            </a:r>
          </a:p>
        </p:txBody>
      </p:sp>
      <p:sp>
        <p:nvSpPr>
          <p:cNvPr id="178" name="文本框 177"/>
          <p:cNvSpPr txBox="1"/>
          <p:nvPr/>
        </p:nvSpPr>
        <p:spPr>
          <a:xfrm>
            <a:off x="7951481" y="1828810"/>
            <a:ext cx="1171575" cy="125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 b="1">
                <a:solidFill>
                  <a:srgbClr val="3A7B79"/>
                </a:solidFill>
                <a:sym typeface="+mn-ea"/>
              </a:rPr>
              <a:t>SHAP Analysis</a:t>
            </a:r>
          </a:p>
        </p:txBody>
      </p:sp>
      <p:cxnSp>
        <p:nvCxnSpPr>
          <p:cNvPr id="179" name="直接连接符 178"/>
          <p:cNvCxnSpPr/>
          <p:nvPr/>
        </p:nvCxnSpPr>
        <p:spPr>
          <a:xfrm>
            <a:off x="6328416" y="2954655"/>
            <a:ext cx="279463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2" name="直接连接符 181"/>
          <p:cNvCxnSpPr/>
          <p:nvPr/>
        </p:nvCxnSpPr>
        <p:spPr>
          <a:xfrm flipV="1">
            <a:off x="7782560" y="1809761"/>
            <a:ext cx="0" cy="25177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83" name="图片 182"/>
          <p:cNvPicPr>
            <a:picLocks noChangeAspect="1"/>
          </p:cNvPicPr>
          <p:nvPr/>
        </p:nvPicPr>
        <p:blipFill>
          <a:blip r:embed="rId16">
            <a:clrChange>
              <a:clrFrom>
                <a:srgbClr val="F0EDE6">
                  <a:alpha val="100000"/>
                </a:srgbClr>
              </a:clrFrom>
              <a:clrTo>
                <a:srgbClr val="F0EDE6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18261" y="3495675"/>
            <a:ext cx="305435" cy="243840"/>
          </a:xfrm>
          <a:prstGeom prst="rect">
            <a:avLst/>
          </a:prstGeom>
        </p:spPr>
      </p:pic>
      <p:pic>
        <p:nvPicPr>
          <p:cNvPr id="185" name="图片 184"/>
          <p:cNvPicPr>
            <a:picLocks noChangeAspect="1"/>
          </p:cNvPicPr>
          <p:nvPr/>
        </p:nvPicPr>
        <p:blipFill>
          <a:blip r:embed="rId17">
            <a:clrChange>
              <a:clrFrom>
                <a:srgbClr val="F5E5EF">
                  <a:alpha val="100000"/>
                </a:srgbClr>
              </a:clrFrom>
              <a:clrTo>
                <a:srgbClr val="F5E5E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32427" y="2073916"/>
            <a:ext cx="774700" cy="5784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7" name="文本框 186"/>
          <p:cNvSpPr txBox="1"/>
          <p:nvPr/>
        </p:nvSpPr>
        <p:spPr>
          <a:xfrm>
            <a:off x="7875272" y="2622561"/>
            <a:ext cx="1686560" cy="125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900" b="1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Decision-Support Implications</a:t>
            </a:r>
          </a:p>
        </p:txBody>
      </p:sp>
      <p:grpSp>
        <p:nvGrpSpPr>
          <p:cNvPr id="195" name="组合 194"/>
          <p:cNvGrpSpPr/>
          <p:nvPr/>
        </p:nvGrpSpPr>
        <p:grpSpPr>
          <a:xfrm>
            <a:off x="5739765" y="1103006"/>
            <a:ext cx="1056640" cy="1024255"/>
            <a:chOff x="3797" y="1653"/>
            <a:chExt cx="1664" cy="1613"/>
          </a:xfrm>
        </p:grpSpPr>
        <p:pic>
          <p:nvPicPr>
            <p:cNvPr id="192" name="图片 191" descr="箭头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flipV="1">
              <a:off x="3847" y="1653"/>
              <a:ext cx="1613" cy="1613"/>
            </a:xfrm>
            <a:prstGeom prst="rect">
              <a:avLst/>
            </a:prstGeom>
          </p:spPr>
        </p:pic>
        <p:sp>
          <p:nvSpPr>
            <p:cNvPr id="194" name="文本框 193"/>
            <p:cNvSpPr txBox="1"/>
            <p:nvPr/>
          </p:nvSpPr>
          <p:spPr>
            <a:xfrm>
              <a:off x="3797" y="2154"/>
              <a:ext cx="1664" cy="36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900">
                  <a:solidFill>
                    <a:schemeClr val="bg1"/>
                  </a:solidFill>
                </a:rPr>
                <a:t>Model</a:t>
              </a:r>
              <a:r>
                <a:rPr lang="en-US" altLang="zh-CN" sz="900">
                  <a:solidFill>
                    <a:schemeClr val="bg1"/>
                  </a:solidFill>
                  <a:sym typeface="+mn-ea"/>
                </a:rPr>
                <a:t>→Insight</a:t>
              </a:r>
              <a:endParaRPr lang="en-US" altLang="zh-CN" sz="900">
                <a:solidFill>
                  <a:schemeClr val="bg1"/>
                </a:solidFill>
              </a:endParaRPr>
            </a:p>
          </p:txBody>
        </p:sp>
      </p:grpSp>
      <p:grpSp>
        <p:nvGrpSpPr>
          <p:cNvPr id="196" name="组合 195"/>
          <p:cNvGrpSpPr/>
          <p:nvPr/>
        </p:nvGrpSpPr>
        <p:grpSpPr>
          <a:xfrm>
            <a:off x="2395230" y="1103006"/>
            <a:ext cx="1024255" cy="1024255"/>
            <a:chOff x="3847" y="1653"/>
            <a:chExt cx="1613" cy="1613"/>
          </a:xfrm>
        </p:grpSpPr>
        <p:pic>
          <p:nvPicPr>
            <p:cNvPr id="197" name="图片 196" descr="箭头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 flipV="1">
              <a:off x="3847" y="1653"/>
              <a:ext cx="1613" cy="1613"/>
            </a:xfrm>
            <a:prstGeom prst="rect">
              <a:avLst/>
            </a:prstGeom>
          </p:spPr>
        </p:pic>
        <p:sp>
          <p:nvSpPr>
            <p:cNvPr id="198" name="文本框 197"/>
            <p:cNvSpPr txBox="1"/>
            <p:nvPr/>
          </p:nvSpPr>
          <p:spPr>
            <a:xfrm>
              <a:off x="3937" y="2154"/>
              <a:ext cx="1466" cy="36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900">
                  <a:solidFill>
                    <a:schemeClr val="bg1"/>
                  </a:solidFill>
                </a:rPr>
                <a:t>Data→Model</a:t>
              </a:r>
            </a:p>
          </p:txBody>
        </p:sp>
      </p:grpSp>
      <p:pic>
        <p:nvPicPr>
          <p:cNvPr id="200" name="图片 199" descr="箭头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19080000">
            <a:off x="8626475" y="2352040"/>
            <a:ext cx="279400" cy="279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2" name="文本框 201"/>
          <p:cNvSpPr txBox="1"/>
          <p:nvPr/>
        </p:nvSpPr>
        <p:spPr>
          <a:xfrm>
            <a:off x="6230630" y="4109724"/>
            <a:ext cx="2134871" cy="1155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900" b="1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91.7% empirical coverage</a:t>
            </a:r>
          </a:p>
        </p:txBody>
      </p:sp>
      <p:sp>
        <p:nvSpPr>
          <p:cNvPr id="203" name="文本框 202"/>
          <p:cNvSpPr txBox="1"/>
          <p:nvPr/>
        </p:nvSpPr>
        <p:spPr>
          <a:xfrm>
            <a:off x="-37781" y="3541406"/>
            <a:ext cx="2915285" cy="125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altLang="en-US" sz="12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❶</a:t>
            </a:r>
            <a:r>
              <a:rPr lang="en-US" altLang="zh-CN" sz="12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 How far can a pretrained model go without tuning?</a:t>
            </a:r>
          </a:p>
          <a:p>
            <a:pPr algn="l"/>
            <a:r>
              <a:rPr lang="en-US" altLang="en-US" sz="12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❷</a:t>
            </a:r>
            <a:r>
              <a:rPr lang="en-US" altLang="zh-CN" sz="12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 How much does sediment-source info dominate prediction?</a:t>
            </a:r>
          </a:p>
        </p:txBody>
      </p:sp>
      <p:sp>
        <p:nvSpPr>
          <p:cNvPr id="204" name="文本框 203"/>
          <p:cNvSpPr txBox="1"/>
          <p:nvPr/>
        </p:nvSpPr>
        <p:spPr>
          <a:xfrm>
            <a:off x="7747645" y="4125602"/>
            <a:ext cx="1652271" cy="109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900" b="1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Robustness verification</a:t>
            </a:r>
          </a:p>
        </p:txBody>
      </p:sp>
      <p:sp>
        <p:nvSpPr>
          <p:cNvPr id="216" name="文本框 215"/>
          <p:cNvSpPr txBox="1"/>
          <p:nvPr/>
        </p:nvSpPr>
        <p:spPr>
          <a:xfrm>
            <a:off x="6230621" y="1819287"/>
            <a:ext cx="1686560" cy="125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 b="1">
                <a:solidFill>
                  <a:srgbClr val="3A7B79"/>
                </a:solidFill>
                <a:sym typeface="+mn-ea"/>
              </a:rPr>
              <a:t>Ablation Study: </a:t>
            </a:r>
            <a:r>
              <a:rPr lang="en-US" altLang="zh-CN" sz="1000" b="1" i="1">
                <a:solidFill>
                  <a:srgbClr val="3A7B79"/>
                </a:solidFill>
                <a:sym typeface="+mn-ea"/>
              </a:rPr>
              <a:t>V</a:t>
            </a:r>
            <a:r>
              <a:rPr lang="en-US" altLang="zh-CN" sz="1000" b="1" baseline="-25000">
                <a:solidFill>
                  <a:srgbClr val="3A7B79"/>
                </a:solidFill>
                <a:sym typeface="+mn-ea"/>
              </a:rPr>
              <a:t>landslide</a:t>
            </a:r>
            <a:endParaRPr lang="en-US" altLang="zh-CN" sz="1000" b="1">
              <a:solidFill>
                <a:srgbClr val="3A7B79"/>
              </a:solidFill>
              <a:sym typeface="+mn-ea"/>
            </a:endParaRPr>
          </a:p>
          <a:p>
            <a:endParaRPr lang="en-US" altLang="zh-CN" sz="1000" b="1">
              <a:solidFill>
                <a:srgbClr val="3A7B79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50042318,50062658,3637610,21584260,50062611,3633150,50059271,50062590,19968871,21565875,21547050,20288695,20155766,20235463,21567102,21578427,50029875,21598873,21557348,21588689,50024367,21547054,3658747,50034089,50011502,3637575,50042521],&quot;65&quot;:[20205081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50042318,50062658,3637610,21584260,50062611,3633150,50059271,50062590,19968871,21565875,21547050,20288695],&quot;65&quot;:[20205081]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21547050&quot;,&quot;origin&quot;:0,&quot;type&quot;:&quot;icons&quot;,&quot;user&quot;:&quot;378405054&quot;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20288695&quot;,&quot;origin&quot;:0,&quot;type&quot;:&quot;icons&quot;,&quot;user&quot;:&quot;378405054&quot;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86228346456693,&quot;left&quot;:20.77496062992127,&quot;top&quot;:77.23771653543308,&quot;width&quot;:869.5750393700788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86228346456693,&quot;left&quot;:20.77496062992127,&quot;top&quot;:77.23771653543308,&quot;width&quot;:869.5750393700788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21565875&quot;,&quot;origin&quot;:0,&quot;type&quot;:&quot;icons&quot;,&quot;user&quot;:&quot;378405054&quot;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59271&quot;,&quot;origin&quot;:0,&quot;type&quot;:&quot;icons&quot;,&quot;user&quot;:&quot;378405054&quot;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59271&quot;,&quot;origin&quot;:0,&quot;type&quot;:&quot;icons&quot;,&quot;user&quot;:&quot;378405054&quot;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59271&quot;,&quot;origin&quot;:0,&quot;type&quot;:&quot;icons&quot;,&quot;user&quot;:&quot;378405054&quot;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59271&quot;,&quot;origin&quot;:0,&quot;type&quot;:&quot;icons&quot;,&quot;user&quot;:&quot;378405054&quot;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59271&quot;,&quot;origin&quot;:0,&quot;type&quot;:&quot;icons&quot;,&quot;user&quot;:&quot;378405054&quot;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59271&quot;,&quot;origin&quot;:0,&quot;type&quot;:&quot;icons&quot;,&quot;user&quot;:&quot;378405054&quot;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62590&quot;,&quot;origin&quot;:0,&quot;type&quot;:&quot;icons&quot;,&quot;user&quot;:&quot;378405054&quot;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62590&quot;,&quot;origin&quot;:0,&quot;type&quot;:&quot;icons&quot;,&quot;user&quot;:&quot;378405054&quot;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62590&quot;,&quot;origin&quot;:0,&quot;type&quot;:&quot;icons&quot;,&quot;user&quot;:&quot;378405054&quot;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62590&quot;,&quot;origin&quot;:0,&quot;type&quot;:&quot;icons&quot;,&quot;user&quot;:&quot;378405054&quot;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62590&quot;,&quot;origin&quot;:0,&quot;type&quot;:&quot;icons&quot;,&quot;user&quot;:&quot;378405054&quot;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62611&quot;,&quot;origin&quot;:0,&quot;type&quot;:&quot;icons&quot;,&quot;user&quot;:&quot;378405054&quot;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62611&quot;,&quot;origin&quot;:0,&quot;type&quot;:&quot;icons&quot;,&quot;user&quot;:&quot;378405054&quot;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86228346456693,&quot;left&quot;:20.77496062992127,&quot;top&quot;:77.23771653543308,&quot;width&quot;:869.5750393700788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50042318,50062658,3637610,21584260,50062611,3633150,50059271,50062590,19968871,21565875,21547050,20288695],&quot;65&quot;:[20205081]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21547050&quot;,&quot;origin&quot;:0,&quot;type&quot;:&quot;icons&quot;,&quot;user&quot;:&quot;378405054&quot;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20288695&quot;,&quot;origin&quot;:0,&quot;type&quot;:&quot;icons&quot;,&quot;user&quot;:&quot;378405054&quot;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86228346456693,&quot;left&quot;:20.77496062992127,&quot;top&quot;:77.23771653543308,&quot;width&quot;:869.5750393700788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86228346456693,&quot;left&quot;:20.77496062992127,&quot;top&quot;:77.23771653543308,&quot;width&quot;:869.5750393700788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21565875&quot;,&quot;origin&quot;:0,&quot;type&quot;:&quot;icons&quot;,&quot;user&quot;:&quot;378405054&quot;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59271&quot;,&quot;origin&quot;:0,&quot;type&quot;:&quot;icons&quot;,&quot;user&quot;:&quot;378405054&quot;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59271&quot;,&quot;origin&quot;:0,&quot;type&quot;:&quot;icons&quot;,&quot;user&quot;:&quot;378405054&quot;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59271&quot;,&quot;origin&quot;:0,&quot;type&quot;:&quot;icons&quot;,&quot;user&quot;:&quot;378405054&quot;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59271&quot;,&quot;origin&quot;:0,&quot;type&quot;:&quot;icons&quot;,&quot;user&quot;:&quot;378405054&quot;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59271&quot;,&quot;origin&quot;:0,&quot;type&quot;:&quot;icons&quot;,&quot;user&quot;:&quot;378405054&quot;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59271&quot;,&quot;origin&quot;:0,&quot;type&quot;:&quot;icons&quot;,&quot;user&quot;:&quot;378405054&quot;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62590&quot;,&quot;origin&quot;:0,&quot;type&quot;:&quot;icons&quot;,&quot;user&quot;:&quot;378405054&quot;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62590&quot;,&quot;origin&quot;:0,&quot;type&quot;:&quot;icons&quot;,&quot;user&quot;:&quot;378405054&quot;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62590&quot;,&quot;origin&quot;:0,&quot;type&quot;:&quot;icons&quot;,&quot;user&quot;:&quot;378405054&quot;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62590&quot;,&quot;origin&quot;:0,&quot;type&quot;:&quot;icons&quot;,&quot;user&quot;:&quot;378405054&quot;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62590&quot;,&quot;origin&quot;:0,&quot;type&quot;:&quot;icons&quot;,&quot;user&quot;:&quot;378405054&quot;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3150&quot;,&quot;origin&quot;:0,&quot;type&quot;:&quot;icons&quot;,&quot;user&quot;:&quot;378405054&quot;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62611&quot;,&quot;origin&quot;:0,&quot;type&quot;:&quot;icons&quot;,&quot;user&quot;:&quot;378405054&quot;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62611&quot;,&quot;origin&quot;:0,&quot;type&quot;:&quot;icons&quot;,&quot;user&quot;:&quot;378405054&quot;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86228346456693,&quot;left&quot;:20.77496062992127,&quot;top&quot;:77.23771653543308,&quot;width&quot;:869.5750393700788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50042318,50062658,3637610,21584260,50062611,3633150,50059271,50062590,19968871,21565875,21547050,20288695,20155766,20235463,21567102,21578427,50029875,21598873,21557348,21588689,50024367,21547054,3658747,50034089],&quot;65&quot;:[20205081]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86228346456693,&quot;left&quot;:20.77496062992127,&quot;top&quot;:77.23771653543308,&quot;width&quot;:869.5750393700788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21578427&quot;,&quot;origin&quot;:0,&quot;type&quot;:&quot;icons&quot;,&quot;user&quot;:&quot;378405054&quot;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29875&quot;,&quot;origin&quot;:0,&quot;type&quot;:&quot;icons&quot;,&quot;user&quot;:&quot;378405054&quot;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21598873&quot;,&quot;origin&quot;:0,&quot;type&quot;:&quot;icons&quot;,&quot;user&quot;:&quot;378405054&quot;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21557348&quot;,&quot;origin&quot;:0,&quot;type&quot;:&quot;icons&quot;,&quot;user&quot;:&quot;378405054&quot;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86228346456693,&quot;left&quot;:20.77496062992127,&quot;top&quot;:77.23771653543308,&quot;width&quot;:869.5750393700788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24367&quot;,&quot;origin&quot;:0,&quot;type&quot;:&quot;icons&quot;,&quot;user&quot;:&quot;378405054&quot;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86228346456693,&quot;left&quot;:20.77496062992127,&quot;top&quot;:77.23771653543308,&quot;width&quot;:869.5750393700788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86228346456693,&quot;left&quot;:20.77496062992127,&quot;top&quot;:77.23771653543308,&quot;width&quot;:869.5750393700788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21547054&quot;,&quot;origin&quot;:0,&quot;type&quot;:&quot;icons&quot;,&quot;user&quot;:&quot;378405054&quot;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58747&quot;,&quot;origin&quot;:0,&quot;type&quot;:&quot;icons&quot;,&quot;user&quot;:&quot;378405054&quot;}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34089&quot;,&quot;origin&quot;:0,&quot;type&quot;:&quot;icons&quot;,&quot;user&quot;:&quot;378405054&quot;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20155766&quot;,&quot;origin&quot;:0,&quot;type&quot;:&quot;icons&quot;,&quot;user&quot;:&quot;378405054&quot;}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20235463&quot;,&quot;origin&quot;:0,&quot;type&quot;:&quot;icons&quot;,&quot;user&quot;:&quot;378405054&quot;}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21547050&quot;,&quot;origin&quot;:0,&quot;type&quot;:&quot;icons&quot;,&quot;user&quot;:&quot;378405054&quot;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21567102&quot;,&quot;origin&quot;:0,&quot;type&quot;:&quot;icons&quot;,&quot;user&quot;:&quot;378405054&quot;}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50042318,50062658,3637610,21584260,50062611,3633150,50059271,50062590,19968871,21565875,21547050,20288695,20155766,20235463,21567102,21578427,50029875,21598873,21557348,21588689,50024367,21547054,3658747,50034089],&quot;65&quot;:[20205081]}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86228346456693,&quot;left&quot;:20.77496062992127,&quot;top&quot;:77.23771653543308,&quot;width&quot;:869.5750393700788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21578427&quot;,&quot;origin&quot;:0,&quot;type&quot;:&quot;icons&quot;,&quot;user&quot;:&quot;378405054&quot;}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29875&quot;,&quot;origin&quot;:0,&quot;type&quot;:&quot;icons&quot;,&quot;user&quot;:&quot;378405054&quot;}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21598873&quot;,&quot;origin&quot;:0,&quot;type&quot;:&quot;icons&quot;,&quot;user&quot;:&quot;378405054&quot;}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21557348&quot;,&quot;origin&quot;:0,&quot;type&quot;:&quot;icons&quot;,&quot;user&quot;:&quot;378405054&quot;}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86228346456693,&quot;left&quot;:20.77496062992127,&quot;top&quot;:77.23771653543308,&quot;width&quot;:869.5750393700788}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24367&quot;,&quot;origin&quot;:0,&quot;type&quot;:&quot;icons&quot;,&quot;user&quot;:&quot;378405054&quot;}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86228346456693,&quot;left&quot;:20.77496062992127,&quot;top&quot;:77.23771653543308,&quot;width&quot;:869.5750393700788}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86228346456693,&quot;left&quot;:20.77496062992127,&quot;top&quot;:77.23771653543308,&quot;width&quot;:869.5750393700788}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21547054&quot;,&quot;origin&quot;:0,&quot;type&quot;:&quot;icons&quot;,&quot;user&quot;:&quot;378405054&quot;}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58747&quot;,&quot;origin&quot;:0,&quot;type&quot;:&quot;icons&quot;,&quot;user&quot;:&quot;378405054&quot;}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34089&quot;,&quot;origin&quot;:0,&quot;type&quot;:&quot;icons&quot;,&quot;user&quot;:&quot;378405054&quot;}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20155766&quot;,&quot;origin&quot;:0,&quot;type&quot;:&quot;icons&quot;,&quot;user&quot;:&quot;378405054&quot;}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20235463&quot;,&quot;origin&quot;:0,&quot;type&quot;:&quot;icons&quot;,&quot;user&quot;:&quot;378405054&quot;}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21547050&quot;,&quot;origin&quot;:0,&quot;type&quot;:&quot;icons&quot;,&quot;user&quot;:&quot;378405054&quot;}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21567102&quot;,&quot;origin&quot;:0,&quot;type&quot;:&quot;icons&quot;,&quot;user&quot;:&quot;378405054&quot;}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50042318,50062658,3637610,21584260,50062611,3633150,50059271,50062590,19968871,21565875,21547050,20288695,20155766,20235463,21567102,21578427,50029875,21598873,21557348,21588689,50024367,21547054,3658747,50034089,50011502,3637575,50042521],&quot;65&quot;:[20205081]}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42521&quot;,&quot;origin&quot;:0,&quot;type&quot;:&quot;icons&quot;,&quot;user&quot;:&quot;378405054&quot;}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7575&quot;,&quot;origin&quot;:0,&quot;type&quot;:&quot;icons&quot;,&quot;user&quot;:&quot;378405054&quot;}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3637575&quot;,&quot;origin&quot;:0,&quot;type&quot;:&quot;icons&quot;,&quot;user&quot;:&quot;378405054&quot;}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9.86228346456693,&quot;left&quot;:20.77496062992127,&quot;top&quot;:77.23771653543308,&quot;width&quot;:869.5750393700788}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11502&quot;,&quot;origin&quot;:0,&quot;type&quot;:&quot;icons&quot;,&quot;user&quot;:&quot;378405054&quot;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</TotalTime>
  <Words>998</Words>
  <Application>Microsoft Office PowerPoint</Application>
  <PresentationFormat>全屏显示(4:3)</PresentationFormat>
  <Paragraphs>295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微软雅黑</vt:lpstr>
      <vt:lpstr>Arial</vt:lpstr>
      <vt:lpstr>Calibri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王天龙</dc:creator>
  <cp:lastModifiedBy>m25614@365mso.com</cp:lastModifiedBy>
  <cp:revision>209</cp:revision>
  <dcterms:created xsi:type="dcterms:W3CDTF">2019-06-19T02:08:00Z</dcterms:created>
  <dcterms:modified xsi:type="dcterms:W3CDTF">2026-05-28T04:41:22Z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794C20448F34400195F26BEE32494A9B_11</vt:lpwstr>
  </property>
</Properties>
</file>